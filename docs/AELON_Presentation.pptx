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67528" y="1051560"/>
            <a:ext cx="1463040" cy="1463040"/>
          </a:xfrm>
          <a:prstGeom prst="ellipse">
            <a:avLst/>
          </a:prstGeom>
          <a:solidFill>
            <a:srgbClr val="1B2233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800" b="1">
                <a:solidFill>
                  <a:srgbClr val="D4AF37"/>
                </a:solidFill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AELON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4AF37"/>
                </a:solidFill>
                <a:latin typeface="Segoe UI"/>
              </a:rPr>
              <a:t>Plateforme intelligente de service apres-vente bancaire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Segoe UI"/>
              </a:rPr>
              <a:t>Data Engineering · GenAI · RAG · Architecture Multi-Agents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9D6EC"/>
                </a:solidFill>
                <a:latin typeface="Segoe UI"/>
              </a:rPr>
              <a:t>From Customer Conversations to Intelligent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31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Segoe UI"/>
              </a:rP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Vue d'ensemble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2233"/>
                </a:solidFill>
                <a:latin typeface="Segoe UI"/>
              </a:rPr>
              <a:t>AELON est developpee dans le cadre du projet RAISE. Elle combine Data Engineering, IA Generative, Retrieval-Augmented Generation (RAG) et Architecture Multi-Agents pour assister les utilisateurs bancaires et piloter la performance des agents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1064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1B2233"/>
                </a:solidFill>
                <a:latin typeface="Segoe UI"/>
              </a:rPr>
              <a:t>• Depasse le cadre d'un simple chatbot : recherche documentaire, generation de reponses, qualite et analytique.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1B2233"/>
                </a:solidFill>
                <a:latin typeface="Segoe UI"/>
              </a:rPr>
              <a:t>• Assistant bancaire conversationnel ancre sur des sources metier fiables (RAG).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1B2233"/>
                </a:solidFill>
                <a:latin typeface="Segoe UI"/>
              </a:rPr>
              <a:t>• Orchestration d'agents specialises : retrieval, raisonnement, controle, supervision.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1B2233"/>
                </a:solidFill>
                <a:latin typeface="Segoe UI"/>
              </a:rPr>
              <a:t>• Fondations Data sur Databricks Lakehouse (ingestion, transformation, historisation).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1B2233"/>
                </a:solidFill>
                <a:latin typeface="Segoe UI"/>
              </a:rPr>
              <a:t>• Recherche semantique par embeddings via Databricks Vector Search.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1B2233"/>
                </a:solidFill>
                <a:latin typeface="Segoe UI"/>
              </a:rPr>
              <a:t>• Deux tableaux de bord de pilotage : Analytics et Governance.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1B2233"/>
                </a:solidFill>
                <a:latin typeface="Segoe UI"/>
              </a:rPr>
              <a:t>• Cadre d'evaluation IA (RAG + agents) sur un dataset metier.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Segoe UI"/>
              </a:rPr>
              <a:t>AELON — Plateforme IA de service apres-vente bancaire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31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Segoe UI"/>
              </a:rPr>
              <a:t>CAPACITES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Fonctionnalites 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1234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3D91"/>
                </a:solidFill>
                <a:latin typeface="Segoe UI"/>
              </a:rPr>
              <a:t>Banking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Segoe UI"/>
              </a:rPr>
              <a:t>Assistant bancaire conversationnel alimente par IA Generative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73152" cy="1234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3D91"/>
                </a:solidFill>
                <a:latin typeface="Segoe UI"/>
              </a:rPr>
              <a:t>Architecture Multi-Agents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Segoe UI"/>
              </a:rPr>
              <a:t>Orchestration d'agents specialises (retrieval, raisonnement, controle)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15768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15768"/>
            <a:ext cx="73152" cy="1234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0720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3D91"/>
                </a:solidFill>
                <a:latin typeface="Segoe UI"/>
              </a:rPr>
              <a:t>Databricks Lakehouse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72968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Segoe UI"/>
              </a:rPr>
              <a:t>Ingestion, transformation, historisation et exploitation analytique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715768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715768"/>
            <a:ext cx="73152" cy="1234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80720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3D91"/>
                </a:solidFill>
                <a:latin typeface="Segoe UI"/>
              </a:rPr>
              <a:t>Databricks Vector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172968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Segoe UI"/>
              </a:rPr>
              <a:t>Recherche semantique par embeddings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59936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59936"/>
            <a:ext cx="73152" cy="1234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5137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3D91"/>
                </a:solidFill>
                <a:latin typeface="Segoe UI"/>
              </a:rPr>
              <a:t>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17136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Segoe UI"/>
              </a:rPr>
              <a:t>Reponses enrichies et ancrees sur un corpus documentaire bancaire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059936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059936"/>
            <a:ext cx="73152" cy="1234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5137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3D91"/>
                </a:solidFill>
                <a:latin typeface="Segoe UI"/>
              </a:rPr>
              <a:t>Analytics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17136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Segoe UI"/>
              </a:rPr>
              <a:t>Volumes, categories et tendances conversationnelles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04104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404104"/>
            <a:ext cx="73152" cy="1234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49554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3D91"/>
                </a:solidFill>
                <a:latin typeface="Segoe UI"/>
              </a:rPr>
              <a:t>Governance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61304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Segoe UI"/>
              </a:rPr>
              <a:t>Qualite, usage des sources et monitoring des agents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5404104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5404104"/>
            <a:ext cx="73152" cy="1234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49554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3D91"/>
                </a:solidFill>
                <a:latin typeface="Segoe UI"/>
              </a:rPr>
              <a:t>AI Evaluation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861304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Segoe UI"/>
              </a:rPr>
              <a:t>Mesure des performances RAG et agents sur un dataset metier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Segoe UI"/>
              </a:rPr>
              <a:t>AELON — Plateforme IA de service apres-vente bancaire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31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Architecture globale end-to-end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70432" cy="777240"/>
          </a:xfrm>
          <a:prstGeom prst="round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Utilisateur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627632" y="1810512"/>
            <a:ext cx="109728" cy="27432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1554480"/>
            <a:ext cx="1170432" cy="77724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B2233"/>
                </a:solidFill>
              </a:rPr>
              <a:t>Banking Chat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07792" y="1810512"/>
            <a:ext cx="109728" cy="27432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17520" y="1554480"/>
            <a:ext cx="1170432" cy="777240"/>
          </a:xfrm>
          <a:prstGeom prst="round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Orchestrateur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87952" y="1810512"/>
            <a:ext cx="109728" cy="27432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1170432" cy="77724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B2233"/>
                </a:solidFill>
              </a:rPr>
              <a:t>Architecture Multi-Agents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468112" y="1810512"/>
            <a:ext cx="109728" cy="27432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77840" y="1554480"/>
            <a:ext cx="1170432" cy="777240"/>
          </a:xfrm>
          <a:prstGeom prst="round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Retrieval Agent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48272" y="1810512"/>
            <a:ext cx="109728" cy="27432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1554480"/>
            <a:ext cx="1170432" cy="77724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B2233"/>
                </a:solidFill>
              </a:rPr>
              <a:t>Databricks Vector Search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028432" y="1810512"/>
            <a:ext cx="109728" cy="27432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554480"/>
            <a:ext cx="1170432" cy="777240"/>
          </a:xfrm>
          <a:prstGeom prst="round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Corpus documentaire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08592" y="1810512"/>
            <a:ext cx="109728" cy="27432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18320" y="1554480"/>
            <a:ext cx="1170432" cy="77724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B2233"/>
                </a:solidFill>
              </a:rPr>
              <a:t>Modele generatif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588752" y="1810512"/>
            <a:ext cx="109728" cy="27432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98480" y="1554480"/>
            <a:ext cx="1170432" cy="777240"/>
          </a:xfrm>
          <a:prstGeom prst="round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Reponse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51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233"/>
                </a:solidFill>
                <a:latin typeface="Segoe UI"/>
              </a:rPr>
              <a:t>La reponse alimente en continu la boucle de pilotage 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487" y="3200400"/>
            <a:ext cx="23774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3D91"/>
                </a:solidFill>
              </a:rPr>
              <a:t>gold_conversations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306927" y="3429000"/>
            <a:ext cx="274320" cy="27432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81247" y="3200400"/>
            <a:ext cx="23774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3D91"/>
                </a:solidFill>
              </a:rPr>
              <a:t>Analytics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58687" y="3429000"/>
            <a:ext cx="274320" cy="27432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3200400"/>
            <a:ext cx="23774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3D91"/>
                </a:solidFill>
              </a:rPr>
              <a:t>Governance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610447" y="3429000"/>
            <a:ext cx="274320" cy="27432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84767" y="3200400"/>
            <a:ext cx="23774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3D91"/>
                </a:solidFill>
              </a:rP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976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085"/>
                </a:solidFill>
                <a:latin typeface="Segoe UI"/>
              </a:rPr>
              <a:t>Chaque interaction utilisateur devient a la fois une assistance immediate et une source de pilotage pour l'amelioration continue du systeme bancaire intelligent.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Segoe UI"/>
              </a:rPr>
              <a:t>AELON — Plateforme IA de service apres-vente bancaire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31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Segoe UI"/>
              </a:rPr>
              <a:t>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Architecture medaillon (Lakehouse)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548640"/>
          </a:xfrm>
          <a:prstGeom prst="round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6616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bronze_documents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Segoe UI"/>
              </a:rPr>
              <a:t>Ingestion des documents bruts, conservation des traces d'origine, reprise fiable des traitements.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14800" y="3200400"/>
            <a:ext cx="228600" cy="36576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566160" cy="548640"/>
          </a:xfrm>
          <a:prstGeom prst="roundRect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011680"/>
            <a:ext cx="356616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945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silver_documents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00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Segoe UI"/>
              </a:rPr>
              <a:t>Nettoyage, normalisation et structuration des contenus documentaires.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09560" y="3200400"/>
            <a:ext cx="228600" cy="365760"/>
          </a:xfrm>
          <a:prstGeom prst="rightArrow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463040"/>
            <a:ext cx="3566160" cy="54864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B2233"/>
                </a:solidFill>
              </a:rPr>
              <a:t>Gold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011680"/>
            <a:ext cx="356616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945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gold_documents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gold_embeddings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gold_conversations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00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Segoe UI"/>
              </a:rPr>
              <a:t>Couche de consommation pour le RAG, la recherche vectorielle, l'analytics et la gouvernance.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2233"/>
                </a:solidFill>
                <a:latin typeface="Segoe UI"/>
              </a:rPr>
              <a:t>Le pipeline documentaire AELON s'appuie sur une architecture medaillon pour garantir qualite, tracabilite et exploitation industrielle des donnees.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Segoe UI"/>
              </a:rPr>
              <a:t>AELON — Plateforme IA de service apres-vente bancaire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31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Segoe UI"/>
              </a:rPr>
              <a:t>PRODUIT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Espaces produit par 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11880" cy="868680"/>
          </a:xfrm>
          <a:prstGeom prst="round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Customer Space</a:t>
            </a:r>
          </a:p>
          <a:p>
            <a:pPr algn="ctr"/>
            <a:r>
              <a:rPr sz="1000">
                <a:solidFill>
                  <a:srgbClr val="E9E9E9"/>
                </a:solidFill>
              </a:rPr>
              <a:t>ROLE: CUSTOMER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36118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>
                <a:solidFill>
                  <a:srgbClr val="1B2233"/>
                </a:solidFill>
                <a:latin typeface="Segoe UI"/>
              </a:rPr>
              <a:t>• Surface principale : Chat uniquement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>
                <a:solidFill>
                  <a:srgbClr val="1B2233"/>
                </a:solidFill>
                <a:latin typeface="Segoe UI"/>
              </a:rPr>
              <a:t>• Historique de conversation, messages, reponses IA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>
                <a:solidFill>
                  <a:srgbClr val="1B2233"/>
                </a:solidFill>
                <a:latin typeface="Segoe UI"/>
              </a:rPr>
              <a:t>• KPI, dashboards et internals des agents masques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>
                <a:solidFill>
                  <a:srgbClr val="1B2233"/>
                </a:solidFill>
                <a:latin typeface="Segoe UI"/>
              </a:rPr>
              <a:t>• Flux privacy-first avant affichage/stockage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611880" cy="868680"/>
          </a:xfrm>
          <a:prstGeom prst="roundRect">
            <a:avLst/>
          </a:prstGeom>
          <a:solidFill>
            <a:srgbClr val="6C3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Business Analytics Space</a:t>
            </a:r>
          </a:p>
          <a:p>
            <a:pPr algn="ctr"/>
            <a:r>
              <a:rPr sz="1000">
                <a:solidFill>
                  <a:srgbClr val="E9E9E9"/>
                </a:solidFill>
              </a:rPr>
              <a:t>ROLE: BUSINESS_ANALYST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286000"/>
            <a:ext cx="36118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46888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>
                <a:solidFill>
                  <a:srgbClr val="1B2233"/>
                </a:solidFill>
                <a:latin typeface="Segoe UI"/>
              </a:rPr>
              <a:t>• Source : interactions du chat uniquement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>
                <a:solidFill>
                  <a:srgbClr val="1B2233"/>
                </a:solidFill>
                <a:latin typeface="Segoe UI"/>
              </a:rPr>
              <a:t>• Dashboard, Conversations, Fraude, Sentiment, Escalations, KPI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>
                <a:solidFill>
                  <a:srgbClr val="1B2233"/>
                </a:solidFill>
                <a:latin typeface="Segoe UI"/>
              </a:rPr>
              <a:t>• Analytics Copilot repond a partir des metriques d'interaction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611880" cy="868680"/>
          </a:xfrm>
          <a:prstGeom prst="round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Data Governance Space</a:t>
            </a:r>
          </a:p>
          <a:p>
            <a:pPr algn="ctr"/>
            <a:r>
              <a:rPr sz="1000">
                <a:solidFill>
                  <a:srgbClr val="E9E9E9"/>
                </a:solidFill>
              </a:rPr>
              <a:t>ROLE: DATA_STEWARD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286000"/>
            <a:ext cx="361188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6888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>
                <a:solidFill>
                  <a:srgbClr val="1B2233"/>
                </a:solidFill>
                <a:latin typeface="Segoe UI"/>
              </a:rPr>
              <a:t>• Data Governance, Observabilite, Evaluation Agent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>
                <a:solidFill>
                  <a:srgbClr val="1B2233"/>
                </a:solidFill>
                <a:latin typeface="Segoe UI"/>
              </a:rPr>
              <a:t>• AI Governance Copilot : evaluation, observabilite, gouvernance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>
                <a:solidFill>
                  <a:srgbClr val="1B2233"/>
                </a:solidFill>
                <a:latin typeface="Segoe UI"/>
              </a:rPr>
              <a:t>• Focus : IA responsable, qualite des donnees, conformite, risque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Segoe UI"/>
              </a:rPr>
              <a:t>AELON — Plateforme IA de service apres-vente bancaire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31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Segoe UI"/>
              </a:rPr>
              <a:t>FONCTIONNEL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Flux end-to-end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990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Saisie utilisateur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93392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2233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7510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Masquage Privacy Agent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569464"/>
            <a:ext cx="365760" cy="365760"/>
          </a:xfrm>
          <a:prstGeom prst="ellipse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5117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Fraud Agent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145536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2233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272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Sentiment Agent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721608"/>
            <a:ext cx="365760" cy="365760"/>
          </a:xfrm>
          <a:prstGeom prst="ellipse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03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Decision L0 / L1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2233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793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Retrieval Agent (contexte RAG)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873752"/>
            <a:ext cx="365760" cy="365760"/>
          </a:xfrm>
          <a:prstGeom prst="ellipse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5546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Generation GPT-4o / GPT-4.1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1417320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2233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3990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Controles Compliance Agent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1993392"/>
            <a:ext cx="365760" cy="365760"/>
          </a:xfrm>
          <a:prstGeom prst="ellipse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97510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Annotation Explainability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2569464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2233"/>
                </a:solidFill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55117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Affichage reponse client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3145536"/>
            <a:ext cx="365760" cy="365760"/>
          </a:xfrm>
          <a:prstGeom prst="ellipse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1272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Ingestion Databricks Lakehouse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3721608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B2233"/>
                </a:solidFill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703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Consommation Analytics &amp; Governance</a:t>
            </a:r>
          </a:p>
        </p:txBody>
      </p:sp>
      <p:sp>
        <p:nvSpPr>
          <p:cNvPr id="31" name="Oval 30"/>
          <p:cNvSpPr/>
          <p:nvPr/>
        </p:nvSpPr>
        <p:spPr>
          <a:xfrm>
            <a:off x="6309360" y="4297680"/>
            <a:ext cx="365760" cy="365760"/>
          </a:xfrm>
          <a:prstGeom prst="ellipse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2793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Metriques Observabilite &amp;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Segoe UI"/>
              </a:rPr>
              <a:t>AELON — Plateforme IA de service apres-vente bancaire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31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Segoe UI"/>
              </a:rPr>
              <a:t>TRUST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Securite, confidentialite et gouvernance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3D91"/>
                </a:solidFill>
                <a:latin typeface="Segoe UI"/>
              </a:rPr>
              <a:t>Regles de securite et confidentialite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Seul le contenu masque est affiche, transmis aux agents et persiste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Categories PII prioritaires : telephone, email, IBAN, compte, carte, identite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Metadonnees de conformite et d'explicabilite capturees pour 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3D91"/>
                </a:solidFill>
                <a:latin typeface="Segoe UI"/>
              </a:rPr>
              <a:t>Signaux LLMOps &amp; Observabilite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Relevance Score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Faithfulness Score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Hallucination Rate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Compliance Score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Answer Quality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Response time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Escalation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3D91"/>
                </a:solidFill>
                <a:latin typeface="Segoe UI"/>
              </a:rPr>
              <a:t>Sources documentaires de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177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Banque de France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ACPR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CNIL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FBF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B2233"/>
                </a:solidFill>
                <a:latin typeface="Segoe UI"/>
              </a:rPr>
              <a:t>• FAQ metier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Segoe UI"/>
              </a:rPr>
              <a:t>AELON — Plateforme IA de service apres-vente bancaire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31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Segoe UI"/>
              </a:rPr>
              <a:t>TECHNOLOGIE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Stack technique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Domaine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153619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Technologies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11064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3D91"/>
                </a:solidFill>
                <a:latin typeface="Segoe UI"/>
              </a:rPr>
              <a:t>Data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21031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Databricks, PySpark, Delta Lake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87752"/>
            <a:ext cx="11064240" cy="621792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3D91"/>
                </a:solidFill>
                <a:latin typeface="Segoe UI"/>
              </a:rPr>
              <a:t>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72491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GenAI, RAG, Embeddings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09544"/>
            <a:ext cx="11064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467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3D91"/>
                </a:solidFill>
                <a:latin typeface="Segoe UI"/>
              </a:rPr>
              <a:t>Recherche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3346704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Databricks Vector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31336"/>
            <a:ext cx="11064240" cy="621792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684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3D91"/>
                </a:solidFill>
                <a:latin typeface="Segoe UI"/>
              </a:rPr>
              <a:t>Gouvernance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3968496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Unity Catalog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53128"/>
            <a:ext cx="11064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5902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3D91"/>
                </a:solidFill>
                <a:latin typeface="Segoe UI"/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4590288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Python (FastAPI, Uvicorn)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74920"/>
            <a:ext cx="11064240" cy="621792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212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3D91"/>
                </a:solidFill>
                <a:latin typeface="Segoe UI"/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40" y="521208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HTML, CSS, JavaScript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696712"/>
            <a:ext cx="11064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8338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3D91"/>
                </a:solidFill>
                <a:latin typeface="Segoe UI"/>
              </a:rPr>
              <a:t>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583387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233"/>
                </a:solidFill>
                <a:latin typeface="Segoe UI"/>
              </a:rPr>
              <a:t>Dashboards &amp; KPI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Segoe UI"/>
              </a:rPr>
              <a:t>AELON — Plateforme IA de service apres-vente bancaire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4AF37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9D6EC"/>
                </a:solidFill>
                <a:latin typeface="Segoe UI"/>
              </a:rPr>
              <a:t>AELON — Projet RAISE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