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4"/>
    <p:sldId id="258" r:id="rId5"/>
    <p:sldId id="259" r:id="rId6"/>
    <p:sldId id="260" r:id="rId7"/>
    <p:sldId id="275" r:id="rId8"/>
    <p:sldId id="276" r:id="rId9"/>
    <p:sldId id="262" r:id="rId10"/>
    <p:sldId id="279" r:id="rId11"/>
    <p:sldId id="263" r:id="rId12"/>
    <p:sldId id="277" r:id="rId13"/>
    <p:sldId id="264" r:id="rId14"/>
    <p:sldId id="265" r:id="rId15"/>
    <p:sldId id="266" r:id="rId16"/>
    <p:sldId id="267" r:id="rId17"/>
    <p:sldId id="268" r:id="rId18"/>
    <p:sldId id="269" r:id="rId19"/>
    <p:sldId id="270" r:id="rId20"/>
    <p:sldId id="271" r:id="rId21"/>
    <p:sldId id="272"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954" y="1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B702CB8-1F9C-4CFD-AC2D-198548895702}" type="doc">
      <dgm:prSet loTypeId="urn:microsoft.com/office/officeart/2005/8/layout/pyramid2" loCatId="list" qsTypeId="urn:microsoft.com/office/officeart/2005/8/quickstyle/simple1#1" qsCatId="simple" csTypeId="urn:microsoft.com/office/officeart/2005/8/colors/accent1_2#1" csCatId="accent1" phldr="1"/>
      <dgm:spPr/>
      <dgm:t>
        <a:bodyPr/>
        <a:lstStyle/>
        <a:p>
          <a:endParaRPr lang="fr-FR"/>
        </a:p>
      </dgm:t>
    </dgm:pt>
    <dgm:pt modelId="{163C54D1-E7DE-4F78-B2C5-0A7E4594C641}">
      <dgm:prSet phldrT="[Texte]"/>
      <dgm:spPr/>
      <dgm:t>
        <a:bodyPr/>
        <a:lstStyle/>
        <a:p>
          <a:pPr>
            <a:buFont typeface="Arial" panose="020B0604020202020204" pitchFamily="34" charset="0"/>
            <a:buChar char="•"/>
          </a:pPr>
          <a:r>
            <a:rPr lang="fr-FR" b="1" dirty="0">
              <a:solidFill>
                <a:schemeClr val="tx1"/>
              </a:solidFill>
              <a:latin typeface="Segoe UI"/>
            </a:rPr>
            <a:t>Les données issues des conversations clients sont encore largement sous-exploitées dans le secteur </a:t>
          </a:r>
          <a:r>
            <a:rPr lang="fr-FR" b="1" dirty="0">
              <a:solidFill>
                <a:schemeClr val="bg1"/>
              </a:solidFill>
              <a:latin typeface="Segoe UI"/>
            </a:rPr>
            <a:t>bancaire</a:t>
          </a:r>
          <a:r>
            <a:rPr lang="fr-FR" dirty="0">
              <a:solidFill>
                <a:schemeClr val="bg1"/>
              </a:solidFill>
              <a:latin typeface="Segoe UI"/>
            </a:rPr>
            <a:t>.</a:t>
          </a:r>
        </a:p>
      </dgm:t>
    </dgm:pt>
    <dgm:pt modelId="{3328CEC4-559E-42C3-A77C-667DE5BD08AA}" type="parTrans" cxnId="{5EB3E572-CA36-4A6E-9B3C-581C573B08AF}">
      <dgm:prSet/>
      <dgm:spPr/>
      <dgm:t>
        <a:bodyPr/>
        <a:lstStyle/>
        <a:p>
          <a:endParaRPr lang="fr-FR"/>
        </a:p>
      </dgm:t>
    </dgm:pt>
    <dgm:pt modelId="{6534311D-BFAA-481E-B7C4-FCA0BB1A0F8A}" type="sibTrans" cxnId="{5EB3E572-CA36-4A6E-9B3C-581C573B08AF}">
      <dgm:prSet/>
      <dgm:spPr/>
      <dgm:t>
        <a:bodyPr/>
        <a:lstStyle/>
        <a:p>
          <a:endParaRPr lang="fr-FR"/>
        </a:p>
      </dgm:t>
    </dgm:pt>
    <dgm:pt modelId="{DCEE2713-312E-4DC8-9557-0419E2CF2ADA}">
      <dgm:prSet phldrT="[Texte]"/>
      <dgm:spPr/>
      <dgm:t>
        <a:bodyPr/>
        <a:lstStyle/>
        <a:p>
          <a:pPr>
            <a:buFont typeface="Arial" panose="020B0604020202020204" pitchFamily="34" charset="0"/>
            <a:buChar char="•"/>
          </a:pPr>
          <a:r>
            <a:rPr lang="fr-FR" b="1" dirty="0">
              <a:solidFill>
                <a:schemeClr val="tx1"/>
              </a:solidFill>
              <a:latin typeface="Segoe UI"/>
            </a:rPr>
            <a:t>Les échanges entre les clients et les services de support constituent une source riche d'informations pour les équipes métier et la prise de </a:t>
          </a:r>
          <a:r>
            <a:rPr lang="fr-FR" dirty="0">
              <a:solidFill>
                <a:schemeClr val="bg1"/>
              </a:solidFill>
              <a:latin typeface="Segoe UI"/>
            </a:rPr>
            <a:t>décision.</a:t>
          </a:r>
          <a:endParaRPr lang="fr-FR" dirty="0">
            <a:solidFill>
              <a:schemeClr val="bg1"/>
            </a:solidFill>
          </a:endParaRPr>
        </a:p>
      </dgm:t>
    </dgm:pt>
    <dgm:pt modelId="{63FC3E18-934B-4CEC-AA7C-9006A327A5B5}" type="parTrans" cxnId="{D65B79C6-B093-4BF6-B2F2-BCD932550BE7}">
      <dgm:prSet/>
      <dgm:spPr/>
      <dgm:t>
        <a:bodyPr/>
        <a:lstStyle/>
        <a:p>
          <a:endParaRPr lang="fr-FR"/>
        </a:p>
      </dgm:t>
    </dgm:pt>
    <dgm:pt modelId="{72B3B01B-6E78-4B58-B191-54C66C03B77F}" type="sibTrans" cxnId="{D65B79C6-B093-4BF6-B2F2-BCD932550BE7}">
      <dgm:prSet/>
      <dgm:spPr/>
      <dgm:t>
        <a:bodyPr/>
        <a:lstStyle/>
        <a:p>
          <a:endParaRPr lang="fr-FR"/>
        </a:p>
      </dgm:t>
    </dgm:pt>
    <dgm:pt modelId="{3147E9EC-28B3-4CF4-86AF-7AD55859788F}">
      <dgm:prSet phldrT="[Texte]"/>
      <dgm:spPr/>
      <dgm:t>
        <a:bodyPr/>
        <a:lstStyle/>
        <a:p>
          <a:pPr>
            <a:buFont typeface="Arial" panose="020B0604020202020204" pitchFamily="34" charset="0"/>
            <a:buChar char="•"/>
          </a:pPr>
          <a:r>
            <a:rPr lang="fr-FR" b="1" dirty="0">
              <a:solidFill>
                <a:schemeClr val="tx1"/>
              </a:solidFill>
              <a:latin typeface="Segoe UI"/>
            </a:rPr>
            <a:t>Les assistants bancaires traditionnels manquent souvent de sources fiables, de traçabilité et d'explicabilité dans les réponses fournies.</a:t>
          </a:r>
          <a:endParaRPr lang="fr-FR" b="1" dirty="0">
            <a:solidFill>
              <a:schemeClr val="tx1"/>
            </a:solidFill>
          </a:endParaRPr>
        </a:p>
      </dgm:t>
    </dgm:pt>
    <dgm:pt modelId="{F0B50899-90CA-4023-AFD2-6B412C6D4591}" type="parTrans" cxnId="{E2FC4377-85DF-4AC4-AFC6-4D7FC1C21124}">
      <dgm:prSet/>
      <dgm:spPr/>
      <dgm:t>
        <a:bodyPr/>
        <a:lstStyle/>
        <a:p>
          <a:endParaRPr lang="fr-FR"/>
        </a:p>
      </dgm:t>
    </dgm:pt>
    <dgm:pt modelId="{D087A247-FD8D-48B6-A26F-89FD8E9657B2}" type="sibTrans" cxnId="{E2FC4377-85DF-4AC4-AFC6-4D7FC1C21124}">
      <dgm:prSet/>
      <dgm:spPr/>
      <dgm:t>
        <a:bodyPr/>
        <a:lstStyle/>
        <a:p>
          <a:endParaRPr lang="fr-FR"/>
        </a:p>
      </dgm:t>
    </dgm:pt>
    <dgm:pt modelId="{76330BAC-CFE3-4B5B-89B4-F6EE2CE239A4}" type="pres">
      <dgm:prSet presAssocID="{6B702CB8-1F9C-4CFD-AC2D-198548895702}" presName="compositeShape" presStyleCnt="0">
        <dgm:presLayoutVars>
          <dgm:dir/>
          <dgm:resizeHandles/>
        </dgm:presLayoutVars>
      </dgm:prSet>
      <dgm:spPr/>
    </dgm:pt>
    <dgm:pt modelId="{EBB541FD-0DAC-4519-8F76-6AA7FBEC54AA}" type="pres">
      <dgm:prSet presAssocID="{6B702CB8-1F9C-4CFD-AC2D-198548895702}" presName="pyramid" presStyleLbl="node1" presStyleIdx="0" presStyleCnt="1"/>
      <dgm:spPr/>
    </dgm:pt>
    <dgm:pt modelId="{F6DC2EE1-FEBD-47CF-B798-95BDC162CC17}" type="pres">
      <dgm:prSet presAssocID="{6B702CB8-1F9C-4CFD-AC2D-198548895702}" presName="theList" presStyleCnt="0"/>
      <dgm:spPr/>
    </dgm:pt>
    <dgm:pt modelId="{40F3D2CF-0193-4FEE-A7D0-0F9ACCC5383A}" type="pres">
      <dgm:prSet presAssocID="{163C54D1-E7DE-4F78-B2C5-0A7E4594C641}" presName="aNode" presStyleLbl="fgAcc1" presStyleIdx="0" presStyleCnt="3">
        <dgm:presLayoutVars>
          <dgm:bulletEnabled val="1"/>
        </dgm:presLayoutVars>
      </dgm:prSet>
      <dgm:spPr/>
    </dgm:pt>
    <dgm:pt modelId="{CE125168-70DD-4A21-9A1A-8753F75A89AD}" type="pres">
      <dgm:prSet presAssocID="{163C54D1-E7DE-4F78-B2C5-0A7E4594C641}" presName="aSpace" presStyleCnt="0"/>
      <dgm:spPr/>
    </dgm:pt>
    <dgm:pt modelId="{209D5632-374A-4CD3-91FA-FA4E33496360}" type="pres">
      <dgm:prSet presAssocID="{3147E9EC-28B3-4CF4-86AF-7AD55859788F}" presName="aNode" presStyleLbl="fgAcc1" presStyleIdx="1" presStyleCnt="3">
        <dgm:presLayoutVars>
          <dgm:bulletEnabled val="1"/>
        </dgm:presLayoutVars>
      </dgm:prSet>
      <dgm:spPr/>
    </dgm:pt>
    <dgm:pt modelId="{C9D22C3D-A724-452E-8670-C1A6E89879C3}" type="pres">
      <dgm:prSet presAssocID="{3147E9EC-28B3-4CF4-86AF-7AD55859788F}" presName="aSpace" presStyleCnt="0"/>
      <dgm:spPr/>
    </dgm:pt>
    <dgm:pt modelId="{8E388F8F-0811-4C79-A250-50DA7C7EF0A9}" type="pres">
      <dgm:prSet presAssocID="{DCEE2713-312E-4DC8-9557-0419E2CF2ADA}" presName="aNode" presStyleLbl="fgAcc1" presStyleIdx="2" presStyleCnt="3">
        <dgm:presLayoutVars>
          <dgm:bulletEnabled val="1"/>
        </dgm:presLayoutVars>
      </dgm:prSet>
      <dgm:spPr/>
    </dgm:pt>
    <dgm:pt modelId="{A8730379-38D6-40D4-8F22-146C4386727F}" type="pres">
      <dgm:prSet presAssocID="{DCEE2713-312E-4DC8-9557-0419E2CF2ADA}" presName="aSpace" presStyleCnt="0"/>
      <dgm:spPr/>
    </dgm:pt>
  </dgm:ptLst>
  <dgm:cxnLst>
    <dgm:cxn modelId="{482CB03F-5110-4945-B375-4C3ED75C025C}" type="presOf" srcId="{3147E9EC-28B3-4CF4-86AF-7AD55859788F}" destId="{209D5632-374A-4CD3-91FA-FA4E33496360}" srcOrd="0" destOrd="0" presId="urn:microsoft.com/office/officeart/2005/8/layout/pyramid2"/>
    <dgm:cxn modelId="{5EB3E572-CA36-4A6E-9B3C-581C573B08AF}" srcId="{6B702CB8-1F9C-4CFD-AC2D-198548895702}" destId="{163C54D1-E7DE-4F78-B2C5-0A7E4594C641}" srcOrd="0" destOrd="0" parTransId="{3328CEC4-559E-42C3-A77C-667DE5BD08AA}" sibTransId="{6534311D-BFAA-481E-B7C4-FCA0BB1A0F8A}"/>
    <dgm:cxn modelId="{E2FC4377-85DF-4AC4-AFC6-4D7FC1C21124}" srcId="{6B702CB8-1F9C-4CFD-AC2D-198548895702}" destId="{3147E9EC-28B3-4CF4-86AF-7AD55859788F}" srcOrd="1" destOrd="0" parTransId="{F0B50899-90CA-4023-AFD2-6B412C6D4591}" sibTransId="{D087A247-FD8D-48B6-A26F-89FD8E9657B2}"/>
    <dgm:cxn modelId="{99EB92AE-5C26-44B4-8E30-DA01D14DEC96}" type="presOf" srcId="{DCEE2713-312E-4DC8-9557-0419E2CF2ADA}" destId="{8E388F8F-0811-4C79-A250-50DA7C7EF0A9}" srcOrd="0" destOrd="0" presId="urn:microsoft.com/office/officeart/2005/8/layout/pyramid2"/>
    <dgm:cxn modelId="{D65B79C6-B093-4BF6-B2F2-BCD932550BE7}" srcId="{6B702CB8-1F9C-4CFD-AC2D-198548895702}" destId="{DCEE2713-312E-4DC8-9557-0419E2CF2ADA}" srcOrd="2" destOrd="0" parTransId="{63FC3E18-934B-4CEC-AA7C-9006A327A5B5}" sibTransId="{72B3B01B-6E78-4B58-B191-54C66C03B77F}"/>
    <dgm:cxn modelId="{7B6217CD-2DE3-45A5-BEC9-0A11B08CD879}" type="presOf" srcId="{163C54D1-E7DE-4F78-B2C5-0A7E4594C641}" destId="{40F3D2CF-0193-4FEE-A7D0-0F9ACCC5383A}" srcOrd="0" destOrd="0" presId="urn:microsoft.com/office/officeart/2005/8/layout/pyramid2"/>
    <dgm:cxn modelId="{052C1BE1-DCDE-4D1C-BFCF-F698B6C8EB98}" type="presOf" srcId="{6B702CB8-1F9C-4CFD-AC2D-198548895702}" destId="{76330BAC-CFE3-4B5B-89B4-F6EE2CE239A4}" srcOrd="0" destOrd="0" presId="urn:microsoft.com/office/officeart/2005/8/layout/pyramid2"/>
    <dgm:cxn modelId="{3509DF41-AED3-4642-B1CC-61EC6387441F}" type="presParOf" srcId="{76330BAC-CFE3-4B5B-89B4-F6EE2CE239A4}" destId="{EBB541FD-0DAC-4519-8F76-6AA7FBEC54AA}" srcOrd="0" destOrd="0" presId="urn:microsoft.com/office/officeart/2005/8/layout/pyramid2"/>
    <dgm:cxn modelId="{E98A5FEE-109E-4E26-8250-81A0A45C0B09}" type="presParOf" srcId="{76330BAC-CFE3-4B5B-89B4-F6EE2CE239A4}" destId="{F6DC2EE1-FEBD-47CF-B798-95BDC162CC17}" srcOrd="1" destOrd="0" presId="urn:microsoft.com/office/officeart/2005/8/layout/pyramid2"/>
    <dgm:cxn modelId="{6778330A-81B9-491B-83CF-79EA447B1D5A}" type="presParOf" srcId="{F6DC2EE1-FEBD-47CF-B798-95BDC162CC17}" destId="{40F3D2CF-0193-4FEE-A7D0-0F9ACCC5383A}" srcOrd="0" destOrd="0" presId="urn:microsoft.com/office/officeart/2005/8/layout/pyramid2"/>
    <dgm:cxn modelId="{B537ACC6-201E-4C2E-8838-33D0A6CFD98F}" type="presParOf" srcId="{F6DC2EE1-FEBD-47CF-B798-95BDC162CC17}" destId="{CE125168-70DD-4A21-9A1A-8753F75A89AD}" srcOrd="1" destOrd="0" presId="urn:microsoft.com/office/officeart/2005/8/layout/pyramid2"/>
    <dgm:cxn modelId="{9D76A78E-B5B4-4D45-AB0F-F10861D08708}" type="presParOf" srcId="{F6DC2EE1-FEBD-47CF-B798-95BDC162CC17}" destId="{209D5632-374A-4CD3-91FA-FA4E33496360}" srcOrd="2" destOrd="0" presId="urn:microsoft.com/office/officeart/2005/8/layout/pyramid2"/>
    <dgm:cxn modelId="{0B5FA41F-320B-4AA7-B206-EDC279D4A553}" type="presParOf" srcId="{F6DC2EE1-FEBD-47CF-B798-95BDC162CC17}" destId="{C9D22C3D-A724-452E-8670-C1A6E89879C3}" srcOrd="3" destOrd="0" presId="urn:microsoft.com/office/officeart/2005/8/layout/pyramid2"/>
    <dgm:cxn modelId="{09499E0B-87EF-4469-98E3-99FE7D80CCD9}" type="presParOf" srcId="{F6DC2EE1-FEBD-47CF-B798-95BDC162CC17}" destId="{8E388F8F-0811-4C79-A250-50DA7C7EF0A9}" srcOrd="4" destOrd="0" presId="urn:microsoft.com/office/officeart/2005/8/layout/pyramid2"/>
    <dgm:cxn modelId="{DB82A829-EEF7-41C3-AF3A-48070B6E1F1E}" type="presParOf" srcId="{F6DC2EE1-FEBD-47CF-B798-95BDC162CC17}" destId="{A8730379-38D6-40D4-8F22-146C4386727F}"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F27B28-AF13-4459-B72A-82EA7235828C}" type="doc">
      <dgm:prSet loTypeId="urn:microsoft.com/office/officeart/2005/8/layout/lProcess2" loCatId="list" qsTypeId="urn:microsoft.com/office/officeart/2005/8/quickstyle/simple1#2" qsCatId="simple" csTypeId="urn:microsoft.com/office/officeart/2005/8/colors/accent1_2#2" csCatId="accent1" phldr="1"/>
      <dgm:spPr/>
      <dgm:t>
        <a:bodyPr/>
        <a:lstStyle/>
        <a:p>
          <a:endParaRPr lang="fr-FR"/>
        </a:p>
      </dgm:t>
    </dgm:pt>
    <dgm:pt modelId="{4C15EFCD-ED1B-4D46-8C37-C1BD3CD60FDE}">
      <dgm:prSet phldrT="[Texte]"/>
      <dgm:spPr/>
      <dgm:t>
        <a:bodyPr/>
        <a:lstStyle/>
        <a:p>
          <a:pPr>
            <a:buNone/>
          </a:pPr>
          <a:endParaRPr lang="fr-FR" b="1" i="0" dirty="0">
            <a:latin typeface="Segoe UI" panose="020B0502040204020203" pitchFamily="34" charset="0"/>
            <a:cs typeface="Segoe UI" panose="020B0502040204020203" pitchFamily="34" charset="0"/>
          </a:endParaRPr>
        </a:p>
        <a:p>
          <a:pPr>
            <a:buNone/>
          </a:pPr>
          <a:r>
            <a:rPr lang="fr-FR" b="1" i="0" dirty="0">
              <a:latin typeface="Segoe UI" panose="020B0502040204020203" pitchFamily="34" charset="0"/>
              <a:cs typeface="Segoe UI" panose="020B0502040204020203" pitchFamily="34" charset="0"/>
            </a:rPr>
            <a:t>Conception d’une plateforme basée sur le RAG et les architectures multi-agents afin de produire des réponses contextualisées, fiables et gouvernées.</a:t>
          </a:r>
        </a:p>
        <a:p>
          <a:pPr>
            <a:buNone/>
          </a:pPr>
          <a:endParaRPr lang="fr-FR" dirty="0"/>
        </a:p>
        <a:p>
          <a:pPr>
            <a:buNone/>
          </a:pPr>
          <a:endParaRPr lang="fr-FR" dirty="0"/>
        </a:p>
      </dgm:t>
    </dgm:pt>
    <dgm:pt modelId="{AE00E7CA-DD74-4841-866D-6DA5D53E3EE2}" type="parTrans" cxnId="{648F5C90-2DF1-46B9-9DB9-449329FAF443}">
      <dgm:prSet/>
      <dgm:spPr/>
      <dgm:t>
        <a:bodyPr/>
        <a:lstStyle/>
        <a:p>
          <a:endParaRPr lang="fr-FR"/>
        </a:p>
      </dgm:t>
    </dgm:pt>
    <dgm:pt modelId="{D72B03A6-1CB1-40FD-A56B-0D3C593B9B60}" type="sibTrans" cxnId="{648F5C90-2DF1-46B9-9DB9-449329FAF443}">
      <dgm:prSet/>
      <dgm:spPr/>
      <dgm:t>
        <a:bodyPr/>
        <a:lstStyle/>
        <a:p>
          <a:endParaRPr lang="fr-FR"/>
        </a:p>
      </dgm:t>
    </dgm:pt>
    <dgm:pt modelId="{FB2CD478-3B70-4142-98DC-5EEA27E744AE}">
      <dgm:prSet phldrT="[Texte]"/>
      <dgm:spPr/>
      <dgm:t>
        <a:bodyPr/>
        <a:lstStyle/>
        <a:p>
          <a:pPr>
            <a:buNone/>
          </a:pPr>
          <a:endParaRPr lang="fr-FR" dirty="0"/>
        </a:p>
      </dgm:t>
    </dgm:pt>
    <dgm:pt modelId="{B855112B-0C29-4DE2-98A0-C0E932089875}" type="parTrans" cxnId="{CEF07D32-8809-4F11-8696-FBC5B023BFAB}">
      <dgm:prSet/>
      <dgm:spPr/>
      <dgm:t>
        <a:bodyPr/>
        <a:lstStyle/>
        <a:p>
          <a:endParaRPr lang="fr-FR"/>
        </a:p>
      </dgm:t>
    </dgm:pt>
    <dgm:pt modelId="{5CB8D604-9F19-40CD-8D52-CBCA3CCDFA0E}" type="sibTrans" cxnId="{CEF07D32-8809-4F11-8696-FBC5B023BFAB}">
      <dgm:prSet/>
      <dgm:spPr/>
      <dgm:t>
        <a:bodyPr/>
        <a:lstStyle/>
        <a:p>
          <a:endParaRPr lang="fr-FR"/>
        </a:p>
      </dgm:t>
    </dgm:pt>
    <dgm:pt modelId="{49E9CAAF-A103-4A6E-8E18-24FD7928C0F6}">
      <dgm:prSet phldrT="[Texte]"/>
      <dgm:spPr/>
      <dgm:t>
        <a:bodyPr/>
        <a:lstStyle/>
        <a:p>
          <a:r>
            <a:rPr lang="fr-FR" b="1">
              <a:latin typeface="Segoe UI"/>
            </a:rPr>
            <a:t>Mettre en pratique mes compétences en Data Engineering, IA Générative et architecture de solutions Data &amp; IA autour d'un cas d'usage concret à forte valeur métier. </a:t>
          </a:r>
          <a:endParaRPr lang="fr-FR" b="1" dirty="0"/>
        </a:p>
      </dgm:t>
    </dgm:pt>
    <dgm:pt modelId="{F9F1E43F-D902-4FDE-948E-1287E3E4F1A2}" type="parTrans" cxnId="{A356ACFD-9D11-4DDF-AD73-005C698D3A7E}">
      <dgm:prSet/>
      <dgm:spPr/>
      <dgm:t>
        <a:bodyPr/>
        <a:lstStyle/>
        <a:p>
          <a:endParaRPr lang="fr-FR"/>
        </a:p>
      </dgm:t>
    </dgm:pt>
    <dgm:pt modelId="{13CA6FF0-CA58-46C8-BA38-755C00D783C7}" type="sibTrans" cxnId="{A356ACFD-9D11-4DDF-AD73-005C698D3A7E}">
      <dgm:prSet/>
      <dgm:spPr/>
      <dgm:t>
        <a:bodyPr/>
        <a:lstStyle/>
        <a:p>
          <a:endParaRPr lang="fr-FR"/>
        </a:p>
      </dgm:t>
    </dgm:pt>
    <dgm:pt modelId="{45553CD2-3E41-41B2-9D0B-1B659C1829DF}">
      <dgm:prSet phldrT="[Texte]" phldr="0"/>
      <dgm:spPr/>
      <dgm:t>
        <a:bodyPr/>
        <a:lstStyle/>
        <a:p>
          <a:endParaRPr lang="fr-FR" dirty="0"/>
        </a:p>
      </dgm:t>
    </dgm:pt>
    <dgm:pt modelId="{CCADA4BC-2AA4-455B-9B48-94AA39B796F7}" type="parTrans" cxnId="{226B332D-A83F-4B1A-9078-70A56869011B}">
      <dgm:prSet/>
      <dgm:spPr/>
      <dgm:t>
        <a:bodyPr/>
        <a:lstStyle/>
        <a:p>
          <a:endParaRPr lang="fr-FR"/>
        </a:p>
      </dgm:t>
    </dgm:pt>
    <dgm:pt modelId="{1D8BD2B2-52F9-4929-8536-FE929AE65AB9}" type="sibTrans" cxnId="{226B332D-A83F-4B1A-9078-70A56869011B}">
      <dgm:prSet/>
      <dgm:spPr/>
      <dgm:t>
        <a:bodyPr/>
        <a:lstStyle/>
        <a:p>
          <a:endParaRPr lang="fr-FR"/>
        </a:p>
      </dgm:t>
    </dgm:pt>
    <dgm:pt modelId="{844BEFE5-461A-4F18-8A67-B666D5EE87D8}">
      <dgm:prSet/>
      <dgm:spPr/>
      <dgm:t>
        <a:bodyPr/>
        <a:lstStyle/>
        <a:p>
          <a:pPr>
            <a:buNone/>
          </a:pPr>
          <a:endParaRPr lang="fr-FR" dirty="0"/>
        </a:p>
      </dgm:t>
    </dgm:pt>
    <dgm:pt modelId="{D9CFAEAD-281F-42A3-A2F7-979FAEC79942}" type="parTrans" cxnId="{B277D39B-F437-4EBD-A89E-DDB01EF4FF41}">
      <dgm:prSet/>
      <dgm:spPr/>
      <dgm:t>
        <a:bodyPr/>
        <a:lstStyle/>
        <a:p>
          <a:endParaRPr lang="fr-FR"/>
        </a:p>
      </dgm:t>
    </dgm:pt>
    <dgm:pt modelId="{917950C4-488D-4A97-BD7D-E2F132117CB7}" type="sibTrans" cxnId="{B277D39B-F437-4EBD-A89E-DDB01EF4FF41}">
      <dgm:prSet/>
      <dgm:spPr/>
      <dgm:t>
        <a:bodyPr/>
        <a:lstStyle/>
        <a:p>
          <a:endParaRPr lang="fr-FR"/>
        </a:p>
      </dgm:t>
    </dgm:pt>
    <dgm:pt modelId="{1DB7DD8D-40EA-42EB-89FE-DF274F48F2ED}">
      <dgm:prSet/>
      <dgm:spPr/>
      <dgm:t>
        <a:bodyPr/>
        <a:lstStyle/>
        <a:p>
          <a:pPr>
            <a:buNone/>
          </a:pPr>
          <a:endParaRPr lang="fr-FR" dirty="0"/>
        </a:p>
      </dgm:t>
    </dgm:pt>
    <dgm:pt modelId="{50892086-C92F-4AFE-8277-8849AE5D16C0}" type="parTrans" cxnId="{7C730DF6-EE4C-48C9-AC14-D6DB8A645F3C}">
      <dgm:prSet/>
      <dgm:spPr/>
      <dgm:t>
        <a:bodyPr/>
        <a:lstStyle/>
        <a:p>
          <a:endParaRPr lang="fr-FR"/>
        </a:p>
      </dgm:t>
    </dgm:pt>
    <dgm:pt modelId="{1D216966-243D-48D9-AAC4-893AC7E240A7}" type="sibTrans" cxnId="{7C730DF6-EE4C-48C9-AC14-D6DB8A645F3C}">
      <dgm:prSet/>
      <dgm:spPr/>
      <dgm:t>
        <a:bodyPr/>
        <a:lstStyle/>
        <a:p>
          <a:endParaRPr lang="fr-FR"/>
        </a:p>
      </dgm:t>
    </dgm:pt>
    <dgm:pt modelId="{6163B55C-2F58-462B-AAF4-9C7F0ED6643A}">
      <dgm:prSet phldrT="[Texte]"/>
      <dgm:spPr/>
      <dgm:t>
        <a:bodyPr/>
        <a:lstStyle/>
        <a:p>
          <a:pPr>
            <a:buNone/>
          </a:pPr>
          <a:r>
            <a:rPr lang="fr-FR" b="1" i="0" dirty="0">
              <a:latin typeface="Segoe UI" panose="020B0502040204020203" pitchFamily="34" charset="0"/>
              <a:cs typeface="Segoe UI" panose="020B0502040204020203" pitchFamily="34" charset="0"/>
            </a:rPr>
            <a:t>L'objectif était également de transformer les conversations en indicateurs métier exploitables pour le pilotage, l'amélioration continue des services et la gouvernance de l'IA. </a:t>
          </a:r>
          <a:endParaRPr lang="fr-FR" dirty="0"/>
        </a:p>
      </dgm:t>
    </dgm:pt>
    <dgm:pt modelId="{2B270890-F8EF-4971-90C7-1B7794B02F06}" type="parTrans" cxnId="{7CAC3DA0-F680-4B31-8C39-B878EADF90D5}">
      <dgm:prSet/>
      <dgm:spPr/>
      <dgm:t>
        <a:bodyPr/>
        <a:lstStyle/>
        <a:p>
          <a:endParaRPr lang="fr-FR"/>
        </a:p>
      </dgm:t>
    </dgm:pt>
    <dgm:pt modelId="{6C45B42B-0828-461B-8849-48E3616FCE42}" type="sibTrans" cxnId="{7CAC3DA0-F680-4B31-8C39-B878EADF90D5}">
      <dgm:prSet/>
      <dgm:spPr/>
      <dgm:t>
        <a:bodyPr/>
        <a:lstStyle/>
        <a:p>
          <a:endParaRPr lang="fr-FR"/>
        </a:p>
      </dgm:t>
    </dgm:pt>
    <dgm:pt modelId="{3B52CDF2-5BEB-47F4-B83A-9C5866D7C742}" type="pres">
      <dgm:prSet presAssocID="{41F27B28-AF13-4459-B72A-82EA7235828C}" presName="theList" presStyleCnt="0">
        <dgm:presLayoutVars>
          <dgm:dir/>
          <dgm:animLvl val="lvl"/>
          <dgm:resizeHandles val="exact"/>
        </dgm:presLayoutVars>
      </dgm:prSet>
      <dgm:spPr/>
    </dgm:pt>
    <dgm:pt modelId="{E4159FC1-6E9C-4C1C-BE7E-E1C7A0F49DBB}" type="pres">
      <dgm:prSet presAssocID="{4C15EFCD-ED1B-4D46-8C37-C1BD3CD60FDE}" presName="compNode" presStyleCnt="0"/>
      <dgm:spPr/>
    </dgm:pt>
    <dgm:pt modelId="{715E8352-D557-46D6-A294-C9E32756B8CB}" type="pres">
      <dgm:prSet presAssocID="{4C15EFCD-ED1B-4D46-8C37-C1BD3CD60FDE}" presName="aNode" presStyleLbl="bgShp" presStyleIdx="0" presStyleCnt="3"/>
      <dgm:spPr/>
    </dgm:pt>
    <dgm:pt modelId="{B90A03FD-1DD0-41F1-A685-4DB5C7B18FA4}" type="pres">
      <dgm:prSet presAssocID="{4C15EFCD-ED1B-4D46-8C37-C1BD3CD60FDE}" presName="textNode" presStyleLbl="bgShp" presStyleIdx="0" presStyleCnt="3"/>
      <dgm:spPr/>
    </dgm:pt>
    <dgm:pt modelId="{CB51FB0A-B3C5-4D3C-871B-03F82CE7C568}" type="pres">
      <dgm:prSet presAssocID="{4C15EFCD-ED1B-4D46-8C37-C1BD3CD60FDE}" presName="compChildNode" presStyleCnt="0"/>
      <dgm:spPr/>
    </dgm:pt>
    <dgm:pt modelId="{0CC61CE1-898E-403A-B0CA-67E4D3CAC313}" type="pres">
      <dgm:prSet presAssocID="{4C15EFCD-ED1B-4D46-8C37-C1BD3CD60FDE}" presName="theInnerList" presStyleCnt="0"/>
      <dgm:spPr/>
    </dgm:pt>
    <dgm:pt modelId="{F144148C-5B36-4967-B28A-5AC038EB4F83}" type="pres">
      <dgm:prSet presAssocID="{FB2CD478-3B70-4142-98DC-5EEA27E744AE}" presName="childNode" presStyleLbl="node1" presStyleIdx="0" presStyleCnt="4">
        <dgm:presLayoutVars>
          <dgm:bulletEnabled val="1"/>
        </dgm:presLayoutVars>
      </dgm:prSet>
      <dgm:spPr/>
    </dgm:pt>
    <dgm:pt modelId="{B1FABD5B-7A1E-41C5-9428-261EC952D48D}" type="pres">
      <dgm:prSet presAssocID="{FB2CD478-3B70-4142-98DC-5EEA27E744AE}" presName="aSpace2" presStyleCnt="0"/>
      <dgm:spPr/>
    </dgm:pt>
    <dgm:pt modelId="{3F349511-B789-4916-9F0B-D1E98EE8C405}" type="pres">
      <dgm:prSet presAssocID="{844BEFE5-461A-4F18-8A67-B666D5EE87D8}" presName="childNode" presStyleLbl="node1" presStyleIdx="1" presStyleCnt="4">
        <dgm:presLayoutVars>
          <dgm:bulletEnabled val="1"/>
        </dgm:presLayoutVars>
      </dgm:prSet>
      <dgm:spPr/>
    </dgm:pt>
    <dgm:pt modelId="{1C0945DA-6B06-4E89-A20A-8C4E150C0347}" type="pres">
      <dgm:prSet presAssocID="{844BEFE5-461A-4F18-8A67-B666D5EE87D8}" presName="aSpace2" presStyleCnt="0"/>
      <dgm:spPr/>
    </dgm:pt>
    <dgm:pt modelId="{D318CD37-7F4F-4127-8A04-E716E4CEF0AB}" type="pres">
      <dgm:prSet presAssocID="{1DB7DD8D-40EA-42EB-89FE-DF274F48F2ED}" presName="childNode" presStyleLbl="node1" presStyleIdx="2" presStyleCnt="4">
        <dgm:presLayoutVars>
          <dgm:bulletEnabled val="1"/>
        </dgm:presLayoutVars>
      </dgm:prSet>
      <dgm:spPr/>
    </dgm:pt>
    <dgm:pt modelId="{712304A9-1D1F-46A8-A47B-DBDDADC67757}" type="pres">
      <dgm:prSet presAssocID="{4C15EFCD-ED1B-4D46-8C37-C1BD3CD60FDE}" presName="aSpace" presStyleCnt="0"/>
      <dgm:spPr/>
    </dgm:pt>
    <dgm:pt modelId="{176F4912-3C4F-46BF-9D5D-F2BD76BE12DE}" type="pres">
      <dgm:prSet presAssocID="{6163B55C-2F58-462B-AAF4-9C7F0ED6643A}" presName="compNode" presStyleCnt="0"/>
      <dgm:spPr/>
    </dgm:pt>
    <dgm:pt modelId="{412709E5-DEA9-4894-A466-903F61FE139D}" type="pres">
      <dgm:prSet presAssocID="{6163B55C-2F58-462B-AAF4-9C7F0ED6643A}" presName="aNode" presStyleLbl="bgShp" presStyleIdx="1" presStyleCnt="3"/>
      <dgm:spPr/>
    </dgm:pt>
    <dgm:pt modelId="{2DA8B85B-75E8-4D0D-98EE-782BABF6590A}" type="pres">
      <dgm:prSet presAssocID="{6163B55C-2F58-462B-AAF4-9C7F0ED6643A}" presName="textNode" presStyleLbl="bgShp" presStyleIdx="1" presStyleCnt="3"/>
      <dgm:spPr/>
    </dgm:pt>
    <dgm:pt modelId="{013B2781-30DF-4012-96C9-E4243D242DF3}" type="pres">
      <dgm:prSet presAssocID="{6163B55C-2F58-462B-AAF4-9C7F0ED6643A}" presName="compChildNode" presStyleCnt="0"/>
      <dgm:spPr/>
    </dgm:pt>
    <dgm:pt modelId="{FB70301D-81AD-4B17-A43B-3E7A39929F64}" type="pres">
      <dgm:prSet presAssocID="{6163B55C-2F58-462B-AAF4-9C7F0ED6643A}" presName="theInnerList" presStyleCnt="0"/>
      <dgm:spPr/>
    </dgm:pt>
    <dgm:pt modelId="{C9AE77F3-6FDE-4EA9-88EC-3048D0DE84CC}" type="pres">
      <dgm:prSet presAssocID="{6163B55C-2F58-462B-AAF4-9C7F0ED6643A}" presName="aSpace" presStyleCnt="0"/>
      <dgm:spPr/>
    </dgm:pt>
    <dgm:pt modelId="{6D50587E-CA2D-465F-90F3-CCAF5BE64DA6}" type="pres">
      <dgm:prSet presAssocID="{49E9CAAF-A103-4A6E-8E18-24FD7928C0F6}" presName="compNode" presStyleCnt="0"/>
      <dgm:spPr/>
    </dgm:pt>
    <dgm:pt modelId="{8F9DAE07-3FB4-4274-9E9C-BDD8BB1B7D96}" type="pres">
      <dgm:prSet presAssocID="{49E9CAAF-A103-4A6E-8E18-24FD7928C0F6}" presName="aNode" presStyleLbl="bgShp" presStyleIdx="2" presStyleCnt="3"/>
      <dgm:spPr/>
    </dgm:pt>
    <dgm:pt modelId="{5EB7CDB3-5F3D-4B6A-B6F2-19A5BD6C90F3}" type="pres">
      <dgm:prSet presAssocID="{49E9CAAF-A103-4A6E-8E18-24FD7928C0F6}" presName="textNode" presStyleLbl="bgShp" presStyleIdx="2" presStyleCnt="3"/>
      <dgm:spPr/>
    </dgm:pt>
    <dgm:pt modelId="{792B63C1-D841-493D-998E-EBB5E890FCAF}" type="pres">
      <dgm:prSet presAssocID="{49E9CAAF-A103-4A6E-8E18-24FD7928C0F6}" presName="compChildNode" presStyleCnt="0"/>
      <dgm:spPr/>
    </dgm:pt>
    <dgm:pt modelId="{36C35E7A-643C-43CF-9ED0-5759AA829F48}" type="pres">
      <dgm:prSet presAssocID="{49E9CAAF-A103-4A6E-8E18-24FD7928C0F6}" presName="theInnerList" presStyleCnt="0"/>
      <dgm:spPr/>
    </dgm:pt>
    <dgm:pt modelId="{6B207FDF-3974-46AE-A57C-34409C858762}" type="pres">
      <dgm:prSet presAssocID="{45553CD2-3E41-41B2-9D0B-1B659C1829DF}" presName="childNode" presStyleLbl="node1" presStyleIdx="3" presStyleCnt="4">
        <dgm:presLayoutVars>
          <dgm:bulletEnabled val="1"/>
        </dgm:presLayoutVars>
      </dgm:prSet>
      <dgm:spPr/>
    </dgm:pt>
  </dgm:ptLst>
  <dgm:cxnLst>
    <dgm:cxn modelId="{7DBCCA0B-4764-4927-AEA9-370FF0529225}" type="presOf" srcId="{49E9CAAF-A103-4A6E-8E18-24FD7928C0F6}" destId="{5EB7CDB3-5F3D-4B6A-B6F2-19A5BD6C90F3}" srcOrd="1" destOrd="0" presId="urn:microsoft.com/office/officeart/2005/8/layout/lProcess2"/>
    <dgm:cxn modelId="{E92EC421-4BEA-4387-B1A8-CB5783D4FC8B}" type="presOf" srcId="{FB2CD478-3B70-4142-98DC-5EEA27E744AE}" destId="{F144148C-5B36-4967-B28A-5AC038EB4F83}" srcOrd="0" destOrd="0" presId="urn:microsoft.com/office/officeart/2005/8/layout/lProcess2"/>
    <dgm:cxn modelId="{A6F8FE23-305E-4C0A-8FC9-9582972D1724}" type="presOf" srcId="{844BEFE5-461A-4F18-8A67-B666D5EE87D8}" destId="{3F349511-B789-4916-9F0B-D1E98EE8C405}" srcOrd="0" destOrd="0" presId="urn:microsoft.com/office/officeart/2005/8/layout/lProcess2"/>
    <dgm:cxn modelId="{884B7624-7382-46AD-8369-602E9F7D2AB5}" type="presOf" srcId="{4C15EFCD-ED1B-4D46-8C37-C1BD3CD60FDE}" destId="{B90A03FD-1DD0-41F1-A685-4DB5C7B18FA4}" srcOrd="1" destOrd="0" presId="urn:microsoft.com/office/officeart/2005/8/layout/lProcess2"/>
    <dgm:cxn modelId="{B5ADDB27-6B3B-4DE4-A1E3-C96AB24B01CD}" type="presOf" srcId="{4C15EFCD-ED1B-4D46-8C37-C1BD3CD60FDE}" destId="{715E8352-D557-46D6-A294-C9E32756B8CB}" srcOrd="0" destOrd="0" presId="urn:microsoft.com/office/officeart/2005/8/layout/lProcess2"/>
    <dgm:cxn modelId="{226B332D-A83F-4B1A-9078-70A56869011B}" srcId="{49E9CAAF-A103-4A6E-8E18-24FD7928C0F6}" destId="{45553CD2-3E41-41B2-9D0B-1B659C1829DF}" srcOrd="0" destOrd="0" parTransId="{CCADA4BC-2AA4-455B-9B48-94AA39B796F7}" sibTransId="{1D8BD2B2-52F9-4929-8536-FE929AE65AB9}"/>
    <dgm:cxn modelId="{CEF07D32-8809-4F11-8696-FBC5B023BFAB}" srcId="{4C15EFCD-ED1B-4D46-8C37-C1BD3CD60FDE}" destId="{FB2CD478-3B70-4142-98DC-5EEA27E744AE}" srcOrd="0" destOrd="0" parTransId="{B855112B-0C29-4DE2-98A0-C0E932089875}" sibTransId="{5CB8D604-9F19-40CD-8D52-CBCA3CCDFA0E}"/>
    <dgm:cxn modelId="{1FD0683D-4014-4B15-831C-0CE9F95CDB96}" type="presOf" srcId="{6163B55C-2F58-462B-AAF4-9C7F0ED6643A}" destId="{412709E5-DEA9-4894-A466-903F61FE139D}" srcOrd="0" destOrd="0" presId="urn:microsoft.com/office/officeart/2005/8/layout/lProcess2"/>
    <dgm:cxn modelId="{1245D466-5767-4145-B40D-E2F956D3CD66}" type="presOf" srcId="{1DB7DD8D-40EA-42EB-89FE-DF274F48F2ED}" destId="{D318CD37-7F4F-4127-8A04-E716E4CEF0AB}" srcOrd="0" destOrd="0" presId="urn:microsoft.com/office/officeart/2005/8/layout/lProcess2"/>
    <dgm:cxn modelId="{4662714F-4E9D-431C-A238-6B3B584BDC0F}" type="presOf" srcId="{45553CD2-3E41-41B2-9D0B-1B659C1829DF}" destId="{6B207FDF-3974-46AE-A57C-34409C858762}" srcOrd="0" destOrd="0" presId="urn:microsoft.com/office/officeart/2005/8/layout/lProcess2"/>
    <dgm:cxn modelId="{648F5C90-2DF1-46B9-9DB9-449329FAF443}" srcId="{41F27B28-AF13-4459-B72A-82EA7235828C}" destId="{4C15EFCD-ED1B-4D46-8C37-C1BD3CD60FDE}" srcOrd="0" destOrd="0" parTransId="{AE00E7CA-DD74-4841-866D-6DA5D53E3EE2}" sibTransId="{D72B03A6-1CB1-40FD-A56B-0D3C593B9B60}"/>
    <dgm:cxn modelId="{56207C97-F73E-4ECC-9E9F-570AA466D44E}" type="presOf" srcId="{41F27B28-AF13-4459-B72A-82EA7235828C}" destId="{3B52CDF2-5BEB-47F4-B83A-9C5866D7C742}" srcOrd="0" destOrd="0" presId="urn:microsoft.com/office/officeart/2005/8/layout/lProcess2"/>
    <dgm:cxn modelId="{B277D39B-F437-4EBD-A89E-DDB01EF4FF41}" srcId="{4C15EFCD-ED1B-4D46-8C37-C1BD3CD60FDE}" destId="{844BEFE5-461A-4F18-8A67-B666D5EE87D8}" srcOrd="1" destOrd="0" parTransId="{D9CFAEAD-281F-42A3-A2F7-979FAEC79942}" sibTransId="{917950C4-488D-4A97-BD7D-E2F132117CB7}"/>
    <dgm:cxn modelId="{7CAC3DA0-F680-4B31-8C39-B878EADF90D5}" srcId="{41F27B28-AF13-4459-B72A-82EA7235828C}" destId="{6163B55C-2F58-462B-AAF4-9C7F0ED6643A}" srcOrd="1" destOrd="0" parTransId="{2B270890-F8EF-4971-90C7-1B7794B02F06}" sibTransId="{6C45B42B-0828-461B-8849-48E3616FCE42}"/>
    <dgm:cxn modelId="{3AEC6AE3-418A-4A8F-9BD0-85FB078C792A}" type="presOf" srcId="{6163B55C-2F58-462B-AAF4-9C7F0ED6643A}" destId="{2DA8B85B-75E8-4D0D-98EE-782BABF6590A}" srcOrd="1" destOrd="0" presId="urn:microsoft.com/office/officeart/2005/8/layout/lProcess2"/>
    <dgm:cxn modelId="{7C730DF6-EE4C-48C9-AC14-D6DB8A645F3C}" srcId="{4C15EFCD-ED1B-4D46-8C37-C1BD3CD60FDE}" destId="{1DB7DD8D-40EA-42EB-89FE-DF274F48F2ED}" srcOrd="2" destOrd="0" parTransId="{50892086-C92F-4AFE-8277-8849AE5D16C0}" sibTransId="{1D216966-243D-48D9-AAC4-893AC7E240A7}"/>
    <dgm:cxn modelId="{BB205BFB-5E96-4790-8E78-EC9143BCD77A}" type="presOf" srcId="{49E9CAAF-A103-4A6E-8E18-24FD7928C0F6}" destId="{8F9DAE07-3FB4-4274-9E9C-BDD8BB1B7D96}" srcOrd="0" destOrd="0" presId="urn:microsoft.com/office/officeart/2005/8/layout/lProcess2"/>
    <dgm:cxn modelId="{A356ACFD-9D11-4DDF-AD73-005C698D3A7E}" srcId="{41F27B28-AF13-4459-B72A-82EA7235828C}" destId="{49E9CAAF-A103-4A6E-8E18-24FD7928C0F6}" srcOrd="2" destOrd="0" parTransId="{F9F1E43F-D902-4FDE-948E-1287E3E4F1A2}" sibTransId="{13CA6FF0-CA58-46C8-BA38-755C00D783C7}"/>
    <dgm:cxn modelId="{B3881AB0-7CD4-4E2C-A04D-98055B035F56}" type="presParOf" srcId="{3B52CDF2-5BEB-47F4-B83A-9C5866D7C742}" destId="{E4159FC1-6E9C-4C1C-BE7E-E1C7A0F49DBB}" srcOrd="0" destOrd="0" presId="urn:microsoft.com/office/officeart/2005/8/layout/lProcess2"/>
    <dgm:cxn modelId="{4BBBB16E-E299-4515-BF99-C789CC612350}" type="presParOf" srcId="{E4159FC1-6E9C-4C1C-BE7E-E1C7A0F49DBB}" destId="{715E8352-D557-46D6-A294-C9E32756B8CB}" srcOrd="0" destOrd="0" presId="urn:microsoft.com/office/officeart/2005/8/layout/lProcess2"/>
    <dgm:cxn modelId="{28744A7C-3C75-4AE8-893F-6EEE14D14BC4}" type="presParOf" srcId="{E4159FC1-6E9C-4C1C-BE7E-E1C7A0F49DBB}" destId="{B90A03FD-1DD0-41F1-A685-4DB5C7B18FA4}" srcOrd="1" destOrd="0" presId="urn:microsoft.com/office/officeart/2005/8/layout/lProcess2"/>
    <dgm:cxn modelId="{961EC51C-255B-452D-9F19-939B435FA5D0}" type="presParOf" srcId="{E4159FC1-6E9C-4C1C-BE7E-E1C7A0F49DBB}" destId="{CB51FB0A-B3C5-4D3C-871B-03F82CE7C568}" srcOrd="2" destOrd="0" presId="urn:microsoft.com/office/officeart/2005/8/layout/lProcess2"/>
    <dgm:cxn modelId="{9751B277-6A0D-411A-B80C-028ED68F4F37}" type="presParOf" srcId="{CB51FB0A-B3C5-4D3C-871B-03F82CE7C568}" destId="{0CC61CE1-898E-403A-B0CA-67E4D3CAC313}" srcOrd="0" destOrd="0" presId="urn:microsoft.com/office/officeart/2005/8/layout/lProcess2"/>
    <dgm:cxn modelId="{6ABD7A4D-87D3-45C9-809E-CB46EB110DE2}" type="presParOf" srcId="{0CC61CE1-898E-403A-B0CA-67E4D3CAC313}" destId="{F144148C-5B36-4967-B28A-5AC038EB4F83}" srcOrd="0" destOrd="0" presId="urn:microsoft.com/office/officeart/2005/8/layout/lProcess2"/>
    <dgm:cxn modelId="{C23956D9-E7C0-42C7-A3BD-387D46E746A6}" type="presParOf" srcId="{0CC61CE1-898E-403A-B0CA-67E4D3CAC313}" destId="{B1FABD5B-7A1E-41C5-9428-261EC952D48D}" srcOrd="1" destOrd="0" presId="urn:microsoft.com/office/officeart/2005/8/layout/lProcess2"/>
    <dgm:cxn modelId="{989DCC19-A503-4C22-BCFB-9E87CD442556}" type="presParOf" srcId="{0CC61CE1-898E-403A-B0CA-67E4D3CAC313}" destId="{3F349511-B789-4916-9F0B-D1E98EE8C405}" srcOrd="2" destOrd="0" presId="urn:microsoft.com/office/officeart/2005/8/layout/lProcess2"/>
    <dgm:cxn modelId="{98FA575D-10BE-455C-9A5C-EABE15299F0C}" type="presParOf" srcId="{0CC61CE1-898E-403A-B0CA-67E4D3CAC313}" destId="{1C0945DA-6B06-4E89-A20A-8C4E150C0347}" srcOrd="3" destOrd="0" presId="urn:microsoft.com/office/officeart/2005/8/layout/lProcess2"/>
    <dgm:cxn modelId="{6BE7AD78-F7C4-49ED-AB0D-51673B50F6C8}" type="presParOf" srcId="{0CC61CE1-898E-403A-B0CA-67E4D3CAC313}" destId="{D318CD37-7F4F-4127-8A04-E716E4CEF0AB}" srcOrd="4" destOrd="0" presId="urn:microsoft.com/office/officeart/2005/8/layout/lProcess2"/>
    <dgm:cxn modelId="{0B3C35AE-E274-4372-B6DB-14377006B089}" type="presParOf" srcId="{3B52CDF2-5BEB-47F4-B83A-9C5866D7C742}" destId="{712304A9-1D1F-46A8-A47B-DBDDADC67757}" srcOrd="1" destOrd="0" presId="urn:microsoft.com/office/officeart/2005/8/layout/lProcess2"/>
    <dgm:cxn modelId="{A96A80FF-3481-4448-8C83-53055FDE5A2A}" type="presParOf" srcId="{3B52CDF2-5BEB-47F4-B83A-9C5866D7C742}" destId="{176F4912-3C4F-46BF-9D5D-F2BD76BE12DE}" srcOrd="2" destOrd="0" presId="urn:microsoft.com/office/officeart/2005/8/layout/lProcess2"/>
    <dgm:cxn modelId="{2BF9D823-FD3D-4BE5-8AB3-04B8462DC25A}" type="presParOf" srcId="{176F4912-3C4F-46BF-9D5D-F2BD76BE12DE}" destId="{412709E5-DEA9-4894-A466-903F61FE139D}" srcOrd="0" destOrd="0" presId="urn:microsoft.com/office/officeart/2005/8/layout/lProcess2"/>
    <dgm:cxn modelId="{063CB001-1728-421B-A972-42AC2E8B4C53}" type="presParOf" srcId="{176F4912-3C4F-46BF-9D5D-F2BD76BE12DE}" destId="{2DA8B85B-75E8-4D0D-98EE-782BABF6590A}" srcOrd="1" destOrd="0" presId="urn:microsoft.com/office/officeart/2005/8/layout/lProcess2"/>
    <dgm:cxn modelId="{DF2C372F-BB9E-471E-832A-8F366203250B}" type="presParOf" srcId="{176F4912-3C4F-46BF-9D5D-F2BD76BE12DE}" destId="{013B2781-30DF-4012-96C9-E4243D242DF3}" srcOrd="2" destOrd="0" presId="urn:microsoft.com/office/officeart/2005/8/layout/lProcess2"/>
    <dgm:cxn modelId="{3F367097-2E84-4D13-B722-AB21452E5DF5}" type="presParOf" srcId="{013B2781-30DF-4012-96C9-E4243D242DF3}" destId="{FB70301D-81AD-4B17-A43B-3E7A39929F64}" srcOrd="0" destOrd="0" presId="urn:microsoft.com/office/officeart/2005/8/layout/lProcess2"/>
    <dgm:cxn modelId="{79B1CC79-4952-42A2-AD83-CB04AC70D7CF}" type="presParOf" srcId="{3B52CDF2-5BEB-47F4-B83A-9C5866D7C742}" destId="{C9AE77F3-6FDE-4EA9-88EC-3048D0DE84CC}" srcOrd="3" destOrd="0" presId="urn:microsoft.com/office/officeart/2005/8/layout/lProcess2"/>
    <dgm:cxn modelId="{8F0233EE-7F05-45BE-B208-CFDF586BD8F3}" type="presParOf" srcId="{3B52CDF2-5BEB-47F4-B83A-9C5866D7C742}" destId="{6D50587E-CA2D-465F-90F3-CCAF5BE64DA6}" srcOrd="4" destOrd="0" presId="urn:microsoft.com/office/officeart/2005/8/layout/lProcess2"/>
    <dgm:cxn modelId="{01123021-3313-4287-BBB9-945D198B77C5}" type="presParOf" srcId="{6D50587E-CA2D-465F-90F3-CCAF5BE64DA6}" destId="{8F9DAE07-3FB4-4274-9E9C-BDD8BB1B7D96}" srcOrd="0" destOrd="0" presId="urn:microsoft.com/office/officeart/2005/8/layout/lProcess2"/>
    <dgm:cxn modelId="{30F39D6E-9136-4BCD-AF88-90316572BBD9}" type="presParOf" srcId="{6D50587E-CA2D-465F-90F3-CCAF5BE64DA6}" destId="{5EB7CDB3-5F3D-4B6A-B6F2-19A5BD6C90F3}" srcOrd="1" destOrd="0" presId="urn:microsoft.com/office/officeart/2005/8/layout/lProcess2"/>
    <dgm:cxn modelId="{6F3B40DD-C359-48AE-8D83-28DAC652A73D}" type="presParOf" srcId="{6D50587E-CA2D-465F-90F3-CCAF5BE64DA6}" destId="{792B63C1-D841-493D-998E-EBB5E890FCAF}" srcOrd="2" destOrd="0" presId="urn:microsoft.com/office/officeart/2005/8/layout/lProcess2"/>
    <dgm:cxn modelId="{AE125D00-74E1-402A-93E8-54BB5A150EDA}" type="presParOf" srcId="{792B63C1-D841-493D-998E-EBB5E890FCAF}" destId="{36C35E7A-643C-43CF-9ED0-5759AA829F48}" srcOrd="0" destOrd="0" presId="urn:microsoft.com/office/officeart/2005/8/layout/lProcess2"/>
    <dgm:cxn modelId="{30C3322B-0B40-4808-A175-21F28C1EE8F6}" type="presParOf" srcId="{36C35E7A-643C-43CF-9ED0-5759AA829F48}" destId="{6B207FDF-3974-46AE-A57C-34409C858762}"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8185E6-F6AB-48E5-8874-2E4185BA147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fr-FR"/>
        </a:p>
      </dgm:t>
    </dgm:pt>
    <dgm:pt modelId="{7E4DC9F4-4A4C-4B61-ADCB-AE593711F621}">
      <dgm:prSet phldrT="[Texte]" custT="1"/>
      <dgm:spPr/>
      <dgm:t>
        <a:bodyPr/>
        <a:lstStyle/>
        <a:p>
          <a:r>
            <a:rPr lang="fr-FR" sz="1800" b="1" dirty="0">
              <a:solidFill>
                <a:schemeClr val="bg1"/>
              </a:solidFill>
              <a:latin typeface="Segoe UI" panose="020B0502040204020203" pitchFamily="34" charset="0"/>
              <a:cs typeface="Segoe UI" panose="020B0502040204020203" pitchFamily="34" charset="0"/>
            </a:rPr>
            <a:t>Reduction des hallucinations </a:t>
          </a:r>
          <a:r>
            <a:rPr lang="fr-FR" sz="1800" b="0" dirty="0">
              <a:solidFill>
                <a:schemeClr val="bg1"/>
              </a:solidFill>
              <a:latin typeface="Segoe UI" panose="020B0502040204020203" pitchFamily="34" charset="0"/>
              <a:cs typeface="Segoe UI" panose="020B0502040204020203" pitchFamily="34" charset="0"/>
            </a:rPr>
            <a:t>: L’IA vas s’appuyer sur des documents réels plutôt que sur ses seules connaissances d’entrainement</a:t>
          </a:r>
        </a:p>
      </dgm:t>
    </dgm:pt>
    <dgm:pt modelId="{CB1DC0AE-5C32-40FC-867F-8D524CC2165D}" type="parTrans" cxnId="{D2C7DE4F-F713-4A15-A8F0-496010A5F78B}">
      <dgm:prSet/>
      <dgm:spPr/>
      <dgm:t>
        <a:bodyPr/>
        <a:lstStyle/>
        <a:p>
          <a:endParaRPr lang="fr-FR" sz="1800">
            <a:latin typeface="Segoe UI" panose="020B0502040204020203" pitchFamily="34" charset="0"/>
            <a:cs typeface="Segoe UI" panose="020B0502040204020203" pitchFamily="34" charset="0"/>
          </a:endParaRPr>
        </a:p>
      </dgm:t>
    </dgm:pt>
    <dgm:pt modelId="{883E01A8-D7AB-4FA1-BB6F-77D75AD90ACF}" type="sibTrans" cxnId="{D2C7DE4F-F713-4A15-A8F0-496010A5F78B}">
      <dgm:prSet/>
      <dgm:spPr/>
      <dgm:t>
        <a:bodyPr/>
        <a:lstStyle/>
        <a:p>
          <a:endParaRPr lang="fr-FR" sz="1800">
            <a:latin typeface="Segoe UI" panose="020B0502040204020203" pitchFamily="34" charset="0"/>
            <a:cs typeface="Segoe UI" panose="020B0502040204020203" pitchFamily="34" charset="0"/>
          </a:endParaRPr>
        </a:p>
      </dgm:t>
    </dgm:pt>
    <dgm:pt modelId="{C6068190-B3C1-4931-8D08-DB3510CAE5DD}">
      <dgm:prSet phldrT="[Texte]" custT="1"/>
      <dgm:spPr/>
      <dgm:t>
        <a:bodyPr/>
        <a:lstStyle/>
        <a:p>
          <a:endParaRPr lang="fr-FR" sz="1800" b="1" i="0" dirty="0">
            <a:latin typeface="Segoe UI" panose="020B0502040204020203" pitchFamily="34" charset="0"/>
            <a:cs typeface="Segoe UI" panose="020B0502040204020203" pitchFamily="34" charset="0"/>
          </a:endParaRPr>
        </a:p>
        <a:p>
          <a:r>
            <a:rPr lang="fr-FR" sz="1800" b="1" i="0" dirty="0">
              <a:latin typeface="Segoe UI" panose="020B0502040204020203" pitchFamily="34" charset="0"/>
              <a:cs typeface="Segoe UI" panose="020B0502040204020203" pitchFamily="34" charset="0"/>
            </a:rPr>
            <a:t>Fournir des réponses fondées sur des sources fiables : </a:t>
          </a:r>
          <a:r>
            <a:rPr lang="fr-FR" sz="1800" b="0" i="0" dirty="0">
              <a:latin typeface="Segoe UI" panose="020B0502040204020203" pitchFamily="34" charset="0"/>
              <a:cs typeface="Segoe UI" panose="020B0502040204020203" pitchFamily="34" charset="0"/>
            </a:rPr>
            <a:t>utilisation de corpus documentaire métier pour produire des réponses pertinentes</a:t>
          </a:r>
        </a:p>
        <a:p>
          <a:pPr>
            <a:buNone/>
          </a:pPr>
          <a:endParaRPr lang="fr-FR" sz="1800" dirty="0">
            <a:latin typeface="Segoe UI" panose="020B0502040204020203" pitchFamily="34" charset="0"/>
            <a:cs typeface="Segoe UI" panose="020B0502040204020203" pitchFamily="34" charset="0"/>
          </a:endParaRPr>
        </a:p>
      </dgm:t>
    </dgm:pt>
    <dgm:pt modelId="{94096736-0ED3-4606-908B-C4A14051EEFE}" type="parTrans" cxnId="{668E9458-F186-4A74-A8F0-26E394662AD4}">
      <dgm:prSet/>
      <dgm:spPr/>
      <dgm:t>
        <a:bodyPr/>
        <a:lstStyle/>
        <a:p>
          <a:endParaRPr lang="fr-FR" sz="1800">
            <a:latin typeface="Segoe UI" panose="020B0502040204020203" pitchFamily="34" charset="0"/>
            <a:cs typeface="Segoe UI" panose="020B0502040204020203" pitchFamily="34" charset="0"/>
          </a:endParaRPr>
        </a:p>
      </dgm:t>
    </dgm:pt>
    <dgm:pt modelId="{85C2F30F-1E19-4C44-A03A-D3F6503B823E}" type="sibTrans" cxnId="{668E9458-F186-4A74-A8F0-26E394662AD4}">
      <dgm:prSet/>
      <dgm:spPr/>
      <dgm:t>
        <a:bodyPr/>
        <a:lstStyle/>
        <a:p>
          <a:endParaRPr lang="fr-FR" sz="1800">
            <a:latin typeface="Segoe UI" panose="020B0502040204020203" pitchFamily="34" charset="0"/>
            <a:cs typeface="Segoe UI" panose="020B0502040204020203" pitchFamily="34" charset="0"/>
          </a:endParaRPr>
        </a:p>
      </dgm:t>
    </dgm:pt>
    <dgm:pt modelId="{C6ECC46D-E946-4AD8-9B70-A4A6EBEDEA9D}">
      <dgm:prSet phldrT="[Texte]" custT="1"/>
      <dgm:spPr/>
      <dgm:t>
        <a:bodyPr/>
        <a:lstStyle/>
        <a:p>
          <a:endParaRPr lang="fr-FR" sz="1800" b="1" i="0" dirty="0">
            <a:latin typeface="Segoe UI" panose="020B0502040204020203" pitchFamily="34" charset="0"/>
            <a:cs typeface="Segoe UI" panose="020B0502040204020203" pitchFamily="34" charset="0"/>
          </a:endParaRPr>
        </a:p>
        <a:p>
          <a:r>
            <a:rPr lang="fr-FR" sz="1800" b="1" i="0" dirty="0">
              <a:latin typeface="Segoe UI" panose="020B0502040204020203" pitchFamily="34" charset="0"/>
              <a:cs typeface="Segoe UI" panose="020B0502040204020203" pitchFamily="34" charset="0"/>
            </a:rPr>
            <a:t>Garantir la traçabilité : </a:t>
          </a:r>
          <a:r>
            <a:rPr lang="fr-FR" sz="1800" b="0" i="0" dirty="0">
              <a:latin typeface="Segoe UI" panose="020B0502040204020203" pitchFamily="34" charset="0"/>
              <a:cs typeface="Segoe UI" panose="020B0502040204020203" pitchFamily="34" charset="0"/>
            </a:rPr>
            <a:t>Permettre d’identifier les documents et sources utilisés pour construire la </a:t>
          </a:r>
          <a:r>
            <a:rPr lang="fr-FR" sz="1800" b="0" i="0" dirty="0" err="1">
              <a:latin typeface="Segoe UI" panose="020B0502040204020203" pitchFamily="34" charset="0"/>
              <a:cs typeface="Segoe UI" panose="020B0502040204020203" pitchFamily="34" charset="0"/>
            </a:rPr>
            <a:t>reponse</a:t>
          </a:r>
          <a:r>
            <a:rPr lang="fr-FR" sz="1800" b="0" i="0" dirty="0">
              <a:latin typeface="Segoe UI" panose="020B0502040204020203" pitchFamily="34" charset="0"/>
              <a:cs typeface="Segoe UI" panose="020B0502040204020203" pitchFamily="34" charset="0"/>
            </a:rPr>
            <a:t>.</a:t>
          </a:r>
          <a:endParaRPr lang="fr-FR" sz="1800" b="0" dirty="0">
            <a:latin typeface="Segoe UI" panose="020B0502040204020203" pitchFamily="34" charset="0"/>
            <a:cs typeface="Segoe UI" panose="020B0502040204020203" pitchFamily="34" charset="0"/>
          </a:endParaRPr>
        </a:p>
        <a:p>
          <a:endParaRPr lang="fr-FR" sz="1800" dirty="0">
            <a:latin typeface="Segoe UI" panose="020B0502040204020203" pitchFamily="34" charset="0"/>
            <a:cs typeface="Segoe UI" panose="020B0502040204020203" pitchFamily="34" charset="0"/>
          </a:endParaRPr>
        </a:p>
      </dgm:t>
    </dgm:pt>
    <dgm:pt modelId="{E9E0D6F6-7801-4B5D-B040-0115A47F2A52}" type="parTrans" cxnId="{BABB4A0F-C0E7-4F5E-A58E-4926E8A0D209}">
      <dgm:prSet/>
      <dgm:spPr/>
      <dgm:t>
        <a:bodyPr/>
        <a:lstStyle/>
        <a:p>
          <a:endParaRPr lang="fr-FR" sz="1800">
            <a:latin typeface="Segoe UI" panose="020B0502040204020203" pitchFamily="34" charset="0"/>
            <a:cs typeface="Segoe UI" panose="020B0502040204020203" pitchFamily="34" charset="0"/>
          </a:endParaRPr>
        </a:p>
      </dgm:t>
    </dgm:pt>
    <dgm:pt modelId="{3FB4EC9B-F4A0-4692-B7D5-8922B69C6139}" type="sibTrans" cxnId="{BABB4A0F-C0E7-4F5E-A58E-4926E8A0D209}">
      <dgm:prSet/>
      <dgm:spPr/>
      <dgm:t>
        <a:bodyPr/>
        <a:lstStyle/>
        <a:p>
          <a:endParaRPr lang="fr-FR" sz="1800">
            <a:latin typeface="Segoe UI" panose="020B0502040204020203" pitchFamily="34" charset="0"/>
            <a:cs typeface="Segoe UI" panose="020B0502040204020203" pitchFamily="34" charset="0"/>
          </a:endParaRPr>
        </a:p>
      </dgm:t>
    </dgm:pt>
    <dgm:pt modelId="{E2D6269B-72C0-4A66-9FE4-3A9FFD9BBE2E}">
      <dgm:prSet phldrT="[Texte]" custT="1"/>
      <dgm:spPr/>
      <dgm:t>
        <a:bodyPr/>
        <a:lstStyle/>
        <a:p>
          <a:pPr>
            <a:buNone/>
          </a:pPr>
          <a:endParaRPr lang="fr-FR" sz="1800" b="1" i="0" dirty="0">
            <a:latin typeface="Segoe UI" panose="020B0502040204020203" pitchFamily="34" charset="0"/>
            <a:cs typeface="Segoe UI" panose="020B0502040204020203" pitchFamily="34" charset="0"/>
          </a:endParaRPr>
        </a:p>
        <a:p>
          <a:pPr>
            <a:buNone/>
          </a:pPr>
          <a:endParaRPr lang="fr-FR" sz="1800" b="1" i="0" dirty="0">
            <a:latin typeface="Segoe UI" panose="020B0502040204020203" pitchFamily="34" charset="0"/>
            <a:cs typeface="Segoe UI" panose="020B0502040204020203" pitchFamily="34" charset="0"/>
          </a:endParaRPr>
        </a:p>
        <a:p>
          <a:pPr>
            <a:buNone/>
          </a:pPr>
          <a:r>
            <a:rPr lang="fr-FR" sz="1800" b="1" i="0" dirty="0">
              <a:latin typeface="Segoe UI" panose="020B0502040204020203" pitchFamily="34" charset="0"/>
              <a:cs typeface="Segoe UI" panose="020B0502040204020203" pitchFamily="34" charset="0"/>
            </a:rPr>
            <a:t>Faciliter la mise à jour des connaissances </a:t>
          </a:r>
          <a:r>
            <a:rPr lang="fr-FR" sz="1800" b="0" i="0" dirty="0">
              <a:latin typeface="Segoe UI" panose="020B0502040204020203" pitchFamily="34" charset="0"/>
              <a:cs typeface="Segoe UI" panose="020B0502040204020203" pitchFamily="34" charset="0"/>
            </a:rPr>
            <a:t>: Mettre à jour les documents de références sans devoir </a:t>
          </a:r>
          <a:r>
            <a:rPr lang="fr-FR" sz="1800" b="0" i="0" dirty="0" err="1">
              <a:latin typeface="Segoe UI" panose="020B0502040204020203" pitchFamily="34" charset="0"/>
              <a:cs typeface="Segoe UI" panose="020B0502040204020203" pitchFamily="34" charset="0"/>
            </a:rPr>
            <a:t>réentrainer</a:t>
          </a:r>
          <a:r>
            <a:rPr lang="fr-FR" sz="1800" b="0" i="0" dirty="0">
              <a:latin typeface="Segoe UI" panose="020B0502040204020203" pitchFamily="34" charset="0"/>
              <a:cs typeface="Segoe UI" panose="020B0502040204020203" pitchFamily="34" charset="0"/>
            </a:rPr>
            <a:t> le modèle de langage.</a:t>
          </a:r>
        </a:p>
        <a:p>
          <a:pPr>
            <a:buNone/>
          </a:pPr>
          <a:endParaRPr lang="fr-FR" sz="1800" dirty="0">
            <a:latin typeface="Segoe UI" panose="020B0502040204020203" pitchFamily="34" charset="0"/>
            <a:cs typeface="Segoe UI" panose="020B0502040204020203" pitchFamily="34" charset="0"/>
          </a:endParaRPr>
        </a:p>
        <a:p>
          <a:pPr>
            <a:buNone/>
          </a:pPr>
          <a:endParaRPr lang="fr-FR" sz="1800" dirty="0">
            <a:latin typeface="Segoe UI" panose="020B0502040204020203" pitchFamily="34" charset="0"/>
            <a:cs typeface="Segoe UI" panose="020B0502040204020203" pitchFamily="34" charset="0"/>
          </a:endParaRPr>
        </a:p>
      </dgm:t>
    </dgm:pt>
    <dgm:pt modelId="{928D0757-4AF6-4DDF-884F-66113BB2C980}" type="parTrans" cxnId="{49EB6686-EE7D-4B59-BE70-41A8EE037047}">
      <dgm:prSet/>
      <dgm:spPr/>
      <dgm:t>
        <a:bodyPr/>
        <a:lstStyle/>
        <a:p>
          <a:endParaRPr lang="fr-FR" sz="1800">
            <a:latin typeface="Segoe UI" panose="020B0502040204020203" pitchFamily="34" charset="0"/>
            <a:cs typeface="Segoe UI" panose="020B0502040204020203" pitchFamily="34" charset="0"/>
          </a:endParaRPr>
        </a:p>
      </dgm:t>
    </dgm:pt>
    <dgm:pt modelId="{8024A99E-9411-4C53-BF11-67F1E5A2EE49}" type="sibTrans" cxnId="{49EB6686-EE7D-4B59-BE70-41A8EE037047}">
      <dgm:prSet/>
      <dgm:spPr/>
      <dgm:t>
        <a:bodyPr/>
        <a:lstStyle/>
        <a:p>
          <a:endParaRPr lang="fr-FR" sz="1800">
            <a:latin typeface="Segoe UI" panose="020B0502040204020203" pitchFamily="34" charset="0"/>
            <a:cs typeface="Segoe UI" panose="020B0502040204020203" pitchFamily="34" charset="0"/>
          </a:endParaRPr>
        </a:p>
      </dgm:t>
    </dgm:pt>
    <dgm:pt modelId="{0CCD0929-DF08-4EAE-BB3E-80305B272A15}">
      <dgm:prSet phldrT="[Texte]" custT="1"/>
      <dgm:spPr/>
      <dgm:t>
        <a:bodyPr/>
        <a:lstStyle/>
        <a:p>
          <a:pPr>
            <a:buNone/>
          </a:pPr>
          <a:endParaRPr lang="fr-FR" sz="1800" b="1" i="0" dirty="0">
            <a:latin typeface="Segoe UI" panose="020B0502040204020203" pitchFamily="34" charset="0"/>
            <a:cs typeface="Segoe UI" panose="020B0502040204020203" pitchFamily="34" charset="0"/>
          </a:endParaRPr>
        </a:p>
        <a:p>
          <a:pPr>
            <a:buNone/>
          </a:pPr>
          <a:r>
            <a:rPr lang="fr-FR" sz="1800" b="1" i="0" dirty="0">
              <a:latin typeface="Segoe UI" panose="020B0502040204020203" pitchFamily="34" charset="0"/>
              <a:cs typeface="Segoe UI" panose="020B0502040204020203" pitchFamily="34" charset="0"/>
            </a:rPr>
            <a:t>Exploiter efficacement les bases documentaires : </a:t>
          </a:r>
          <a:r>
            <a:rPr lang="fr-FR" sz="1800" b="0" i="0" dirty="0">
              <a:latin typeface="Segoe UI" panose="020B0502040204020203" pitchFamily="34" charset="0"/>
              <a:cs typeface="Segoe UI" panose="020B0502040204020203" pitchFamily="34" charset="0"/>
            </a:rPr>
            <a:t>Valoriser les données existantes en les rendant accessibles via le langage naturel.</a:t>
          </a:r>
        </a:p>
        <a:p>
          <a:pPr>
            <a:buNone/>
          </a:pPr>
          <a:endParaRPr lang="fr-FR" sz="1800" dirty="0">
            <a:latin typeface="Segoe UI" panose="020B0502040204020203" pitchFamily="34" charset="0"/>
            <a:cs typeface="Segoe UI" panose="020B0502040204020203" pitchFamily="34" charset="0"/>
          </a:endParaRPr>
        </a:p>
      </dgm:t>
    </dgm:pt>
    <dgm:pt modelId="{4A76FA5E-96F9-4ADE-875E-5762A15D7D53}" type="parTrans" cxnId="{7355FEC9-E6AC-46E0-B27D-D5920B35B5B5}">
      <dgm:prSet/>
      <dgm:spPr/>
      <dgm:t>
        <a:bodyPr/>
        <a:lstStyle/>
        <a:p>
          <a:endParaRPr lang="fr-FR" sz="1800">
            <a:latin typeface="Segoe UI" panose="020B0502040204020203" pitchFamily="34" charset="0"/>
            <a:cs typeface="Segoe UI" panose="020B0502040204020203" pitchFamily="34" charset="0"/>
          </a:endParaRPr>
        </a:p>
      </dgm:t>
    </dgm:pt>
    <dgm:pt modelId="{F8F6BA72-7AA7-4D09-9BF7-C7F2AAA14FB3}" type="sibTrans" cxnId="{7355FEC9-E6AC-46E0-B27D-D5920B35B5B5}">
      <dgm:prSet/>
      <dgm:spPr/>
      <dgm:t>
        <a:bodyPr/>
        <a:lstStyle/>
        <a:p>
          <a:endParaRPr lang="fr-FR" sz="1800">
            <a:latin typeface="Segoe UI" panose="020B0502040204020203" pitchFamily="34" charset="0"/>
            <a:cs typeface="Segoe UI" panose="020B0502040204020203" pitchFamily="34" charset="0"/>
          </a:endParaRPr>
        </a:p>
      </dgm:t>
    </dgm:pt>
    <dgm:pt modelId="{A22C3366-3280-4089-839F-1666662A4A2B}">
      <dgm:prSet custT="1"/>
      <dgm:spPr/>
      <dgm:t>
        <a:bodyPr/>
        <a:lstStyle/>
        <a:p>
          <a:pPr>
            <a:buNone/>
          </a:pPr>
          <a:r>
            <a:rPr lang="fr-FR" sz="1800" b="0" i="0" dirty="0">
              <a:latin typeface="Segoe UI" panose="020B0502040204020203" pitchFamily="34" charset="0"/>
              <a:cs typeface="Segoe UI" panose="020B0502040204020203" pitchFamily="34" charset="0"/>
            </a:rPr>
            <a:t>A</a:t>
          </a:r>
        </a:p>
        <a:p>
          <a:pPr>
            <a:buNone/>
          </a:pPr>
          <a:endParaRPr lang="fr-FR" sz="1800" b="0" i="0" dirty="0">
            <a:latin typeface="Segoe UI" panose="020B0502040204020203" pitchFamily="34" charset="0"/>
            <a:cs typeface="Segoe UI" panose="020B0502040204020203" pitchFamily="34" charset="0"/>
          </a:endParaRPr>
        </a:p>
        <a:p>
          <a:pPr>
            <a:buNone/>
          </a:pPr>
          <a:r>
            <a:rPr lang="fr-FR" sz="1800" b="1" i="0" dirty="0">
              <a:solidFill>
                <a:schemeClr val="bg1"/>
              </a:solidFill>
              <a:latin typeface="Segoe UI" panose="020B0502040204020203" pitchFamily="34" charset="0"/>
              <a:cs typeface="Segoe UI" panose="020B0502040204020203" pitchFamily="34" charset="0"/>
            </a:rPr>
            <a:t>Améliorer l'expérience utilisateur : </a:t>
          </a:r>
          <a:r>
            <a:rPr lang="fr-FR" sz="1800" b="0" i="0" dirty="0">
              <a:solidFill>
                <a:schemeClr val="bg1"/>
              </a:solidFill>
              <a:latin typeface="Segoe UI" panose="020B0502040204020203" pitchFamily="34" charset="0"/>
              <a:cs typeface="Segoe UI" panose="020B0502040204020203" pitchFamily="34" charset="0"/>
            </a:rPr>
            <a:t>Fournir des réponses plus précises, </a:t>
          </a:r>
        </a:p>
        <a:p>
          <a:pPr>
            <a:buNone/>
          </a:pPr>
          <a:r>
            <a:rPr lang="fr-FR" sz="1800" b="0" i="0" dirty="0">
              <a:solidFill>
                <a:schemeClr val="bg1"/>
              </a:solidFill>
              <a:latin typeface="Segoe UI" panose="020B0502040204020203" pitchFamily="34" charset="0"/>
              <a:cs typeface="Segoe UI" panose="020B0502040204020203" pitchFamily="34" charset="0"/>
            </a:rPr>
            <a:t>contextualisées et compréhensibles.</a:t>
          </a:r>
        </a:p>
        <a:p>
          <a:pPr>
            <a:buNone/>
          </a:pPr>
          <a:endParaRPr lang="fr-FR" sz="1800" dirty="0">
            <a:latin typeface="Segoe UI" panose="020B0502040204020203" pitchFamily="34" charset="0"/>
            <a:cs typeface="Segoe UI" panose="020B0502040204020203" pitchFamily="34" charset="0"/>
          </a:endParaRPr>
        </a:p>
        <a:p>
          <a:pPr>
            <a:buNone/>
          </a:pPr>
          <a:endParaRPr lang="fr-FR" sz="1800" b="0" i="0" dirty="0">
            <a:latin typeface="Segoe UI" panose="020B0502040204020203" pitchFamily="34" charset="0"/>
            <a:cs typeface="Segoe UI" panose="020B0502040204020203" pitchFamily="34" charset="0"/>
          </a:endParaRPr>
        </a:p>
      </dgm:t>
    </dgm:pt>
    <dgm:pt modelId="{9CE6CA07-0CCA-4511-B9AE-EABC6B99CB32}" type="parTrans" cxnId="{DC97AE35-98B4-4069-A251-8163B94A2758}">
      <dgm:prSet/>
      <dgm:spPr/>
      <dgm:t>
        <a:bodyPr/>
        <a:lstStyle/>
        <a:p>
          <a:endParaRPr lang="fr-FR" sz="1800">
            <a:latin typeface="Segoe UI" panose="020B0502040204020203" pitchFamily="34" charset="0"/>
            <a:cs typeface="Segoe UI" panose="020B0502040204020203" pitchFamily="34" charset="0"/>
          </a:endParaRPr>
        </a:p>
      </dgm:t>
    </dgm:pt>
    <dgm:pt modelId="{124FB50B-DA28-48FF-86D3-27DE45AAAB88}" type="sibTrans" cxnId="{DC97AE35-98B4-4069-A251-8163B94A2758}">
      <dgm:prSet/>
      <dgm:spPr/>
      <dgm:t>
        <a:bodyPr/>
        <a:lstStyle/>
        <a:p>
          <a:endParaRPr lang="fr-FR" sz="1800">
            <a:latin typeface="Segoe UI" panose="020B0502040204020203" pitchFamily="34" charset="0"/>
            <a:cs typeface="Segoe UI" panose="020B0502040204020203" pitchFamily="34" charset="0"/>
          </a:endParaRPr>
        </a:p>
      </dgm:t>
    </dgm:pt>
    <dgm:pt modelId="{B37758BC-9AB3-4422-B04D-ACE9F3C3E9B0}" type="pres">
      <dgm:prSet presAssocID="{358185E6-F6AB-48E5-8874-2E4185BA1475}" presName="Name0" presStyleCnt="0">
        <dgm:presLayoutVars>
          <dgm:chMax val="7"/>
          <dgm:chPref val="7"/>
          <dgm:dir/>
        </dgm:presLayoutVars>
      </dgm:prSet>
      <dgm:spPr/>
    </dgm:pt>
    <dgm:pt modelId="{CB3406DB-8943-4234-A03B-98CA376B133F}" type="pres">
      <dgm:prSet presAssocID="{358185E6-F6AB-48E5-8874-2E4185BA1475}" presName="Name1" presStyleCnt="0"/>
      <dgm:spPr/>
    </dgm:pt>
    <dgm:pt modelId="{21B2CD20-B5B3-4B27-8607-B95DAA3A5496}" type="pres">
      <dgm:prSet presAssocID="{358185E6-F6AB-48E5-8874-2E4185BA1475}" presName="cycle" presStyleCnt="0"/>
      <dgm:spPr/>
    </dgm:pt>
    <dgm:pt modelId="{9D2EF733-47E0-4221-8E00-F88D0FFCBC7D}" type="pres">
      <dgm:prSet presAssocID="{358185E6-F6AB-48E5-8874-2E4185BA1475}" presName="srcNode" presStyleLbl="node1" presStyleIdx="0" presStyleCnt="6"/>
      <dgm:spPr/>
    </dgm:pt>
    <dgm:pt modelId="{10A56D2C-51F1-448C-A507-F6CB9070E00F}" type="pres">
      <dgm:prSet presAssocID="{358185E6-F6AB-48E5-8874-2E4185BA1475}" presName="conn" presStyleLbl="parChTrans1D2" presStyleIdx="0" presStyleCnt="1"/>
      <dgm:spPr/>
    </dgm:pt>
    <dgm:pt modelId="{741E4552-21AF-4005-A2FC-7A556565803F}" type="pres">
      <dgm:prSet presAssocID="{358185E6-F6AB-48E5-8874-2E4185BA1475}" presName="extraNode" presStyleLbl="node1" presStyleIdx="0" presStyleCnt="6"/>
      <dgm:spPr/>
    </dgm:pt>
    <dgm:pt modelId="{A684C6A2-8BE1-4EE7-96AE-5DDEDEC43D36}" type="pres">
      <dgm:prSet presAssocID="{358185E6-F6AB-48E5-8874-2E4185BA1475}" presName="dstNode" presStyleLbl="node1" presStyleIdx="0" presStyleCnt="6"/>
      <dgm:spPr/>
    </dgm:pt>
    <dgm:pt modelId="{47AC3C27-CCAC-4C24-A918-ACB0A7DC03DC}" type="pres">
      <dgm:prSet presAssocID="{7E4DC9F4-4A4C-4B61-ADCB-AE593711F621}" presName="text_1" presStyleLbl="node1" presStyleIdx="0" presStyleCnt="6">
        <dgm:presLayoutVars>
          <dgm:bulletEnabled val="1"/>
        </dgm:presLayoutVars>
      </dgm:prSet>
      <dgm:spPr/>
    </dgm:pt>
    <dgm:pt modelId="{AF8B0F26-24C5-4983-95F6-A46B35C65158}" type="pres">
      <dgm:prSet presAssocID="{7E4DC9F4-4A4C-4B61-ADCB-AE593711F621}" presName="accent_1" presStyleCnt="0"/>
      <dgm:spPr/>
    </dgm:pt>
    <dgm:pt modelId="{E527CA67-45E0-48D9-B69E-11E267B6016C}" type="pres">
      <dgm:prSet presAssocID="{7E4DC9F4-4A4C-4B61-ADCB-AE593711F621}" presName="accentRepeatNode" presStyleLbl="solidFgAcc1" presStyleIdx="0" presStyleCnt="6"/>
      <dgm:spPr/>
    </dgm:pt>
    <dgm:pt modelId="{836A6064-A267-46E5-BF47-733F6466FA73}" type="pres">
      <dgm:prSet presAssocID="{C6068190-B3C1-4931-8D08-DB3510CAE5DD}" presName="text_2" presStyleLbl="node1" presStyleIdx="1" presStyleCnt="6">
        <dgm:presLayoutVars>
          <dgm:bulletEnabled val="1"/>
        </dgm:presLayoutVars>
      </dgm:prSet>
      <dgm:spPr/>
    </dgm:pt>
    <dgm:pt modelId="{DEB64B55-CBB6-491B-82C7-49627F776777}" type="pres">
      <dgm:prSet presAssocID="{C6068190-B3C1-4931-8D08-DB3510CAE5DD}" presName="accent_2" presStyleCnt="0"/>
      <dgm:spPr/>
    </dgm:pt>
    <dgm:pt modelId="{70A646B4-50C1-44D4-8E3F-7D3CB98A8A7E}" type="pres">
      <dgm:prSet presAssocID="{C6068190-B3C1-4931-8D08-DB3510CAE5DD}" presName="accentRepeatNode" presStyleLbl="solidFgAcc1" presStyleIdx="1" presStyleCnt="6"/>
      <dgm:spPr/>
    </dgm:pt>
    <dgm:pt modelId="{3B22282B-5204-40F0-AFA5-D7043643FB8B}" type="pres">
      <dgm:prSet presAssocID="{E2D6269B-72C0-4A66-9FE4-3A9FFD9BBE2E}" presName="text_3" presStyleLbl="node1" presStyleIdx="2" presStyleCnt="6">
        <dgm:presLayoutVars>
          <dgm:bulletEnabled val="1"/>
        </dgm:presLayoutVars>
      </dgm:prSet>
      <dgm:spPr/>
    </dgm:pt>
    <dgm:pt modelId="{17CD24B9-DA10-4363-90D1-4E60785CFDC8}" type="pres">
      <dgm:prSet presAssocID="{E2D6269B-72C0-4A66-9FE4-3A9FFD9BBE2E}" presName="accent_3" presStyleCnt="0"/>
      <dgm:spPr/>
    </dgm:pt>
    <dgm:pt modelId="{26A64556-252B-46B9-9983-A9D9A1DF294F}" type="pres">
      <dgm:prSet presAssocID="{E2D6269B-72C0-4A66-9FE4-3A9FFD9BBE2E}" presName="accentRepeatNode" presStyleLbl="solidFgAcc1" presStyleIdx="2" presStyleCnt="6"/>
      <dgm:spPr/>
    </dgm:pt>
    <dgm:pt modelId="{C60FAFA1-96C3-459A-B9C6-2E6DB2C825EA}" type="pres">
      <dgm:prSet presAssocID="{0CCD0929-DF08-4EAE-BB3E-80305B272A15}" presName="text_4" presStyleLbl="node1" presStyleIdx="3" presStyleCnt="6">
        <dgm:presLayoutVars>
          <dgm:bulletEnabled val="1"/>
        </dgm:presLayoutVars>
      </dgm:prSet>
      <dgm:spPr/>
    </dgm:pt>
    <dgm:pt modelId="{7B093140-BC4C-4CEB-B80F-6A31605C537D}" type="pres">
      <dgm:prSet presAssocID="{0CCD0929-DF08-4EAE-BB3E-80305B272A15}" presName="accent_4" presStyleCnt="0"/>
      <dgm:spPr/>
    </dgm:pt>
    <dgm:pt modelId="{212C67B0-3FB0-41BC-861B-6B742FA5E96C}" type="pres">
      <dgm:prSet presAssocID="{0CCD0929-DF08-4EAE-BB3E-80305B272A15}" presName="accentRepeatNode" presStyleLbl="solidFgAcc1" presStyleIdx="3" presStyleCnt="6"/>
      <dgm:spPr/>
    </dgm:pt>
    <dgm:pt modelId="{79F9B4CB-5C15-4EA9-8518-76AE6EFB6195}" type="pres">
      <dgm:prSet presAssocID="{C6ECC46D-E946-4AD8-9B70-A4A6EBEDEA9D}" presName="text_5" presStyleLbl="node1" presStyleIdx="4" presStyleCnt="6">
        <dgm:presLayoutVars>
          <dgm:bulletEnabled val="1"/>
        </dgm:presLayoutVars>
      </dgm:prSet>
      <dgm:spPr/>
    </dgm:pt>
    <dgm:pt modelId="{24A13431-9F35-4CDB-84CE-5A239E382A3B}" type="pres">
      <dgm:prSet presAssocID="{C6ECC46D-E946-4AD8-9B70-A4A6EBEDEA9D}" presName="accent_5" presStyleCnt="0"/>
      <dgm:spPr/>
    </dgm:pt>
    <dgm:pt modelId="{49E59187-67E1-4A49-AFF0-91BFB08CA6FA}" type="pres">
      <dgm:prSet presAssocID="{C6ECC46D-E946-4AD8-9B70-A4A6EBEDEA9D}" presName="accentRepeatNode" presStyleLbl="solidFgAcc1" presStyleIdx="4" presStyleCnt="6"/>
      <dgm:spPr/>
    </dgm:pt>
    <dgm:pt modelId="{66F0F7C9-AA17-422A-9178-B73E21FB8F56}" type="pres">
      <dgm:prSet presAssocID="{A22C3366-3280-4089-839F-1666662A4A2B}" presName="text_6" presStyleLbl="node1" presStyleIdx="5" presStyleCnt="6">
        <dgm:presLayoutVars>
          <dgm:bulletEnabled val="1"/>
        </dgm:presLayoutVars>
      </dgm:prSet>
      <dgm:spPr/>
    </dgm:pt>
    <dgm:pt modelId="{B6965AED-72A4-4B75-B5C2-4EDFA74B1AD0}" type="pres">
      <dgm:prSet presAssocID="{A22C3366-3280-4089-839F-1666662A4A2B}" presName="accent_6" presStyleCnt="0"/>
      <dgm:spPr/>
    </dgm:pt>
    <dgm:pt modelId="{7347CB09-9A0A-4917-B2D7-3B8867B46069}" type="pres">
      <dgm:prSet presAssocID="{A22C3366-3280-4089-839F-1666662A4A2B}" presName="accentRepeatNode" presStyleLbl="solidFgAcc1" presStyleIdx="5" presStyleCnt="6"/>
      <dgm:spPr/>
    </dgm:pt>
  </dgm:ptLst>
  <dgm:cxnLst>
    <dgm:cxn modelId="{BABB4A0F-C0E7-4F5E-A58E-4926E8A0D209}" srcId="{358185E6-F6AB-48E5-8874-2E4185BA1475}" destId="{C6ECC46D-E946-4AD8-9B70-A4A6EBEDEA9D}" srcOrd="4" destOrd="0" parTransId="{E9E0D6F6-7801-4B5D-B040-0115A47F2A52}" sibTransId="{3FB4EC9B-F4A0-4692-B7D5-8922B69C6139}"/>
    <dgm:cxn modelId="{71E2A211-62D4-48A5-AD0A-A22DB196D153}" type="presOf" srcId="{C6068190-B3C1-4931-8D08-DB3510CAE5DD}" destId="{836A6064-A267-46E5-BF47-733F6466FA73}" srcOrd="0" destOrd="0" presId="urn:microsoft.com/office/officeart/2008/layout/VerticalCurvedList"/>
    <dgm:cxn modelId="{A5A7E214-DF32-4CDA-8E51-62A7CE323301}" type="presOf" srcId="{7E4DC9F4-4A4C-4B61-ADCB-AE593711F621}" destId="{47AC3C27-CCAC-4C24-A918-ACB0A7DC03DC}" srcOrd="0" destOrd="0" presId="urn:microsoft.com/office/officeart/2008/layout/VerticalCurvedList"/>
    <dgm:cxn modelId="{DC97AE35-98B4-4069-A251-8163B94A2758}" srcId="{358185E6-F6AB-48E5-8874-2E4185BA1475}" destId="{A22C3366-3280-4089-839F-1666662A4A2B}" srcOrd="5" destOrd="0" parTransId="{9CE6CA07-0CCA-4511-B9AE-EABC6B99CB32}" sibTransId="{124FB50B-DA28-48FF-86D3-27DE45AAAB88}"/>
    <dgm:cxn modelId="{A4C9F25C-1F4D-4C9E-996C-435EE0550758}" type="presOf" srcId="{883E01A8-D7AB-4FA1-BB6F-77D75AD90ACF}" destId="{10A56D2C-51F1-448C-A507-F6CB9070E00F}" srcOrd="0" destOrd="0" presId="urn:microsoft.com/office/officeart/2008/layout/VerticalCurvedList"/>
    <dgm:cxn modelId="{5859294D-C5D4-4956-AE08-683EF827803C}" type="presOf" srcId="{0CCD0929-DF08-4EAE-BB3E-80305B272A15}" destId="{C60FAFA1-96C3-459A-B9C6-2E6DB2C825EA}" srcOrd="0" destOrd="0" presId="urn:microsoft.com/office/officeart/2008/layout/VerticalCurvedList"/>
    <dgm:cxn modelId="{D2C7DE4F-F713-4A15-A8F0-496010A5F78B}" srcId="{358185E6-F6AB-48E5-8874-2E4185BA1475}" destId="{7E4DC9F4-4A4C-4B61-ADCB-AE593711F621}" srcOrd="0" destOrd="0" parTransId="{CB1DC0AE-5C32-40FC-867F-8D524CC2165D}" sibTransId="{883E01A8-D7AB-4FA1-BB6F-77D75AD90ACF}"/>
    <dgm:cxn modelId="{668E9458-F186-4A74-A8F0-26E394662AD4}" srcId="{358185E6-F6AB-48E5-8874-2E4185BA1475}" destId="{C6068190-B3C1-4931-8D08-DB3510CAE5DD}" srcOrd="1" destOrd="0" parTransId="{94096736-0ED3-4606-908B-C4A14051EEFE}" sibTransId="{85C2F30F-1E19-4C44-A03A-D3F6503B823E}"/>
    <dgm:cxn modelId="{49EB6686-EE7D-4B59-BE70-41A8EE037047}" srcId="{358185E6-F6AB-48E5-8874-2E4185BA1475}" destId="{E2D6269B-72C0-4A66-9FE4-3A9FFD9BBE2E}" srcOrd="2" destOrd="0" parTransId="{928D0757-4AF6-4DDF-884F-66113BB2C980}" sibTransId="{8024A99E-9411-4C53-BF11-67F1E5A2EE49}"/>
    <dgm:cxn modelId="{065F3AA4-5766-46AC-813C-895D990EB9BE}" type="presOf" srcId="{E2D6269B-72C0-4A66-9FE4-3A9FFD9BBE2E}" destId="{3B22282B-5204-40F0-AFA5-D7043643FB8B}" srcOrd="0" destOrd="0" presId="urn:microsoft.com/office/officeart/2008/layout/VerticalCurvedList"/>
    <dgm:cxn modelId="{C67D85AA-3EC9-4727-9058-5890CD511A1F}" type="presOf" srcId="{358185E6-F6AB-48E5-8874-2E4185BA1475}" destId="{B37758BC-9AB3-4422-B04D-ACE9F3C3E9B0}" srcOrd="0" destOrd="0" presId="urn:microsoft.com/office/officeart/2008/layout/VerticalCurvedList"/>
    <dgm:cxn modelId="{844263AE-8A07-48B6-BC07-59B5B0418D84}" type="presOf" srcId="{A22C3366-3280-4089-839F-1666662A4A2B}" destId="{66F0F7C9-AA17-422A-9178-B73E21FB8F56}" srcOrd="0" destOrd="0" presId="urn:microsoft.com/office/officeart/2008/layout/VerticalCurvedList"/>
    <dgm:cxn modelId="{7BC440B2-CB55-4114-9214-E84365939C71}" type="presOf" srcId="{C6ECC46D-E946-4AD8-9B70-A4A6EBEDEA9D}" destId="{79F9B4CB-5C15-4EA9-8518-76AE6EFB6195}" srcOrd="0" destOrd="0" presId="urn:microsoft.com/office/officeart/2008/layout/VerticalCurvedList"/>
    <dgm:cxn modelId="{7355FEC9-E6AC-46E0-B27D-D5920B35B5B5}" srcId="{358185E6-F6AB-48E5-8874-2E4185BA1475}" destId="{0CCD0929-DF08-4EAE-BB3E-80305B272A15}" srcOrd="3" destOrd="0" parTransId="{4A76FA5E-96F9-4ADE-875E-5762A15D7D53}" sibTransId="{F8F6BA72-7AA7-4D09-9BF7-C7F2AAA14FB3}"/>
    <dgm:cxn modelId="{EB32CDEF-4840-40B9-ABF2-CCFDACE9F86A}" type="presParOf" srcId="{B37758BC-9AB3-4422-B04D-ACE9F3C3E9B0}" destId="{CB3406DB-8943-4234-A03B-98CA376B133F}" srcOrd="0" destOrd="0" presId="urn:microsoft.com/office/officeart/2008/layout/VerticalCurvedList"/>
    <dgm:cxn modelId="{526E1C65-C934-4201-B99F-20C113B47AD5}" type="presParOf" srcId="{CB3406DB-8943-4234-A03B-98CA376B133F}" destId="{21B2CD20-B5B3-4B27-8607-B95DAA3A5496}" srcOrd="0" destOrd="0" presId="urn:microsoft.com/office/officeart/2008/layout/VerticalCurvedList"/>
    <dgm:cxn modelId="{2897F4E4-3354-40C1-97CF-BB925BE3C363}" type="presParOf" srcId="{21B2CD20-B5B3-4B27-8607-B95DAA3A5496}" destId="{9D2EF733-47E0-4221-8E00-F88D0FFCBC7D}" srcOrd="0" destOrd="0" presId="urn:microsoft.com/office/officeart/2008/layout/VerticalCurvedList"/>
    <dgm:cxn modelId="{45838844-D94C-4024-9F0E-CD94A1145C87}" type="presParOf" srcId="{21B2CD20-B5B3-4B27-8607-B95DAA3A5496}" destId="{10A56D2C-51F1-448C-A507-F6CB9070E00F}" srcOrd="1" destOrd="0" presId="urn:microsoft.com/office/officeart/2008/layout/VerticalCurvedList"/>
    <dgm:cxn modelId="{A32A8085-07CC-4A71-A213-0F0FE243DA49}" type="presParOf" srcId="{21B2CD20-B5B3-4B27-8607-B95DAA3A5496}" destId="{741E4552-21AF-4005-A2FC-7A556565803F}" srcOrd="2" destOrd="0" presId="urn:microsoft.com/office/officeart/2008/layout/VerticalCurvedList"/>
    <dgm:cxn modelId="{22490294-33E1-4A0B-90F4-28436748D886}" type="presParOf" srcId="{21B2CD20-B5B3-4B27-8607-B95DAA3A5496}" destId="{A684C6A2-8BE1-4EE7-96AE-5DDEDEC43D36}" srcOrd="3" destOrd="0" presId="urn:microsoft.com/office/officeart/2008/layout/VerticalCurvedList"/>
    <dgm:cxn modelId="{C0FD2ED9-0AE7-4972-A52A-161E33017B2C}" type="presParOf" srcId="{CB3406DB-8943-4234-A03B-98CA376B133F}" destId="{47AC3C27-CCAC-4C24-A918-ACB0A7DC03DC}" srcOrd="1" destOrd="0" presId="urn:microsoft.com/office/officeart/2008/layout/VerticalCurvedList"/>
    <dgm:cxn modelId="{14623EF7-C0BE-49AA-ABC9-1CAE074BB44D}" type="presParOf" srcId="{CB3406DB-8943-4234-A03B-98CA376B133F}" destId="{AF8B0F26-24C5-4983-95F6-A46B35C65158}" srcOrd="2" destOrd="0" presId="urn:microsoft.com/office/officeart/2008/layout/VerticalCurvedList"/>
    <dgm:cxn modelId="{20277D39-F9E1-47FE-A880-CDBA5A07CCFA}" type="presParOf" srcId="{AF8B0F26-24C5-4983-95F6-A46B35C65158}" destId="{E527CA67-45E0-48D9-B69E-11E267B6016C}" srcOrd="0" destOrd="0" presId="urn:microsoft.com/office/officeart/2008/layout/VerticalCurvedList"/>
    <dgm:cxn modelId="{5F7C0CBB-4720-4DF6-BF20-A46E8555D43F}" type="presParOf" srcId="{CB3406DB-8943-4234-A03B-98CA376B133F}" destId="{836A6064-A267-46E5-BF47-733F6466FA73}" srcOrd="3" destOrd="0" presId="urn:microsoft.com/office/officeart/2008/layout/VerticalCurvedList"/>
    <dgm:cxn modelId="{2F81CDF6-B67B-4097-B656-F0D0263358DD}" type="presParOf" srcId="{CB3406DB-8943-4234-A03B-98CA376B133F}" destId="{DEB64B55-CBB6-491B-82C7-49627F776777}" srcOrd="4" destOrd="0" presId="urn:microsoft.com/office/officeart/2008/layout/VerticalCurvedList"/>
    <dgm:cxn modelId="{21AAABD5-52D0-4131-B61A-A4C7E50378D2}" type="presParOf" srcId="{DEB64B55-CBB6-491B-82C7-49627F776777}" destId="{70A646B4-50C1-44D4-8E3F-7D3CB98A8A7E}" srcOrd="0" destOrd="0" presId="urn:microsoft.com/office/officeart/2008/layout/VerticalCurvedList"/>
    <dgm:cxn modelId="{20B3B5CE-1332-47A1-A95B-FA1FADB8EA64}" type="presParOf" srcId="{CB3406DB-8943-4234-A03B-98CA376B133F}" destId="{3B22282B-5204-40F0-AFA5-D7043643FB8B}" srcOrd="5" destOrd="0" presId="urn:microsoft.com/office/officeart/2008/layout/VerticalCurvedList"/>
    <dgm:cxn modelId="{61D69ABE-4741-4E8B-935D-7EA5E4A37153}" type="presParOf" srcId="{CB3406DB-8943-4234-A03B-98CA376B133F}" destId="{17CD24B9-DA10-4363-90D1-4E60785CFDC8}" srcOrd="6" destOrd="0" presId="urn:microsoft.com/office/officeart/2008/layout/VerticalCurvedList"/>
    <dgm:cxn modelId="{F0A5436C-5DD2-45AB-A98C-0FF056D81C90}" type="presParOf" srcId="{17CD24B9-DA10-4363-90D1-4E60785CFDC8}" destId="{26A64556-252B-46B9-9983-A9D9A1DF294F}" srcOrd="0" destOrd="0" presId="urn:microsoft.com/office/officeart/2008/layout/VerticalCurvedList"/>
    <dgm:cxn modelId="{6FF0F6C9-FF10-41F2-AEF5-326E99AF34A2}" type="presParOf" srcId="{CB3406DB-8943-4234-A03B-98CA376B133F}" destId="{C60FAFA1-96C3-459A-B9C6-2E6DB2C825EA}" srcOrd="7" destOrd="0" presId="urn:microsoft.com/office/officeart/2008/layout/VerticalCurvedList"/>
    <dgm:cxn modelId="{4EE2F8B4-ACC6-4DCF-9393-5EB891DCA0E7}" type="presParOf" srcId="{CB3406DB-8943-4234-A03B-98CA376B133F}" destId="{7B093140-BC4C-4CEB-B80F-6A31605C537D}" srcOrd="8" destOrd="0" presId="urn:microsoft.com/office/officeart/2008/layout/VerticalCurvedList"/>
    <dgm:cxn modelId="{FDCA1700-E330-46EB-9CFD-F0A9E2D34E7C}" type="presParOf" srcId="{7B093140-BC4C-4CEB-B80F-6A31605C537D}" destId="{212C67B0-3FB0-41BC-861B-6B742FA5E96C}" srcOrd="0" destOrd="0" presId="urn:microsoft.com/office/officeart/2008/layout/VerticalCurvedList"/>
    <dgm:cxn modelId="{FEEFABA0-DDF0-42DA-A517-4FCA7ADEEC4F}" type="presParOf" srcId="{CB3406DB-8943-4234-A03B-98CA376B133F}" destId="{79F9B4CB-5C15-4EA9-8518-76AE6EFB6195}" srcOrd="9" destOrd="0" presId="urn:microsoft.com/office/officeart/2008/layout/VerticalCurvedList"/>
    <dgm:cxn modelId="{1398653A-1EC2-4250-8F82-711F65888869}" type="presParOf" srcId="{CB3406DB-8943-4234-A03B-98CA376B133F}" destId="{24A13431-9F35-4CDB-84CE-5A239E382A3B}" srcOrd="10" destOrd="0" presId="urn:microsoft.com/office/officeart/2008/layout/VerticalCurvedList"/>
    <dgm:cxn modelId="{F2C60EFC-00A5-4CEE-9397-6479B1051B95}" type="presParOf" srcId="{24A13431-9F35-4CDB-84CE-5A239E382A3B}" destId="{49E59187-67E1-4A49-AFF0-91BFB08CA6FA}" srcOrd="0" destOrd="0" presId="urn:microsoft.com/office/officeart/2008/layout/VerticalCurvedList"/>
    <dgm:cxn modelId="{62FFCA44-E881-457D-82DB-EF77657127BA}" type="presParOf" srcId="{CB3406DB-8943-4234-A03B-98CA376B133F}" destId="{66F0F7C9-AA17-422A-9178-B73E21FB8F56}" srcOrd="11" destOrd="0" presId="urn:microsoft.com/office/officeart/2008/layout/VerticalCurvedList"/>
    <dgm:cxn modelId="{CE03E10E-9ABE-4F48-B4A0-76DD6BD60A01}" type="presParOf" srcId="{CB3406DB-8943-4234-A03B-98CA376B133F}" destId="{B6965AED-72A4-4B75-B5C2-4EDFA74B1AD0}" srcOrd="12" destOrd="0" presId="urn:microsoft.com/office/officeart/2008/layout/VerticalCurvedList"/>
    <dgm:cxn modelId="{5B58AC71-C175-4922-A225-669ED352702D}" type="presParOf" srcId="{B6965AED-72A4-4B75-B5C2-4EDFA74B1AD0}" destId="{7347CB09-9A0A-4917-B2D7-3B8867B4606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541FD-0DAC-4519-8F76-6AA7FBEC54AA}">
      <dsp:nvSpPr>
        <dsp:cNvPr id="0" name=""/>
        <dsp:cNvSpPr/>
      </dsp:nvSpPr>
      <dsp:spPr>
        <a:xfrm>
          <a:off x="476518" y="0"/>
          <a:ext cx="4999577" cy="4999577"/>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F3D2CF-0193-4FEE-A7D0-0F9ACCC5383A}">
      <dsp:nvSpPr>
        <dsp:cNvPr id="0" name=""/>
        <dsp:cNvSpPr/>
      </dsp:nvSpPr>
      <dsp:spPr>
        <a:xfrm>
          <a:off x="2976307" y="502643"/>
          <a:ext cx="3249725" cy="1183493"/>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fr-FR" sz="1300" b="1" kern="1200" dirty="0">
              <a:solidFill>
                <a:schemeClr val="tx1"/>
              </a:solidFill>
              <a:latin typeface="Segoe UI"/>
            </a:rPr>
            <a:t>Les données issues des conversations clients sont encore largement sous-exploitées dans le secteur </a:t>
          </a:r>
          <a:r>
            <a:rPr lang="fr-FR" sz="1300" b="1" kern="1200" dirty="0">
              <a:solidFill>
                <a:schemeClr val="bg1"/>
              </a:solidFill>
              <a:latin typeface="Segoe UI"/>
            </a:rPr>
            <a:t>bancaire</a:t>
          </a:r>
          <a:r>
            <a:rPr lang="fr-FR" sz="1300" kern="1200" dirty="0">
              <a:solidFill>
                <a:schemeClr val="bg1"/>
              </a:solidFill>
              <a:latin typeface="Segoe UI"/>
            </a:rPr>
            <a:t>.</a:t>
          </a:r>
        </a:p>
      </dsp:txBody>
      <dsp:txXfrm>
        <a:off x="3034080" y="560416"/>
        <a:ext cx="3134179" cy="1067947"/>
      </dsp:txXfrm>
    </dsp:sp>
    <dsp:sp modelId="{209D5632-374A-4CD3-91FA-FA4E33496360}">
      <dsp:nvSpPr>
        <dsp:cNvPr id="0" name=""/>
        <dsp:cNvSpPr/>
      </dsp:nvSpPr>
      <dsp:spPr>
        <a:xfrm>
          <a:off x="2976307" y="1834073"/>
          <a:ext cx="3249725" cy="1183493"/>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fr-FR" sz="1300" b="1" kern="1200" dirty="0">
              <a:solidFill>
                <a:schemeClr val="tx1"/>
              </a:solidFill>
              <a:latin typeface="Segoe UI"/>
            </a:rPr>
            <a:t>Les assistants bancaires traditionnels manquent souvent de sources fiables, de traçabilité et d'explicabilité dans les réponses fournies.</a:t>
          </a:r>
          <a:endParaRPr lang="fr-FR" sz="1300" b="1" kern="1200" dirty="0">
            <a:solidFill>
              <a:schemeClr val="tx1"/>
            </a:solidFill>
          </a:endParaRPr>
        </a:p>
      </dsp:txBody>
      <dsp:txXfrm>
        <a:off x="3034080" y="1891846"/>
        <a:ext cx="3134179" cy="1067947"/>
      </dsp:txXfrm>
    </dsp:sp>
    <dsp:sp modelId="{8E388F8F-0811-4C79-A250-50DA7C7EF0A9}">
      <dsp:nvSpPr>
        <dsp:cNvPr id="0" name=""/>
        <dsp:cNvSpPr/>
      </dsp:nvSpPr>
      <dsp:spPr>
        <a:xfrm>
          <a:off x="2976307" y="3165504"/>
          <a:ext cx="3249725" cy="1183493"/>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fr-FR" sz="1300" b="1" kern="1200" dirty="0">
              <a:solidFill>
                <a:schemeClr val="tx1"/>
              </a:solidFill>
              <a:latin typeface="Segoe UI"/>
            </a:rPr>
            <a:t>Les échanges entre les clients et les services de support constituent une source riche d'informations pour les équipes métier et la prise de </a:t>
          </a:r>
          <a:r>
            <a:rPr lang="fr-FR" sz="1300" kern="1200" dirty="0">
              <a:solidFill>
                <a:schemeClr val="bg1"/>
              </a:solidFill>
              <a:latin typeface="Segoe UI"/>
            </a:rPr>
            <a:t>décision.</a:t>
          </a:r>
          <a:endParaRPr lang="fr-FR" sz="1300" kern="1200" dirty="0">
            <a:solidFill>
              <a:schemeClr val="bg1"/>
            </a:solidFill>
          </a:endParaRPr>
        </a:p>
      </dsp:txBody>
      <dsp:txXfrm>
        <a:off x="3034080" y="3223277"/>
        <a:ext cx="3134179" cy="10679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E8352-D557-46D6-A294-C9E32756B8CB}">
      <dsp:nvSpPr>
        <dsp:cNvPr id="0" name=""/>
        <dsp:cNvSpPr/>
      </dsp:nvSpPr>
      <dsp:spPr>
        <a:xfrm>
          <a:off x="1161" y="0"/>
          <a:ext cx="3021136" cy="3260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endParaRPr lang="fr-FR" sz="800" b="1" i="0" kern="1200" dirty="0">
            <a:latin typeface="Segoe UI" panose="020B0502040204020203" pitchFamily="34" charset="0"/>
            <a:cs typeface="Segoe UI" panose="020B0502040204020203" pitchFamily="34" charset="0"/>
          </a:endParaRPr>
        </a:p>
        <a:p>
          <a:pPr marL="0" lvl="0" indent="0" algn="ctr" defTabSz="355600">
            <a:lnSpc>
              <a:spcPct val="90000"/>
            </a:lnSpc>
            <a:spcBef>
              <a:spcPct val="0"/>
            </a:spcBef>
            <a:spcAft>
              <a:spcPct val="35000"/>
            </a:spcAft>
            <a:buNone/>
          </a:pPr>
          <a:r>
            <a:rPr lang="fr-FR" sz="800" b="1" i="0" kern="1200" dirty="0">
              <a:latin typeface="Segoe UI" panose="020B0502040204020203" pitchFamily="34" charset="0"/>
              <a:cs typeface="Segoe UI" panose="020B0502040204020203" pitchFamily="34" charset="0"/>
            </a:rPr>
            <a:t>Conception d’une plateforme basée sur le RAG et les architectures multi-agents afin de produire des réponses contextualisées, fiables et gouvernées.</a:t>
          </a:r>
        </a:p>
        <a:p>
          <a:pPr marL="0" lvl="0" indent="0" algn="ctr" defTabSz="355600">
            <a:lnSpc>
              <a:spcPct val="90000"/>
            </a:lnSpc>
            <a:spcBef>
              <a:spcPct val="0"/>
            </a:spcBef>
            <a:spcAft>
              <a:spcPct val="35000"/>
            </a:spcAft>
            <a:buNone/>
          </a:pPr>
          <a:endParaRPr lang="fr-FR" sz="800" kern="1200" dirty="0"/>
        </a:p>
        <a:p>
          <a:pPr marL="0" lvl="0" indent="0" algn="ctr" defTabSz="355600">
            <a:lnSpc>
              <a:spcPct val="90000"/>
            </a:lnSpc>
            <a:spcBef>
              <a:spcPct val="0"/>
            </a:spcBef>
            <a:spcAft>
              <a:spcPct val="35000"/>
            </a:spcAft>
            <a:buNone/>
          </a:pPr>
          <a:endParaRPr lang="fr-FR" sz="800" kern="1200" dirty="0"/>
        </a:p>
      </dsp:txBody>
      <dsp:txXfrm>
        <a:off x="1161" y="0"/>
        <a:ext cx="3021136" cy="978166"/>
      </dsp:txXfrm>
    </dsp:sp>
    <dsp:sp modelId="{F144148C-5B36-4967-B28A-5AC038EB4F83}">
      <dsp:nvSpPr>
        <dsp:cNvPr id="0" name=""/>
        <dsp:cNvSpPr/>
      </dsp:nvSpPr>
      <dsp:spPr>
        <a:xfrm>
          <a:off x="303275" y="978445"/>
          <a:ext cx="2416909" cy="640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endParaRPr lang="fr-FR" sz="3300" kern="1200" dirty="0"/>
        </a:p>
      </dsp:txBody>
      <dsp:txXfrm>
        <a:off x="322037" y="997207"/>
        <a:ext cx="2379385" cy="603044"/>
      </dsp:txXfrm>
    </dsp:sp>
    <dsp:sp modelId="{3F349511-B789-4916-9F0B-D1E98EE8C405}">
      <dsp:nvSpPr>
        <dsp:cNvPr id="0" name=""/>
        <dsp:cNvSpPr/>
      </dsp:nvSpPr>
      <dsp:spPr>
        <a:xfrm>
          <a:off x="303275" y="1717563"/>
          <a:ext cx="2416909" cy="640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endParaRPr lang="fr-FR" sz="3300" kern="1200" dirty="0"/>
        </a:p>
      </dsp:txBody>
      <dsp:txXfrm>
        <a:off x="322037" y="1736325"/>
        <a:ext cx="2379385" cy="603044"/>
      </dsp:txXfrm>
    </dsp:sp>
    <dsp:sp modelId="{D318CD37-7F4F-4127-8A04-E716E4CEF0AB}">
      <dsp:nvSpPr>
        <dsp:cNvPr id="0" name=""/>
        <dsp:cNvSpPr/>
      </dsp:nvSpPr>
      <dsp:spPr>
        <a:xfrm>
          <a:off x="303275" y="2456680"/>
          <a:ext cx="2416909" cy="6405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62865" rIns="83820" bIns="62865" numCol="1" spcCol="1270" anchor="ctr" anchorCtr="0">
          <a:noAutofit/>
        </a:bodyPr>
        <a:lstStyle/>
        <a:p>
          <a:pPr marL="0" lvl="0" indent="0" algn="ctr" defTabSz="1466850">
            <a:lnSpc>
              <a:spcPct val="90000"/>
            </a:lnSpc>
            <a:spcBef>
              <a:spcPct val="0"/>
            </a:spcBef>
            <a:spcAft>
              <a:spcPct val="35000"/>
            </a:spcAft>
            <a:buNone/>
          </a:pPr>
          <a:endParaRPr lang="fr-FR" sz="3300" kern="1200" dirty="0"/>
        </a:p>
      </dsp:txBody>
      <dsp:txXfrm>
        <a:off x="322037" y="2475442"/>
        <a:ext cx="2379385" cy="603044"/>
      </dsp:txXfrm>
    </dsp:sp>
    <dsp:sp modelId="{412709E5-DEA9-4894-A466-903F61FE139D}">
      <dsp:nvSpPr>
        <dsp:cNvPr id="0" name=""/>
        <dsp:cNvSpPr/>
      </dsp:nvSpPr>
      <dsp:spPr>
        <a:xfrm>
          <a:off x="3248883" y="0"/>
          <a:ext cx="3021136" cy="3260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fr-FR" sz="800" b="1" i="0" kern="1200" dirty="0">
              <a:latin typeface="Segoe UI" panose="020B0502040204020203" pitchFamily="34" charset="0"/>
              <a:cs typeface="Segoe UI" panose="020B0502040204020203" pitchFamily="34" charset="0"/>
            </a:rPr>
            <a:t>L'objectif était également de transformer les conversations en indicateurs métier exploitables pour le pilotage, l'amélioration continue des services et la gouvernance de l'IA. </a:t>
          </a:r>
          <a:endParaRPr lang="fr-FR" sz="800" kern="1200" dirty="0"/>
        </a:p>
      </dsp:txBody>
      <dsp:txXfrm>
        <a:off x="3248883" y="0"/>
        <a:ext cx="3021136" cy="978166"/>
      </dsp:txXfrm>
    </dsp:sp>
    <dsp:sp modelId="{8F9DAE07-3FB4-4274-9E9C-BDD8BB1B7D96}">
      <dsp:nvSpPr>
        <dsp:cNvPr id="0" name=""/>
        <dsp:cNvSpPr/>
      </dsp:nvSpPr>
      <dsp:spPr>
        <a:xfrm>
          <a:off x="6496605" y="0"/>
          <a:ext cx="3021136" cy="32605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fr-FR" sz="800" b="1" kern="1200">
              <a:latin typeface="Segoe UI"/>
            </a:rPr>
            <a:t>Mettre en pratique mes compétences en Data Engineering, IA Générative et architecture de solutions Data &amp; IA autour d'un cas d'usage concret à forte valeur métier. </a:t>
          </a:r>
          <a:endParaRPr lang="fr-FR" sz="800" b="1" kern="1200" dirty="0"/>
        </a:p>
      </dsp:txBody>
      <dsp:txXfrm>
        <a:off x="6496605" y="0"/>
        <a:ext cx="3021136" cy="978166"/>
      </dsp:txXfrm>
    </dsp:sp>
    <dsp:sp modelId="{6B207FDF-3974-46AE-A57C-34409C858762}">
      <dsp:nvSpPr>
        <dsp:cNvPr id="0" name=""/>
        <dsp:cNvSpPr/>
      </dsp:nvSpPr>
      <dsp:spPr>
        <a:xfrm>
          <a:off x="6798719" y="978166"/>
          <a:ext cx="2416909" cy="211936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123825" rIns="165100" bIns="123825" numCol="1" spcCol="1270" anchor="ctr" anchorCtr="0">
          <a:noAutofit/>
        </a:bodyPr>
        <a:lstStyle/>
        <a:p>
          <a:pPr marL="0" lvl="0" indent="0" algn="ctr" defTabSz="2889250">
            <a:lnSpc>
              <a:spcPct val="90000"/>
            </a:lnSpc>
            <a:spcBef>
              <a:spcPct val="0"/>
            </a:spcBef>
            <a:spcAft>
              <a:spcPct val="35000"/>
            </a:spcAft>
            <a:buNone/>
          </a:pPr>
          <a:endParaRPr lang="fr-FR" sz="6500" kern="1200" dirty="0"/>
        </a:p>
      </dsp:txBody>
      <dsp:txXfrm>
        <a:off x="6860793" y="1040240"/>
        <a:ext cx="2292761" cy="19952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56D2C-51F1-448C-A507-F6CB9070E00F}">
      <dsp:nvSpPr>
        <dsp:cNvPr id="0" name=""/>
        <dsp:cNvSpPr/>
      </dsp:nvSpPr>
      <dsp:spPr>
        <a:xfrm>
          <a:off x="-6752990" y="-1032614"/>
          <a:ext cx="8037404" cy="8037404"/>
        </a:xfrm>
        <a:prstGeom prst="blockArc">
          <a:avLst>
            <a:gd name="adj1" fmla="val 18900000"/>
            <a:gd name="adj2" fmla="val 2700000"/>
            <a:gd name="adj3" fmla="val 269"/>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AC3C27-CCAC-4C24-A918-ACB0A7DC03DC}">
      <dsp:nvSpPr>
        <dsp:cNvPr id="0" name=""/>
        <dsp:cNvSpPr/>
      </dsp:nvSpPr>
      <dsp:spPr>
        <a:xfrm>
          <a:off x="478072" y="314494"/>
          <a:ext cx="8771018"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r>
            <a:rPr lang="fr-FR" sz="1800" b="1" kern="1200" dirty="0">
              <a:solidFill>
                <a:schemeClr val="bg1"/>
              </a:solidFill>
              <a:latin typeface="Segoe UI" panose="020B0502040204020203" pitchFamily="34" charset="0"/>
              <a:cs typeface="Segoe UI" panose="020B0502040204020203" pitchFamily="34" charset="0"/>
            </a:rPr>
            <a:t>Reduction des hallucinations </a:t>
          </a:r>
          <a:r>
            <a:rPr lang="fr-FR" sz="1800" b="0" kern="1200" dirty="0">
              <a:solidFill>
                <a:schemeClr val="bg1"/>
              </a:solidFill>
              <a:latin typeface="Segoe UI" panose="020B0502040204020203" pitchFamily="34" charset="0"/>
              <a:cs typeface="Segoe UI" panose="020B0502040204020203" pitchFamily="34" charset="0"/>
            </a:rPr>
            <a:t>: L’IA vas s’appuyer sur des documents réels plutôt que sur ses seules connaissances d’entrainement</a:t>
          </a:r>
        </a:p>
      </dsp:txBody>
      <dsp:txXfrm>
        <a:off x="478072" y="314494"/>
        <a:ext cx="8771018" cy="628750"/>
      </dsp:txXfrm>
    </dsp:sp>
    <dsp:sp modelId="{E527CA67-45E0-48D9-B69E-11E267B6016C}">
      <dsp:nvSpPr>
        <dsp:cNvPr id="0" name=""/>
        <dsp:cNvSpPr/>
      </dsp:nvSpPr>
      <dsp:spPr>
        <a:xfrm>
          <a:off x="85103" y="235900"/>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36A6064-A267-46E5-BF47-733F6466FA73}">
      <dsp:nvSpPr>
        <dsp:cNvPr id="0" name=""/>
        <dsp:cNvSpPr/>
      </dsp:nvSpPr>
      <dsp:spPr>
        <a:xfrm>
          <a:off x="995263" y="1257501"/>
          <a:ext cx="8253828"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endParaRPr lang="fr-FR" sz="1800" b="1"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r>
            <a:rPr lang="fr-FR" sz="1800" b="1" i="0" kern="1200" dirty="0">
              <a:latin typeface="Segoe UI" panose="020B0502040204020203" pitchFamily="34" charset="0"/>
              <a:cs typeface="Segoe UI" panose="020B0502040204020203" pitchFamily="34" charset="0"/>
            </a:rPr>
            <a:t>Fournir des réponses fondées sur des sources fiables : </a:t>
          </a:r>
          <a:r>
            <a:rPr lang="fr-FR" sz="1800" b="0" i="0" kern="1200" dirty="0">
              <a:latin typeface="Segoe UI" panose="020B0502040204020203" pitchFamily="34" charset="0"/>
              <a:cs typeface="Segoe UI" panose="020B0502040204020203" pitchFamily="34" charset="0"/>
            </a:rPr>
            <a:t>utilisation de corpus documentaire métier pour produire des réponses pertinentes</a:t>
          </a: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dsp:txBody>
      <dsp:txXfrm>
        <a:off x="995263" y="1257501"/>
        <a:ext cx="8253828" cy="628750"/>
      </dsp:txXfrm>
    </dsp:sp>
    <dsp:sp modelId="{70A646B4-50C1-44D4-8E3F-7D3CB98A8A7E}">
      <dsp:nvSpPr>
        <dsp:cNvPr id="0" name=""/>
        <dsp:cNvSpPr/>
      </dsp:nvSpPr>
      <dsp:spPr>
        <a:xfrm>
          <a:off x="602293" y="1178907"/>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22282B-5204-40F0-AFA5-D7043643FB8B}">
      <dsp:nvSpPr>
        <dsp:cNvPr id="0" name=""/>
        <dsp:cNvSpPr/>
      </dsp:nvSpPr>
      <dsp:spPr>
        <a:xfrm>
          <a:off x="1231761" y="2200507"/>
          <a:ext cx="8017330"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endParaRPr lang="fr-FR" sz="1800" b="1"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endParaRPr lang="fr-FR" sz="1800" b="1"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r>
            <a:rPr lang="fr-FR" sz="1800" b="1" i="0" kern="1200" dirty="0">
              <a:latin typeface="Segoe UI" panose="020B0502040204020203" pitchFamily="34" charset="0"/>
              <a:cs typeface="Segoe UI" panose="020B0502040204020203" pitchFamily="34" charset="0"/>
            </a:rPr>
            <a:t>Faciliter la mise à jour des connaissances </a:t>
          </a:r>
          <a:r>
            <a:rPr lang="fr-FR" sz="1800" b="0" i="0" kern="1200" dirty="0">
              <a:latin typeface="Segoe UI" panose="020B0502040204020203" pitchFamily="34" charset="0"/>
              <a:cs typeface="Segoe UI" panose="020B0502040204020203" pitchFamily="34" charset="0"/>
            </a:rPr>
            <a:t>: Mettre à jour les documents de références sans devoir </a:t>
          </a:r>
          <a:r>
            <a:rPr lang="fr-FR" sz="1800" b="0" i="0" kern="1200" dirty="0" err="1">
              <a:latin typeface="Segoe UI" panose="020B0502040204020203" pitchFamily="34" charset="0"/>
              <a:cs typeface="Segoe UI" panose="020B0502040204020203" pitchFamily="34" charset="0"/>
            </a:rPr>
            <a:t>réentrainer</a:t>
          </a:r>
          <a:r>
            <a:rPr lang="fr-FR" sz="1800" b="0" i="0" kern="1200" dirty="0">
              <a:latin typeface="Segoe UI" panose="020B0502040204020203" pitchFamily="34" charset="0"/>
              <a:cs typeface="Segoe UI" panose="020B0502040204020203" pitchFamily="34" charset="0"/>
            </a:rPr>
            <a:t> le modèle de langage.</a:t>
          </a: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dsp:txBody>
      <dsp:txXfrm>
        <a:off x="1231761" y="2200507"/>
        <a:ext cx="8017330" cy="628750"/>
      </dsp:txXfrm>
    </dsp:sp>
    <dsp:sp modelId="{26A64556-252B-46B9-9983-A9D9A1DF294F}">
      <dsp:nvSpPr>
        <dsp:cNvPr id="0" name=""/>
        <dsp:cNvSpPr/>
      </dsp:nvSpPr>
      <dsp:spPr>
        <a:xfrm>
          <a:off x="838792" y="2121914"/>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0FAFA1-96C3-459A-B9C6-2E6DB2C825EA}">
      <dsp:nvSpPr>
        <dsp:cNvPr id="0" name=""/>
        <dsp:cNvSpPr/>
      </dsp:nvSpPr>
      <dsp:spPr>
        <a:xfrm>
          <a:off x="1231761" y="3142917"/>
          <a:ext cx="8017330"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endParaRPr lang="fr-FR" sz="1800" b="1"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r>
            <a:rPr lang="fr-FR" sz="1800" b="1" i="0" kern="1200" dirty="0">
              <a:latin typeface="Segoe UI" panose="020B0502040204020203" pitchFamily="34" charset="0"/>
              <a:cs typeface="Segoe UI" panose="020B0502040204020203" pitchFamily="34" charset="0"/>
            </a:rPr>
            <a:t>Exploiter efficacement les bases documentaires : </a:t>
          </a:r>
          <a:r>
            <a:rPr lang="fr-FR" sz="1800" b="0" i="0" kern="1200" dirty="0">
              <a:latin typeface="Segoe UI" panose="020B0502040204020203" pitchFamily="34" charset="0"/>
              <a:cs typeface="Segoe UI" panose="020B0502040204020203" pitchFamily="34" charset="0"/>
            </a:rPr>
            <a:t>Valoriser les données existantes en les rendant accessibles via le langage naturel.</a:t>
          </a: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dsp:txBody>
      <dsp:txXfrm>
        <a:off x="1231761" y="3142917"/>
        <a:ext cx="8017330" cy="628750"/>
      </dsp:txXfrm>
    </dsp:sp>
    <dsp:sp modelId="{212C67B0-3FB0-41BC-861B-6B742FA5E96C}">
      <dsp:nvSpPr>
        <dsp:cNvPr id="0" name=""/>
        <dsp:cNvSpPr/>
      </dsp:nvSpPr>
      <dsp:spPr>
        <a:xfrm>
          <a:off x="838792" y="3064323"/>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F9B4CB-5C15-4EA9-8518-76AE6EFB6195}">
      <dsp:nvSpPr>
        <dsp:cNvPr id="0" name=""/>
        <dsp:cNvSpPr/>
      </dsp:nvSpPr>
      <dsp:spPr>
        <a:xfrm>
          <a:off x="995263" y="4085923"/>
          <a:ext cx="8253828"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endParaRPr lang="fr-FR" sz="1800" b="1"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r>
            <a:rPr lang="fr-FR" sz="1800" b="1" i="0" kern="1200" dirty="0">
              <a:latin typeface="Segoe UI" panose="020B0502040204020203" pitchFamily="34" charset="0"/>
              <a:cs typeface="Segoe UI" panose="020B0502040204020203" pitchFamily="34" charset="0"/>
            </a:rPr>
            <a:t>Garantir la traçabilité : </a:t>
          </a:r>
          <a:r>
            <a:rPr lang="fr-FR" sz="1800" b="0" i="0" kern="1200" dirty="0">
              <a:latin typeface="Segoe UI" panose="020B0502040204020203" pitchFamily="34" charset="0"/>
              <a:cs typeface="Segoe UI" panose="020B0502040204020203" pitchFamily="34" charset="0"/>
            </a:rPr>
            <a:t>Permettre d’identifier les documents et sources utilisés pour construire la </a:t>
          </a:r>
          <a:r>
            <a:rPr lang="fr-FR" sz="1800" b="0" i="0" kern="1200" dirty="0" err="1">
              <a:latin typeface="Segoe UI" panose="020B0502040204020203" pitchFamily="34" charset="0"/>
              <a:cs typeface="Segoe UI" panose="020B0502040204020203" pitchFamily="34" charset="0"/>
            </a:rPr>
            <a:t>reponse</a:t>
          </a:r>
          <a:r>
            <a:rPr lang="fr-FR" sz="1800" b="0" i="0" kern="1200" dirty="0">
              <a:latin typeface="Segoe UI" panose="020B0502040204020203" pitchFamily="34" charset="0"/>
              <a:cs typeface="Segoe UI" panose="020B0502040204020203" pitchFamily="34" charset="0"/>
            </a:rPr>
            <a:t>.</a:t>
          </a:r>
          <a:endParaRPr lang="fr-FR" sz="1800" b="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dsp:txBody>
      <dsp:txXfrm>
        <a:off x="995263" y="4085923"/>
        <a:ext cx="8253828" cy="628750"/>
      </dsp:txXfrm>
    </dsp:sp>
    <dsp:sp modelId="{49E59187-67E1-4A49-AFF0-91BFB08CA6FA}">
      <dsp:nvSpPr>
        <dsp:cNvPr id="0" name=""/>
        <dsp:cNvSpPr/>
      </dsp:nvSpPr>
      <dsp:spPr>
        <a:xfrm>
          <a:off x="602293" y="4007330"/>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6F0F7C9-AA17-422A-9178-B73E21FB8F56}">
      <dsp:nvSpPr>
        <dsp:cNvPr id="0" name=""/>
        <dsp:cNvSpPr/>
      </dsp:nvSpPr>
      <dsp:spPr>
        <a:xfrm>
          <a:off x="478072" y="5028930"/>
          <a:ext cx="8771018" cy="6287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9071" tIns="45720" rIns="45720" bIns="45720" numCol="1" spcCol="1270" anchor="ctr" anchorCtr="0">
          <a:noAutofit/>
        </a:bodyPr>
        <a:lstStyle/>
        <a:p>
          <a:pPr marL="0" lvl="0" indent="0" algn="l" defTabSz="800100">
            <a:lnSpc>
              <a:spcPct val="90000"/>
            </a:lnSpc>
            <a:spcBef>
              <a:spcPct val="0"/>
            </a:spcBef>
            <a:spcAft>
              <a:spcPct val="35000"/>
            </a:spcAft>
            <a:buNone/>
          </a:pPr>
          <a:r>
            <a:rPr lang="fr-FR" sz="1800" b="0" i="0" kern="1200" dirty="0">
              <a:latin typeface="Segoe UI" panose="020B0502040204020203" pitchFamily="34" charset="0"/>
              <a:cs typeface="Segoe UI" panose="020B0502040204020203" pitchFamily="34" charset="0"/>
            </a:rPr>
            <a:t>A</a:t>
          </a:r>
        </a:p>
        <a:p>
          <a:pPr marL="0" lvl="0" indent="0" algn="l" defTabSz="800100">
            <a:lnSpc>
              <a:spcPct val="90000"/>
            </a:lnSpc>
            <a:spcBef>
              <a:spcPct val="0"/>
            </a:spcBef>
            <a:spcAft>
              <a:spcPct val="35000"/>
            </a:spcAft>
            <a:buNone/>
          </a:pPr>
          <a:endParaRPr lang="fr-FR" sz="1800" b="0" i="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r>
            <a:rPr lang="fr-FR" sz="1800" b="1" i="0" kern="1200" dirty="0">
              <a:solidFill>
                <a:schemeClr val="bg1"/>
              </a:solidFill>
              <a:latin typeface="Segoe UI" panose="020B0502040204020203" pitchFamily="34" charset="0"/>
              <a:cs typeface="Segoe UI" panose="020B0502040204020203" pitchFamily="34" charset="0"/>
            </a:rPr>
            <a:t>Améliorer l'expérience utilisateur : </a:t>
          </a:r>
          <a:r>
            <a:rPr lang="fr-FR" sz="1800" b="0" i="0" kern="1200" dirty="0">
              <a:solidFill>
                <a:schemeClr val="bg1"/>
              </a:solidFill>
              <a:latin typeface="Segoe UI" panose="020B0502040204020203" pitchFamily="34" charset="0"/>
              <a:cs typeface="Segoe UI" panose="020B0502040204020203" pitchFamily="34" charset="0"/>
            </a:rPr>
            <a:t>Fournir des réponses plus précises, </a:t>
          </a:r>
        </a:p>
        <a:p>
          <a:pPr marL="0" lvl="0" indent="0" algn="l" defTabSz="800100">
            <a:lnSpc>
              <a:spcPct val="90000"/>
            </a:lnSpc>
            <a:spcBef>
              <a:spcPct val="0"/>
            </a:spcBef>
            <a:spcAft>
              <a:spcPct val="35000"/>
            </a:spcAft>
            <a:buNone/>
          </a:pPr>
          <a:r>
            <a:rPr lang="fr-FR" sz="1800" b="0" i="0" kern="1200" dirty="0">
              <a:solidFill>
                <a:schemeClr val="bg1"/>
              </a:solidFill>
              <a:latin typeface="Segoe UI" panose="020B0502040204020203" pitchFamily="34" charset="0"/>
              <a:cs typeface="Segoe UI" panose="020B0502040204020203" pitchFamily="34" charset="0"/>
            </a:rPr>
            <a:t>contextualisées et compréhensibles.</a:t>
          </a:r>
        </a:p>
        <a:p>
          <a:pPr marL="0" lvl="0" indent="0" algn="l" defTabSz="800100">
            <a:lnSpc>
              <a:spcPct val="90000"/>
            </a:lnSpc>
            <a:spcBef>
              <a:spcPct val="0"/>
            </a:spcBef>
            <a:spcAft>
              <a:spcPct val="35000"/>
            </a:spcAft>
            <a:buNone/>
          </a:pPr>
          <a:endParaRPr lang="fr-FR" sz="1800" kern="1200" dirty="0">
            <a:latin typeface="Segoe UI" panose="020B0502040204020203" pitchFamily="34" charset="0"/>
            <a:cs typeface="Segoe UI" panose="020B0502040204020203" pitchFamily="34" charset="0"/>
          </a:endParaRPr>
        </a:p>
        <a:p>
          <a:pPr marL="0" lvl="0" indent="0" algn="l" defTabSz="800100">
            <a:lnSpc>
              <a:spcPct val="90000"/>
            </a:lnSpc>
            <a:spcBef>
              <a:spcPct val="0"/>
            </a:spcBef>
            <a:spcAft>
              <a:spcPct val="35000"/>
            </a:spcAft>
            <a:buNone/>
          </a:pPr>
          <a:endParaRPr lang="fr-FR" sz="1800" b="0" i="0" kern="1200" dirty="0">
            <a:latin typeface="Segoe UI" panose="020B0502040204020203" pitchFamily="34" charset="0"/>
            <a:cs typeface="Segoe UI" panose="020B0502040204020203" pitchFamily="34" charset="0"/>
          </a:endParaRPr>
        </a:p>
      </dsp:txBody>
      <dsp:txXfrm>
        <a:off x="478072" y="5028930"/>
        <a:ext cx="8771018" cy="628750"/>
      </dsp:txXfrm>
    </dsp:sp>
    <dsp:sp modelId="{7347CB09-9A0A-4917-B2D7-3B8867B46069}">
      <dsp:nvSpPr>
        <dsp:cNvPr id="0" name=""/>
        <dsp:cNvSpPr/>
      </dsp:nvSpPr>
      <dsp:spPr>
        <a:xfrm>
          <a:off x="85103" y="4950336"/>
          <a:ext cx="785938" cy="78593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2" y="0"/>
            <a:ext cx="12191695"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914400" y="2560320"/>
            <a:ext cx="10360152" cy="822960"/>
          </a:xfrm>
          <a:prstGeom prst="rect">
            <a:avLst/>
          </a:prstGeom>
          <a:noFill/>
        </p:spPr>
        <p:txBody>
          <a:bodyPr wrap="square">
            <a:spAutoFit/>
          </a:bodyPr>
          <a:lstStyle/>
          <a:p>
            <a:pPr algn="ctr"/>
            <a:r>
              <a:rPr sz="5000" b="1" i="0">
                <a:solidFill>
                  <a:srgbClr val="FFFFFF"/>
                </a:solidFill>
                <a:latin typeface="Segoe UI"/>
              </a:rPr>
              <a:t>AELON</a:t>
            </a:r>
          </a:p>
        </p:txBody>
      </p:sp>
      <p:sp>
        <p:nvSpPr>
          <p:cNvPr id="6" name="TextBox 5"/>
          <p:cNvSpPr txBox="1"/>
          <p:nvPr/>
        </p:nvSpPr>
        <p:spPr>
          <a:xfrm>
            <a:off x="1887239" y="2459950"/>
            <a:ext cx="8414472" cy="923330"/>
          </a:xfrm>
          <a:prstGeom prst="rect">
            <a:avLst/>
          </a:prstGeom>
          <a:solidFill>
            <a:schemeClr val="tx2">
              <a:lumMod val="40000"/>
              <a:lumOff val="60000"/>
            </a:schemeClr>
          </a:solidFill>
        </p:spPr>
        <p:txBody>
          <a:bodyPr wrap="square">
            <a:spAutoFit/>
          </a:bodyPr>
          <a:lstStyle/>
          <a:p>
            <a:pPr algn="ctr"/>
            <a:r>
              <a:rPr lang="fr-FR" b="1" cap="all" dirty="0"/>
              <a:t>Conception et développement d'une plateforme intelligente de service après-vente bancaire permettant l'assistance des utilisateurs, l'analyse des conversations et l'évaluation continue des agents IA</a:t>
            </a:r>
            <a:endParaRPr lang="fr-FR" dirty="0"/>
          </a:p>
        </p:txBody>
      </p:sp>
      <p:sp>
        <p:nvSpPr>
          <p:cNvPr id="7" name="TextBox 6"/>
          <p:cNvSpPr txBox="1"/>
          <p:nvPr/>
        </p:nvSpPr>
        <p:spPr>
          <a:xfrm>
            <a:off x="914400" y="4913740"/>
            <a:ext cx="10360152" cy="600164"/>
          </a:xfrm>
          <a:prstGeom prst="rect">
            <a:avLst/>
          </a:prstGeom>
          <a:noFill/>
        </p:spPr>
        <p:txBody>
          <a:bodyPr wrap="square">
            <a:spAutoFit/>
          </a:bodyPr>
          <a:lstStyle/>
          <a:p>
            <a:pPr algn="ctr"/>
            <a:r>
              <a:rPr sz="1500" b="1" i="0" dirty="0">
                <a:solidFill>
                  <a:srgbClr val="FFFFFF"/>
                </a:solidFill>
                <a:latin typeface="Segoe UI"/>
              </a:rPr>
              <a:t>Cynt</a:t>
            </a:r>
            <a:r>
              <a:rPr lang="en-US" dirty="0"/>
              <a:t>Réalisé au sein de Capgemini technology service</a:t>
            </a:r>
            <a:endParaRPr lang="fr-FR" dirty="0"/>
          </a:p>
          <a:p>
            <a:pPr algn="ctr"/>
            <a:r>
              <a:rPr sz="1500" b="1" i="0" dirty="0" err="1">
                <a:solidFill>
                  <a:srgbClr val="FFFFFF"/>
                </a:solidFill>
                <a:latin typeface="Segoe UI"/>
              </a:rPr>
              <a:t>hia</a:t>
            </a:r>
            <a:r>
              <a:rPr sz="1500" b="1" i="0" dirty="0">
                <a:solidFill>
                  <a:srgbClr val="FFFFFF"/>
                </a:solidFill>
                <a:latin typeface="Segoe UI"/>
              </a:rPr>
              <a:t> </a:t>
            </a:r>
            <a:r>
              <a:rPr sz="1500" b="1" i="0" dirty="0" err="1">
                <a:solidFill>
                  <a:srgbClr val="FFFFFF"/>
                </a:solidFill>
                <a:latin typeface="Segoe UI"/>
              </a:rPr>
              <a:t>Sileu</a:t>
            </a:r>
            <a:r>
              <a:rPr sz="1500" b="1" i="0" dirty="0">
                <a:solidFill>
                  <a:srgbClr val="FFFFFF"/>
                </a:solidFill>
                <a:latin typeface="Segoe UI"/>
              </a:rPr>
              <a:t> Kapnang</a:t>
            </a:r>
          </a:p>
        </p:txBody>
      </p:sp>
      <p:sp>
        <p:nvSpPr>
          <p:cNvPr id="8" name="TextBox 7"/>
          <p:cNvSpPr txBox="1"/>
          <p:nvPr/>
        </p:nvSpPr>
        <p:spPr>
          <a:xfrm>
            <a:off x="787907" y="3730811"/>
            <a:ext cx="10360152" cy="769441"/>
          </a:xfrm>
          <a:prstGeom prst="rect">
            <a:avLst/>
          </a:prstGeom>
          <a:noFill/>
        </p:spPr>
        <p:txBody>
          <a:bodyPr wrap="square">
            <a:spAutoFit/>
          </a:bodyPr>
          <a:lstStyle/>
          <a:p>
            <a:pPr algn="ctr"/>
            <a:r>
              <a:rPr lang="fr-FR" sz="1300" b="0" i="0" dirty="0">
                <a:latin typeface="Segoe UI"/>
              </a:rPr>
              <a:t>Présenté par:</a:t>
            </a:r>
          </a:p>
          <a:p>
            <a:pPr algn="ctr"/>
            <a:endParaRPr lang="fr-FR" sz="1300" b="0" i="0" dirty="0">
              <a:latin typeface="Segoe UI"/>
            </a:endParaRPr>
          </a:p>
          <a:p>
            <a:pPr algn="ctr"/>
            <a:r>
              <a:rPr lang="fr-FR" b="1" dirty="0">
                <a:latin typeface="Segoe UI"/>
              </a:rPr>
              <a:t>Cynthia, SILEU KAPNANG</a:t>
            </a:r>
            <a:endParaRPr b="1" i="0" dirty="0">
              <a:latin typeface="Segoe UI"/>
            </a:endParaRPr>
          </a:p>
        </p:txBody>
      </p:sp>
      <p:pic>
        <p:nvPicPr>
          <p:cNvPr id="12" name="Image 11">
            <a:extLst>
              <a:ext uri="{FF2B5EF4-FFF2-40B4-BE49-F238E27FC236}">
                <a16:creationId xmlns:a16="http://schemas.microsoft.com/office/drawing/2014/main" id="{DF526C15-AE69-43B3-F0CD-157CB924F404}"/>
              </a:ext>
            </a:extLst>
          </p:cNvPr>
          <p:cNvPicPr>
            <a:picLocks noChangeAspect="1"/>
          </p:cNvPicPr>
          <p:nvPr/>
        </p:nvPicPr>
        <p:blipFill>
          <a:blip r:embed="rId2"/>
          <a:stretch>
            <a:fillRect/>
          </a:stretch>
        </p:blipFill>
        <p:spPr>
          <a:xfrm>
            <a:off x="3830119" y="1216224"/>
            <a:ext cx="4810186" cy="990332"/>
          </a:xfrm>
          <a:prstGeom prst="rect">
            <a:avLst/>
          </a:prstGeom>
        </p:spPr>
      </p:pic>
      <p:pic>
        <p:nvPicPr>
          <p:cNvPr id="14" name="Image 13">
            <a:extLst>
              <a:ext uri="{FF2B5EF4-FFF2-40B4-BE49-F238E27FC236}">
                <a16:creationId xmlns:a16="http://schemas.microsoft.com/office/drawing/2014/main" id="{4DE12D8B-A25D-FC6B-57CA-3D586BCEBC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002" y="132040"/>
            <a:ext cx="1628806" cy="1051560"/>
          </a:xfrm>
          <a:prstGeom prst="rect">
            <a:avLst/>
          </a:prstGeom>
        </p:spPr>
      </p:pic>
      <p:pic>
        <p:nvPicPr>
          <p:cNvPr id="15" name="Image 14">
            <a:extLst>
              <a:ext uri="{FF2B5EF4-FFF2-40B4-BE49-F238E27FC236}">
                <a16:creationId xmlns:a16="http://schemas.microsoft.com/office/drawing/2014/main" id="{CEED9AA7-75DB-94CB-7CFC-0F2A77D8B1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4495" y="0"/>
            <a:ext cx="1899503" cy="1335024"/>
          </a:xfrm>
          <a:prstGeom prst="rect">
            <a:avLst/>
          </a:prstGeom>
        </p:spPr>
      </p:pic>
      <p:sp>
        <p:nvSpPr>
          <p:cNvPr id="17" name="TextBox 7">
            <a:extLst>
              <a:ext uri="{FF2B5EF4-FFF2-40B4-BE49-F238E27FC236}">
                <a16:creationId xmlns:a16="http://schemas.microsoft.com/office/drawing/2014/main" id="{5A1B8633-DEFC-2C69-BAA2-55D51019D991}"/>
              </a:ext>
            </a:extLst>
          </p:cNvPr>
          <p:cNvSpPr txBox="1"/>
          <p:nvPr/>
        </p:nvSpPr>
        <p:spPr>
          <a:xfrm>
            <a:off x="1066800" y="5894832"/>
            <a:ext cx="10360152" cy="292388"/>
          </a:xfrm>
          <a:prstGeom prst="rect">
            <a:avLst/>
          </a:prstGeom>
          <a:noFill/>
        </p:spPr>
        <p:txBody>
          <a:bodyPr wrap="square">
            <a:spAutoFit/>
          </a:bodyPr>
          <a:lstStyle/>
          <a:p>
            <a:pPr algn="ctr"/>
            <a:r>
              <a:rPr lang="fr-FR" sz="1300" b="0" i="0" dirty="0">
                <a:solidFill>
                  <a:srgbClr val="C9D6EC"/>
                </a:solidFill>
                <a:latin typeface="Segoe UI"/>
              </a:rPr>
              <a:t>Septembre 2025 - Septembre 2026</a:t>
            </a:r>
            <a:endParaRPr sz="1300" b="0" i="0" dirty="0">
              <a:solidFill>
                <a:srgbClr val="C9D6EC"/>
              </a:solidFill>
              <a:latin typeface="Segoe UI"/>
            </a:endParaRPr>
          </a:p>
        </p:txBody>
      </p:sp>
      <p:pic>
        <p:nvPicPr>
          <p:cNvPr id="18" name="Image 17">
            <a:extLst>
              <a:ext uri="{FF2B5EF4-FFF2-40B4-BE49-F238E27FC236}">
                <a16:creationId xmlns:a16="http://schemas.microsoft.com/office/drawing/2014/main" id="{85D4B680-47B1-D7E4-C6A9-8E6F3CAE4742}"/>
              </a:ext>
            </a:extLst>
          </p:cNvPr>
          <p:cNvPicPr>
            <a:picLocks noChangeAspect="1"/>
          </p:cNvPicPr>
          <p:nvPr/>
        </p:nvPicPr>
        <p:blipFill rotWithShape="1">
          <a:blip r:embed="rId5">
            <a:extLst>
              <a:ext uri="{28A0092B-C50C-407E-A947-70E740481C1C}">
                <a14:useLocalDpi xmlns:a14="http://schemas.microsoft.com/office/drawing/2010/main" val="0"/>
              </a:ext>
            </a:extLst>
          </a:blip>
          <a:srcRect l="12648" t="26526" r="13245" b="45514"/>
          <a:stretch>
            <a:fillRect/>
          </a:stretch>
        </p:blipFill>
        <p:spPr bwMode="auto">
          <a:xfrm>
            <a:off x="5289486" y="5306822"/>
            <a:ext cx="1356995" cy="359410"/>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92024"/>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CONTEXTE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Pourquoi AELON ?</a:t>
            </a:r>
          </a:p>
        </p:txBody>
      </p:sp>
      <p:sp>
        <p:nvSpPr>
          <p:cNvPr id="7" name="TextBox 6"/>
          <p:cNvSpPr txBox="1"/>
          <p:nvPr/>
        </p:nvSpPr>
        <p:spPr>
          <a:xfrm>
            <a:off x="246888" y="1006935"/>
            <a:ext cx="5303520" cy="365760"/>
          </a:xfrm>
          <a:prstGeom prst="rect">
            <a:avLst/>
          </a:prstGeom>
          <a:noFill/>
        </p:spPr>
        <p:txBody>
          <a:bodyPr wrap="square">
            <a:spAutoFit/>
          </a:bodyPr>
          <a:lstStyle/>
          <a:p>
            <a:pPr algn="l"/>
            <a:r>
              <a:rPr sz="1700" b="1" i="0" dirty="0">
                <a:solidFill>
                  <a:srgbClr val="0A3D91"/>
                </a:solidFill>
                <a:latin typeface="Segoe UI"/>
              </a:rPr>
              <a:t>Constats</a:t>
            </a:r>
          </a:p>
        </p:txBody>
      </p:sp>
      <p:sp>
        <p:nvSpPr>
          <p:cNvPr id="13" name="TextBox 12"/>
          <p:cNvSpPr txBox="1"/>
          <p:nvPr/>
        </p:nvSpPr>
        <p:spPr>
          <a:xfrm>
            <a:off x="457200" y="6610017"/>
            <a:ext cx="7315200" cy="274320"/>
          </a:xfrm>
          <a:prstGeom prst="rect">
            <a:avLst/>
          </a:prstGeom>
          <a:noFill/>
        </p:spPr>
        <p:txBody>
          <a:bodyPr wrap="square">
            <a:spAutoFit/>
          </a:bodyPr>
          <a:lstStyle/>
          <a:p>
            <a:pPr algn="l"/>
            <a:r>
              <a:rPr sz="950" b="0" i="1" dirty="0">
                <a:solidFill>
                  <a:srgbClr val="667085"/>
                </a:solidFill>
                <a:latin typeface="Segoe UI"/>
              </a:rPr>
              <a:t>AELON — </a:t>
            </a:r>
            <a:r>
              <a:rPr sz="950" b="0" i="1" dirty="0" err="1">
                <a:solidFill>
                  <a:srgbClr val="667085"/>
                </a:solidFill>
                <a:latin typeface="Segoe UI"/>
              </a:rPr>
              <a:t>Donnee</a:t>
            </a:r>
            <a:r>
              <a:rPr sz="950" b="0" i="1" dirty="0">
                <a:solidFill>
                  <a:srgbClr val="667085"/>
                </a:solidFill>
                <a:latin typeface="Segoe UI"/>
              </a:rPr>
              <a:t> -&gt; </a:t>
            </a:r>
            <a:r>
              <a:rPr sz="950" b="0" i="1" dirty="0" err="1">
                <a:solidFill>
                  <a:srgbClr val="667085"/>
                </a:solidFill>
                <a:latin typeface="Segoe UI"/>
              </a:rPr>
              <a:t>Connaissance</a:t>
            </a:r>
            <a:r>
              <a:rPr sz="950" b="0" i="1" dirty="0">
                <a:solidFill>
                  <a:srgbClr val="667085"/>
                </a:solidFill>
                <a:latin typeface="Segoe UI"/>
              </a:rPr>
              <a:t> -&gt; IA -&gt; Decision</a:t>
            </a:r>
          </a:p>
        </p:txBody>
      </p:sp>
      <p:sp>
        <p:nvSpPr>
          <p:cNvPr id="14" name="TextBox 13"/>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2/18</a:t>
            </a:r>
          </a:p>
        </p:txBody>
      </p:sp>
      <p:graphicFrame>
        <p:nvGraphicFramePr>
          <p:cNvPr id="28" name="Diagramme 27">
            <a:extLst>
              <a:ext uri="{FF2B5EF4-FFF2-40B4-BE49-F238E27FC236}">
                <a16:creationId xmlns:a16="http://schemas.microsoft.com/office/drawing/2014/main" id="{904FB47F-3B06-50F3-E9D5-BC5088428763}"/>
              </a:ext>
            </a:extLst>
          </p:cNvPr>
          <p:cNvGraphicFramePr/>
          <p:nvPr>
            <p:extLst>
              <p:ext uri="{D42A27DB-BD31-4B8C-83A1-F6EECF244321}">
                <p14:modId xmlns:p14="http://schemas.microsoft.com/office/powerpoint/2010/main" val="3266804048"/>
              </p:ext>
            </p:extLst>
          </p:nvPr>
        </p:nvGraphicFramePr>
        <p:xfrm>
          <a:off x="-420624" y="1503997"/>
          <a:ext cx="6702552" cy="49995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 7" descr=" SI TU DOIS UTILISER DES PERSONNES ILS DOIVENT ETRE de plusieurs orignine et doivent etres en panique ou st:Les données issues des conversations clients sont encore largement sous-exploitées dans le secteur bancaire. Les assistants bancaires traditionnels manquent souvent de sources fiables, de traçabilité et d'explicabilité dans les réponses fournies.Les échanges entre les clients et les services de support constituent une source riche d'informations pour les équipes métiers">
            <a:extLst>
              <a:ext uri="{FF2B5EF4-FFF2-40B4-BE49-F238E27FC236}">
                <a16:creationId xmlns:a16="http://schemas.microsoft.com/office/drawing/2014/main" id="{BBC46D00-61BD-D22C-B843-C0F29DD816F0}"/>
              </a:ext>
            </a:extLst>
          </p:cNvPr>
          <p:cNvPicPr>
            <a:picLocks noChangeAspect="1"/>
          </p:cNvPicPr>
          <p:nvPr/>
        </p:nvPicPr>
        <p:blipFill>
          <a:blip r:embed="rId7"/>
          <a:stretch>
            <a:fillRect/>
          </a:stretch>
        </p:blipFill>
        <p:spPr>
          <a:xfrm>
            <a:off x="6391656" y="960120"/>
            <a:ext cx="5800344" cy="57058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61FF-6E72-FC2E-E6CB-42C8CE8CA9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067D88-CE8F-B7FB-7EA3-1EF2A9F20609}"/>
              </a:ext>
            </a:extLst>
          </p:cNvPr>
          <p:cNvSpPr/>
          <p:nvPr/>
        </p:nvSpPr>
        <p:spPr>
          <a:xfrm>
            <a:off x="-1"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a:p>
            <a:pPr>
              <a:lnSpc>
                <a:spcPct val="120000"/>
              </a:lnSpc>
              <a:spcAft>
                <a:spcPts val="800"/>
              </a:spcAft>
            </a:pPr>
            <a:endParaRPr lang="fr-FR" dirty="0">
              <a:solidFill>
                <a:srgbClr val="1B2233"/>
              </a:solidFill>
              <a:latin typeface="Segoe UI"/>
            </a:endParaRPr>
          </a:p>
        </p:txBody>
      </p:sp>
      <p:sp>
        <p:nvSpPr>
          <p:cNvPr id="3" name="Rectangle 2">
            <a:extLst>
              <a:ext uri="{FF2B5EF4-FFF2-40B4-BE49-F238E27FC236}">
                <a16:creationId xmlns:a16="http://schemas.microsoft.com/office/drawing/2014/main" id="{907291D3-DA6E-BAA7-2D14-DF9C2F84678C}"/>
              </a:ext>
            </a:extLst>
          </p:cNvPr>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898A9CA2-4E47-775C-3828-ACE2CDAC0B04}"/>
              </a:ext>
            </a:extLst>
          </p:cNvPr>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5892AD4-8733-989E-58A2-E8185D77EC1E}"/>
              </a:ext>
            </a:extLst>
          </p:cNvPr>
          <p:cNvSpPr txBox="1"/>
          <p:nvPr/>
        </p:nvSpPr>
        <p:spPr>
          <a:xfrm>
            <a:off x="841248" y="54864"/>
            <a:ext cx="10515600" cy="292608"/>
          </a:xfrm>
          <a:prstGeom prst="rect">
            <a:avLst/>
          </a:prstGeom>
          <a:noFill/>
        </p:spPr>
        <p:txBody>
          <a:bodyPr wrap="square">
            <a:spAutoFit/>
          </a:bodyPr>
          <a:lstStyle/>
          <a:p>
            <a:pPr algn="l"/>
            <a:r>
              <a:rPr sz="1200" b="1" i="0" dirty="0">
                <a:solidFill>
                  <a:srgbClr val="D4AF37"/>
                </a:solidFill>
                <a:latin typeface="Segoe UI"/>
              </a:rPr>
              <a:t>CONTEXTE</a:t>
            </a:r>
          </a:p>
        </p:txBody>
      </p:sp>
      <p:sp>
        <p:nvSpPr>
          <p:cNvPr id="6" name="TextBox 5">
            <a:extLst>
              <a:ext uri="{FF2B5EF4-FFF2-40B4-BE49-F238E27FC236}">
                <a16:creationId xmlns:a16="http://schemas.microsoft.com/office/drawing/2014/main" id="{4EA36B2D-12A0-2AC2-71E0-2B64D6F6823F}"/>
              </a:ext>
            </a:extLst>
          </p:cNvPr>
          <p:cNvSpPr txBox="1"/>
          <p:nvPr/>
        </p:nvSpPr>
        <p:spPr>
          <a:xfrm>
            <a:off x="841248" y="338328"/>
            <a:ext cx="10515600" cy="548640"/>
          </a:xfrm>
          <a:prstGeom prst="rect">
            <a:avLst/>
          </a:prstGeom>
          <a:noFill/>
        </p:spPr>
        <p:txBody>
          <a:bodyPr wrap="square">
            <a:spAutoFit/>
          </a:bodyPr>
          <a:lstStyle/>
          <a:p>
            <a:pPr algn="l"/>
            <a:r>
              <a:rPr sz="2400" b="1" i="0" dirty="0" err="1">
                <a:solidFill>
                  <a:srgbClr val="FFFFFF"/>
                </a:solidFill>
                <a:latin typeface="Segoe UI"/>
              </a:rPr>
              <a:t>Pourquoi</a:t>
            </a:r>
            <a:r>
              <a:rPr sz="2400" b="1" i="0" dirty="0">
                <a:solidFill>
                  <a:srgbClr val="FFFFFF"/>
                </a:solidFill>
                <a:latin typeface="Segoe UI"/>
              </a:rPr>
              <a:t> AELON ?</a:t>
            </a:r>
          </a:p>
        </p:txBody>
      </p:sp>
      <p:sp>
        <p:nvSpPr>
          <p:cNvPr id="7" name="TextBox 6">
            <a:extLst>
              <a:ext uri="{FF2B5EF4-FFF2-40B4-BE49-F238E27FC236}">
                <a16:creationId xmlns:a16="http://schemas.microsoft.com/office/drawing/2014/main" id="{D6B3282E-B3A9-3250-D96A-D8EC27D0CDAC}"/>
              </a:ext>
            </a:extLst>
          </p:cNvPr>
          <p:cNvSpPr txBox="1"/>
          <p:nvPr/>
        </p:nvSpPr>
        <p:spPr>
          <a:xfrm>
            <a:off x="585216" y="2930405"/>
            <a:ext cx="5303520" cy="365760"/>
          </a:xfrm>
          <a:prstGeom prst="rect">
            <a:avLst/>
          </a:prstGeom>
          <a:noFill/>
        </p:spPr>
        <p:txBody>
          <a:bodyPr wrap="square">
            <a:spAutoFit/>
          </a:bodyPr>
          <a:lstStyle/>
          <a:p>
            <a:pPr algn="l"/>
            <a:r>
              <a:rPr lang="fr-FR" sz="1700" b="1" i="0" dirty="0">
                <a:solidFill>
                  <a:srgbClr val="0A3D91"/>
                </a:solidFill>
                <a:latin typeface="Segoe UI"/>
              </a:rPr>
              <a:t>Objectif</a:t>
            </a:r>
            <a:r>
              <a:rPr sz="1700" b="1" i="0" dirty="0">
                <a:solidFill>
                  <a:srgbClr val="0A3D91"/>
                </a:solidFill>
                <a:latin typeface="Segoe UI"/>
              </a:rPr>
              <a:t>s</a:t>
            </a:r>
          </a:p>
        </p:txBody>
      </p:sp>
      <p:sp>
        <p:nvSpPr>
          <p:cNvPr id="9" name="Rounded Rectangle 8">
            <a:extLst>
              <a:ext uri="{FF2B5EF4-FFF2-40B4-BE49-F238E27FC236}">
                <a16:creationId xmlns:a16="http://schemas.microsoft.com/office/drawing/2014/main" id="{6BE1903E-1D7C-552A-5AF9-CA76D4F568C8}"/>
              </a:ext>
            </a:extLst>
          </p:cNvPr>
          <p:cNvSpPr/>
          <p:nvPr/>
        </p:nvSpPr>
        <p:spPr>
          <a:xfrm>
            <a:off x="713232" y="1126395"/>
            <a:ext cx="10643616" cy="1625949"/>
          </a:xfrm>
          <a:prstGeom prst="roundRect">
            <a:avLst/>
          </a:prstGeom>
          <a:solidFill>
            <a:srgbClr val="FFFFFF"/>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21399F04-83D7-431E-4CAE-8794EF35C7B2}"/>
              </a:ext>
            </a:extLst>
          </p:cNvPr>
          <p:cNvSpPr txBox="1"/>
          <p:nvPr/>
        </p:nvSpPr>
        <p:spPr>
          <a:xfrm>
            <a:off x="1042416" y="1176944"/>
            <a:ext cx="4846320" cy="365760"/>
          </a:xfrm>
          <a:prstGeom prst="rect">
            <a:avLst/>
          </a:prstGeom>
          <a:noFill/>
        </p:spPr>
        <p:txBody>
          <a:bodyPr wrap="square">
            <a:spAutoFit/>
          </a:bodyPr>
          <a:lstStyle/>
          <a:p>
            <a:pPr algn="l"/>
            <a:r>
              <a:rPr sz="1500" b="1" i="0" dirty="0">
                <a:solidFill>
                  <a:srgbClr val="D4AF37"/>
                </a:solidFill>
                <a:latin typeface="Segoe UI"/>
              </a:rPr>
              <a:t>Question</a:t>
            </a:r>
          </a:p>
        </p:txBody>
      </p:sp>
      <p:sp>
        <p:nvSpPr>
          <p:cNvPr id="11" name="Rectangle 10">
            <a:extLst>
              <a:ext uri="{FF2B5EF4-FFF2-40B4-BE49-F238E27FC236}">
                <a16:creationId xmlns:a16="http://schemas.microsoft.com/office/drawing/2014/main" id="{4F8881AB-C7CE-1935-FA79-B1520FD58040}"/>
              </a:ext>
            </a:extLst>
          </p:cNvPr>
          <p:cNvSpPr/>
          <p:nvPr/>
        </p:nvSpPr>
        <p:spPr>
          <a:xfrm>
            <a:off x="841248" y="1343219"/>
            <a:ext cx="54864" cy="1130247"/>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70FEBE6-220C-77E2-A6E6-0778956AFDDF}"/>
              </a:ext>
            </a:extLst>
          </p:cNvPr>
          <p:cNvSpPr txBox="1"/>
          <p:nvPr/>
        </p:nvSpPr>
        <p:spPr>
          <a:xfrm>
            <a:off x="1526032" y="1379925"/>
            <a:ext cx="9824720" cy="1200329"/>
          </a:xfrm>
          <a:prstGeom prst="rect">
            <a:avLst/>
          </a:prstGeom>
          <a:noFill/>
        </p:spPr>
        <p:txBody>
          <a:bodyPr wrap="square">
            <a:spAutoFit/>
          </a:bodyPr>
          <a:lstStyle/>
          <a:p>
            <a:pPr algn="l"/>
            <a:r>
              <a:rPr lang="fr-FR" sz="1800" b="1" i="1" dirty="0">
                <a:solidFill>
                  <a:srgbClr val="0A3D91"/>
                </a:solidFill>
                <a:latin typeface="Segoe UI"/>
              </a:rPr>
              <a:t>Comment concevoir une plateforme de service après-vente bancaire capable d'assister efficacement les utilisateurs grâce à l'intelligence artificielle générative, tout en exploitant les conversations produites comme source d'aide à la décision et en garantissant l'évaluation continue des performances des agents intelligents ?</a:t>
            </a:r>
            <a:endParaRPr sz="1800" b="1" i="1" dirty="0">
              <a:solidFill>
                <a:srgbClr val="0A3D91"/>
              </a:solidFill>
              <a:latin typeface="Segoe UI"/>
            </a:endParaRPr>
          </a:p>
        </p:txBody>
      </p:sp>
      <p:sp>
        <p:nvSpPr>
          <p:cNvPr id="13" name="TextBox 12">
            <a:extLst>
              <a:ext uri="{FF2B5EF4-FFF2-40B4-BE49-F238E27FC236}">
                <a16:creationId xmlns:a16="http://schemas.microsoft.com/office/drawing/2014/main" id="{DC56ECB4-A703-622D-6FD0-5EBF6090B3D1}"/>
              </a:ext>
            </a:extLst>
          </p:cNvPr>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4" name="TextBox 13">
            <a:extLst>
              <a:ext uri="{FF2B5EF4-FFF2-40B4-BE49-F238E27FC236}">
                <a16:creationId xmlns:a16="http://schemas.microsoft.com/office/drawing/2014/main" id="{8641B46F-98EB-54DD-F206-4FE162324A86}"/>
              </a:ext>
            </a:extLst>
          </p:cNvPr>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2/18</a:t>
            </a:r>
          </a:p>
        </p:txBody>
      </p:sp>
      <p:graphicFrame>
        <p:nvGraphicFramePr>
          <p:cNvPr id="8" name="Diagramme 7">
            <a:extLst>
              <a:ext uri="{FF2B5EF4-FFF2-40B4-BE49-F238E27FC236}">
                <a16:creationId xmlns:a16="http://schemas.microsoft.com/office/drawing/2014/main" id="{9F13F5E1-F2B6-7DBE-3082-C06237ECDFF6}"/>
              </a:ext>
            </a:extLst>
          </p:cNvPr>
          <p:cNvGraphicFramePr/>
          <p:nvPr>
            <p:extLst>
              <p:ext uri="{D42A27DB-BD31-4B8C-83A1-F6EECF244321}">
                <p14:modId xmlns:p14="http://schemas.microsoft.com/office/powerpoint/2010/main" val="1810151264"/>
              </p:ext>
            </p:extLst>
          </p:nvPr>
        </p:nvGraphicFramePr>
        <p:xfrm>
          <a:off x="1658620" y="3259116"/>
          <a:ext cx="9518904" cy="3260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5" name="Groupe 14">
            <a:extLst>
              <a:ext uri="{FF2B5EF4-FFF2-40B4-BE49-F238E27FC236}">
                <a16:creationId xmlns:a16="http://schemas.microsoft.com/office/drawing/2014/main" id="{DCEA277B-89D9-B78B-0BB3-53091635CEB9}"/>
              </a:ext>
            </a:extLst>
          </p:cNvPr>
          <p:cNvGrpSpPr/>
          <p:nvPr/>
        </p:nvGrpSpPr>
        <p:grpSpPr>
          <a:xfrm>
            <a:off x="5209617" y="4206769"/>
            <a:ext cx="2416909" cy="2119361"/>
            <a:chOff x="6798719" y="978166"/>
            <a:chExt cx="2416909" cy="2119361"/>
          </a:xfrm>
        </p:grpSpPr>
        <p:sp>
          <p:nvSpPr>
            <p:cNvPr id="16" name="Rectangle : coins arrondis 15">
              <a:extLst>
                <a:ext uri="{FF2B5EF4-FFF2-40B4-BE49-F238E27FC236}">
                  <a16:creationId xmlns:a16="http://schemas.microsoft.com/office/drawing/2014/main" id="{AE003352-4318-6F50-DFA3-04CCF736E758}"/>
                </a:ext>
              </a:extLst>
            </p:cNvPr>
            <p:cNvSpPr/>
            <p:nvPr/>
          </p:nvSpPr>
          <p:spPr>
            <a:xfrm>
              <a:off x="6798719" y="978166"/>
              <a:ext cx="2416909" cy="2119361"/>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fr-FR"/>
            </a:p>
          </p:txBody>
        </p:sp>
        <p:sp>
          <p:nvSpPr>
            <p:cNvPr id="17" name="Rectangle : coins arrondis 4">
              <a:extLst>
                <a:ext uri="{FF2B5EF4-FFF2-40B4-BE49-F238E27FC236}">
                  <a16:creationId xmlns:a16="http://schemas.microsoft.com/office/drawing/2014/main" id="{75AFD193-625C-CE13-A037-E959A4A2E75C}"/>
                </a:ext>
              </a:extLst>
            </p:cNvPr>
            <p:cNvSpPr txBox="1"/>
            <p:nvPr/>
          </p:nvSpPr>
          <p:spPr>
            <a:xfrm>
              <a:off x="6860793" y="1040240"/>
              <a:ext cx="2292761" cy="199521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0" tIns="123825" rIns="165100" bIns="123825" numCol="1" spcCol="1270" anchor="ctr" anchorCtr="0">
              <a:noAutofit/>
            </a:bodyPr>
            <a:lstStyle/>
            <a:p>
              <a:pPr marL="0" lvl="0" indent="0" algn="ctr" defTabSz="2889250">
                <a:lnSpc>
                  <a:spcPct val="90000"/>
                </a:lnSpc>
                <a:spcBef>
                  <a:spcPct val="0"/>
                </a:spcBef>
                <a:spcAft>
                  <a:spcPct val="35000"/>
                </a:spcAft>
                <a:buNone/>
              </a:pPr>
              <a:endParaRPr lang="fr-FR" sz="6500" kern="1200" dirty="0"/>
            </a:p>
          </p:txBody>
        </p:sp>
      </p:grpSp>
    </p:spTree>
    <p:extLst>
      <p:ext uri="{BB962C8B-B14F-4D97-AF65-F5344CB8AC3E}">
        <p14:creationId xmlns:p14="http://schemas.microsoft.com/office/powerpoint/2010/main" val="35341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t>y</a:t>
            </a:r>
            <a:endParaRPr dirty="0"/>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FIL CONDUCTEUR</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De la donnee a l'IA</a:t>
            </a:r>
          </a:p>
        </p:txBody>
      </p:sp>
      <p:sp>
        <p:nvSpPr>
          <p:cNvPr id="7" name="Rounded Rectangle 6"/>
          <p:cNvSpPr/>
          <p:nvPr/>
        </p:nvSpPr>
        <p:spPr>
          <a:xfrm>
            <a:off x="3992727" y="1234440"/>
            <a:ext cx="4206240" cy="475488"/>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Donnees brutes</a:t>
            </a:r>
          </a:p>
        </p:txBody>
      </p:sp>
      <p:sp>
        <p:nvSpPr>
          <p:cNvPr id="8" name="Down Arrow 7"/>
          <p:cNvSpPr/>
          <p:nvPr/>
        </p:nvSpPr>
        <p:spPr>
          <a:xfrm>
            <a:off x="5986119" y="1709928"/>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992727" y="1837944"/>
            <a:ext cx="4206240" cy="475488"/>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233"/>
                </a:solidFill>
              </a:rPr>
              <a:t>Data Engineering</a:t>
            </a:r>
          </a:p>
        </p:txBody>
      </p:sp>
      <p:sp>
        <p:nvSpPr>
          <p:cNvPr id="10" name="Down Arrow 9"/>
          <p:cNvSpPr/>
          <p:nvPr/>
        </p:nvSpPr>
        <p:spPr>
          <a:xfrm>
            <a:off x="5986119" y="2313432"/>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92727" y="2441448"/>
            <a:ext cx="4206240" cy="475488"/>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Base de connaissance</a:t>
            </a:r>
          </a:p>
        </p:txBody>
      </p:sp>
      <p:sp>
        <p:nvSpPr>
          <p:cNvPr id="12" name="Down Arrow 11"/>
          <p:cNvSpPr/>
          <p:nvPr/>
        </p:nvSpPr>
        <p:spPr>
          <a:xfrm>
            <a:off x="5986119" y="2916936"/>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992727" y="3044952"/>
            <a:ext cx="4206240" cy="475488"/>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233"/>
                </a:solidFill>
              </a:rPr>
              <a:t>RAG</a:t>
            </a:r>
          </a:p>
        </p:txBody>
      </p:sp>
      <p:sp>
        <p:nvSpPr>
          <p:cNvPr id="14" name="Down Arrow 13"/>
          <p:cNvSpPr/>
          <p:nvPr/>
        </p:nvSpPr>
        <p:spPr>
          <a:xfrm>
            <a:off x="5986119" y="3520440"/>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992727" y="3648456"/>
            <a:ext cx="4206240" cy="475488"/>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IA Generative</a:t>
            </a:r>
          </a:p>
        </p:txBody>
      </p:sp>
      <p:sp>
        <p:nvSpPr>
          <p:cNvPr id="16" name="Down Arrow 15"/>
          <p:cNvSpPr/>
          <p:nvPr/>
        </p:nvSpPr>
        <p:spPr>
          <a:xfrm>
            <a:off x="5986119" y="4123944"/>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992727" y="4251960"/>
            <a:ext cx="4206240" cy="475488"/>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233"/>
                </a:solidFill>
              </a:rPr>
              <a:t>Multi-Agents</a:t>
            </a:r>
          </a:p>
        </p:txBody>
      </p:sp>
      <p:sp>
        <p:nvSpPr>
          <p:cNvPr id="18" name="Down Arrow 17"/>
          <p:cNvSpPr/>
          <p:nvPr/>
        </p:nvSpPr>
        <p:spPr>
          <a:xfrm>
            <a:off x="5986119" y="4727448"/>
            <a:ext cx="219456" cy="128016"/>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992727" y="4855464"/>
            <a:ext cx="4206240" cy="475488"/>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Aide a la decision</a:t>
            </a:r>
          </a:p>
        </p:txBody>
      </p:sp>
      <p:sp>
        <p:nvSpPr>
          <p:cNvPr id="20" name="Rectangle 19"/>
          <p:cNvSpPr/>
          <p:nvPr/>
        </p:nvSpPr>
        <p:spPr>
          <a:xfrm>
            <a:off x="2103120" y="6080760"/>
            <a:ext cx="54864" cy="50292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31720" y="6080760"/>
            <a:ext cx="7726679" cy="502920"/>
          </a:xfrm>
          <a:prstGeom prst="rect">
            <a:avLst/>
          </a:prstGeom>
          <a:noFill/>
        </p:spPr>
        <p:txBody>
          <a:bodyPr wrap="square">
            <a:spAutoFit/>
          </a:bodyPr>
          <a:lstStyle/>
          <a:p>
            <a:pPr algn="l"/>
            <a:r>
              <a:rPr sz="1700" b="1" i="1">
                <a:solidFill>
                  <a:srgbClr val="0A3D91"/>
                </a:solidFill>
                <a:latin typeface="Segoe UI"/>
              </a:rPr>
              <a:t>L'IA n'est que la derniere brique. Tout commence par la donnee.</a:t>
            </a:r>
          </a:p>
        </p:txBody>
      </p:sp>
      <p:sp>
        <p:nvSpPr>
          <p:cNvPr id="22" name="TextBox 21"/>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23" name="TextBox 22"/>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3/18</a:t>
            </a:r>
          </a:p>
        </p:txBody>
      </p:sp>
      <p:sp>
        <p:nvSpPr>
          <p:cNvPr id="24" name="ZoneTexte 23">
            <a:extLst>
              <a:ext uri="{FF2B5EF4-FFF2-40B4-BE49-F238E27FC236}">
                <a16:creationId xmlns:a16="http://schemas.microsoft.com/office/drawing/2014/main" id="{27E05A02-2742-BC28-20CD-3EA30F3CDA18}"/>
              </a:ext>
            </a:extLst>
          </p:cNvPr>
          <p:cNvSpPr txBox="1"/>
          <p:nvPr/>
        </p:nvSpPr>
        <p:spPr>
          <a:xfrm>
            <a:off x="1084934" y="1527048"/>
            <a:ext cx="2700681" cy="4247317"/>
          </a:xfrm>
          <a:prstGeom prst="rect">
            <a:avLst/>
          </a:prstGeom>
          <a:noFill/>
        </p:spPr>
        <p:txBody>
          <a:bodyPr wrap="square" rtlCol="0">
            <a:spAutoFit/>
          </a:bodyPr>
          <a:lstStyle/>
          <a:p>
            <a:r>
              <a:rPr lang="fr-FR" dirty="0"/>
              <a:t>Et pour cela nous </a:t>
            </a:r>
            <a:r>
              <a:rPr lang="fr-FR" dirty="0" err="1"/>
              <a:t>avont</a:t>
            </a:r>
            <a:r>
              <a:rPr lang="fr-FR" dirty="0"/>
              <a:t> mis en place un système qui combine </a:t>
            </a:r>
            <a:r>
              <a:rPr lang="fr-FR" dirty="0" err="1"/>
              <a:t>dataengenieur</a:t>
            </a:r>
            <a:r>
              <a:rPr lang="fr-FR" dirty="0"/>
              <a:t> et IA </a:t>
            </a:r>
            <a:r>
              <a:rPr lang="fr-FR" dirty="0" err="1"/>
              <a:t>engeieurind</a:t>
            </a:r>
            <a:r>
              <a:rPr lang="fr-FR" dirty="0"/>
              <a:t>, il sera question ici de COMLLECTRE LER LES DONNER QUI SERONT ENSUITE TRAVANSFORMERET ET STOCKER DANS LA COUCHE GOLD QUI NOUS SERVIRA ENSUIRTE D4ANALYS POUR LA COUCHE METIER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82644"/>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VISION</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Vision globale d'AELON</a:t>
            </a:r>
          </a:p>
        </p:txBody>
      </p:sp>
      <p:sp>
        <p:nvSpPr>
          <p:cNvPr id="16" name="Rectangle 15"/>
          <p:cNvSpPr/>
          <p:nvPr/>
        </p:nvSpPr>
        <p:spPr>
          <a:xfrm>
            <a:off x="368808" y="6263640"/>
            <a:ext cx="54864" cy="54864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6239" y="6126132"/>
            <a:ext cx="11795455" cy="677108"/>
          </a:xfrm>
          <a:prstGeom prst="rect">
            <a:avLst/>
          </a:prstGeom>
          <a:noFill/>
        </p:spPr>
        <p:txBody>
          <a:bodyPr wrap="square">
            <a:spAutoFit/>
          </a:bodyPr>
          <a:lstStyle/>
          <a:p>
            <a:pPr algn="l"/>
            <a:r>
              <a:rPr sz="1900" b="1" i="1" dirty="0">
                <a:solidFill>
                  <a:srgbClr val="0A3D91"/>
                </a:solidFill>
                <a:latin typeface="Segoe UI"/>
              </a:rPr>
              <a:t>AELON </a:t>
            </a:r>
            <a:r>
              <a:rPr sz="1900" b="1" i="1" dirty="0" err="1">
                <a:solidFill>
                  <a:srgbClr val="0A3D91"/>
                </a:solidFill>
                <a:latin typeface="Segoe UI"/>
              </a:rPr>
              <a:t>n'est</a:t>
            </a:r>
            <a:r>
              <a:rPr sz="1900" b="1" i="1" dirty="0">
                <a:solidFill>
                  <a:srgbClr val="0A3D91"/>
                </a:solidFill>
                <a:latin typeface="Segoe UI"/>
              </a:rPr>
              <a:t> pas un chatbot </a:t>
            </a:r>
            <a:r>
              <a:rPr sz="1900" b="1" i="1" dirty="0" err="1">
                <a:solidFill>
                  <a:srgbClr val="0A3D91"/>
                </a:solidFill>
                <a:latin typeface="Segoe UI"/>
              </a:rPr>
              <a:t>mais</a:t>
            </a:r>
            <a:r>
              <a:rPr sz="1900" b="1" i="1" dirty="0">
                <a:solidFill>
                  <a:srgbClr val="0A3D91"/>
                </a:solidFill>
                <a:latin typeface="Segoe UI"/>
              </a:rPr>
              <a:t> </a:t>
            </a:r>
            <a:r>
              <a:rPr sz="1900" b="1" i="1" dirty="0" err="1">
                <a:solidFill>
                  <a:srgbClr val="0A3D91"/>
                </a:solidFill>
                <a:latin typeface="Segoe UI"/>
              </a:rPr>
              <a:t>une</a:t>
            </a:r>
            <a:r>
              <a:rPr sz="1900" b="1" i="1" dirty="0">
                <a:solidFill>
                  <a:srgbClr val="0A3D91"/>
                </a:solidFill>
                <a:latin typeface="Segoe UI"/>
              </a:rPr>
              <a:t> </a:t>
            </a:r>
            <a:r>
              <a:rPr sz="1900" b="1" i="1" dirty="0" err="1">
                <a:solidFill>
                  <a:srgbClr val="0A3D91"/>
                </a:solidFill>
                <a:latin typeface="Segoe UI"/>
              </a:rPr>
              <a:t>plateforme</a:t>
            </a:r>
            <a:r>
              <a:rPr sz="1900" b="1" i="1" dirty="0">
                <a:solidFill>
                  <a:srgbClr val="0A3D91"/>
                </a:solidFill>
                <a:latin typeface="Segoe UI"/>
              </a:rPr>
              <a:t> complete</a:t>
            </a:r>
            <a:r>
              <a:rPr lang="fr-FR" sz="1900" b="1" i="1" dirty="0">
                <a:solidFill>
                  <a:srgbClr val="0A3D91"/>
                </a:solidFill>
                <a:latin typeface="Segoe UI"/>
              </a:rPr>
              <a:t>, Chaque conversation nourrit le pilotage analytique, la gouvernance IA et l'</a:t>
            </a:r>
            <a:r>
              <a:rPr lang="fr-FR" sz="1900" b="1" i="1" dirty="0" err="1">
                <a:solidFill>
                  <a:srgbClr val="0A3D91"/>
                </a:solidFill>
                <a:latin typeface="Segoe UI"/>
              </a:rPr>
              <a:t>evaluation</a:t>
            </a:r>
            <a:r>
              <a:rPr lang="fr-FR" sz="1900" b="1" i="1" dirty="0">
                <a:solidFill>
                  <a:srgbClr val="0A3D91"/>
                </a:solidFill>
                <a:latin typeface="Segoe UI"/>
              </a:rPr>
              <a:t> continue.</a:t>
            </a:r>
            <a:endParaRPr sz="1900" b="1" i="1" dirty="0">
              <a:solidFill>
                <a:srgbClr val="0A3D91"/>
              </a:solidFill>
              <a:latin typeface="Segoe UI"/>
            </a:endParaRPr>
          </a:p>
        </p:txBody>
      </p:sp>
      <p:sp>
        <p:nvSpPr>
          <p:cNvPr id="20" name="TextBox 19"/>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4/18</a:t>
            </a:r>
          </a:p>
        </p:txBody>
      </p:sp>
      <p:pic>
        <p:nvPicPr>
          <p:cNvPr id="21" name="Image 20">
            <a:extLst>
              <a:ext uri="{FF2B5EF4-FFF2-40B4-BE49-F238E27FC236}">
                <a16:creationId xmlns:a16="http://schemas.microsoft.com/office/drawing/2014/main" id="{83B5FB20-37C7-3758-8069-B2548CD7D581}"/>
              </a:ext>
            </a:extLst>
          </p:cNvPr>
          <p:cNvPicPr>
            <a:picLocks noChangeAspect="1"/>
          </p:cNvPicPr>
          <p:nvPr/>
        </p:nvPicPr>
        <p:blipFill>
          <a:blip r:embed="rId2"/>
          <a:stretch>
            <a:fillRect/>
          </a:stretch>
        </p:blipFill>
        <p:spPr>
          <a:xfrm>
            <a:off x="283464" y="969264"/>
            <a:ext cx="11512296" cy="51478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144"/>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DATA PLATFORM</a:t>
            </a:r>
          </a:p>
        </p:txBody>
      </p:sp>
      <p:sp>
        <p:nvSpPr>
          <p:cNvPr id="6" name="TextBox 5"/>
          <p:cNvSpPr txBox="1"/>
          <p:nvPr/>
        </p:nvSpPr>
        <p:spPr>
          <a:xfrm>
            <a:off x="841248" y="338328"/>
            <a:ext cx="10515600" cy="461665"/>
          </a:xfrm>
          <a:prstGeom prst="rect">
            <a:avLst/>
          </a:prstGeom>
          <a:noFill/>
        </p:spPr>
        <p:txBody>
          <a:bodyPr wrap="square">
            <a:spAutoFit/>
          </a:bodyPr>
          <a:lstStyle/>
          <a:p>
            <a:r>
              <a:rPr sz="2400" b="1" i="0" dirty="0">
                <a:solidFill>
                  <a:srgbClr val="FFFFFF"/>
                </a:solidFill>
                <a:latin typeface="Segoe UI"/>
              </a:rPr>
              <a:t>Architecture </a:t>
            </a:r>
            <a:r>
              <a:rPr sz="2400" b="1" i="0" dirty="0" err="1">
                <a:solidFill>
                  <a:srgbClr val="FFFFFF"/>
                </a:solidFill>
                <a:latin typeface="Segoe UI"/>
              </a:rPr>
              <a:t>medaillon</a:t>
            </a:r>
            <a:r>
              <a:rPr lang="fr-FR" sz="2400" b="1" dirty="0">
                <a:solidFill>
                  <a:srgbClr val="FFFFFF"/>
                </a:solidFill>
                <a:latin typeface="Segoe UI"/>
              </a:rPr>
              <a:t> – Architecture DATA</a:t>
            </a:r>
            <a:endParaRPr sz="2400" b="1" i="0" dirty="0">
              <a:solidFill>
                <a:srgbClr val="FFFFFF"/>
              </a:solidFill>
              <a:latin typeface="Segoe UI"/>
            </a:endParaRPr>
          </a:p>
        </p:txBody>
      </p:sp>
      <p:sp>
        <p:nvSpPr>
          <p:cNvPr id="31" name="TextBox 30"/>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32" name="TextBox 31"/>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5/18</a:t>
            </a:r>
          </a:p>
        </p:txBody>
      </p:sp>
      <p:pic>
        <p:nvPicPr>
          <p:cNvPr id="33" name="Image 32">
            <a:extLst>
              <a:ext uri="{FF2B5EF4-FFF2-40B4-BE49-F238E27FC236}">
                <a16:creationId xmlns:a16="http://schemas.microsoft.com/office/drawing/2014/main" id="{3567D687-877E-2654-8B10-158544136F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304" y="960120"/>
            <a:ext cx="11951208" cy="5568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CC4CF-9042-2860-36FE-A7477836131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BA568-EE0F-90BD-F77E-0D12EB833F85}"/>
              </a:ext>
            </a:extLst>
          </p:cNvPr>
          <p:cNvSpPr/>
          <p:nvPr/>
        </p:nvSpPr>
        <p:spPr>
          <a:xfrm>
            <a:off x="0" y="-54864"/>
            <a:ext cx="1235491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46E88D1-50F3-A104-B4C5-936D97E35703}"/>
              </a:ext>
            </a:extLst>
          </p:cNvPr>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E3BDC1A1-17B2-CA0B-4984-459D9D528F85}"/>
              </a:ext>
            </a:extLst>
          </p:cNvPr>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E226166-3258-DDF6-7A8A-A624EA471EFF}"/>
              </a:ext>
            </a:extLst>
          </p:cNvPr>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DATA PLATFORM</a:t>
            </a:r>
          </a:p>
        </p:txBody>
      </p:sp>
      <p:sp>
        <p:nvSpPr>
          <p:cNvPr id="6" name="TextBox 5">
            <a:extLst>
              <a:ext uri="{FF2B5EF4-FFF2-40B4-BE49-F238E27FC236}">
                <a16:creationId xmlns:a16="http://schemas.microsoft.com/office/drawing/2014/main" id="{3C374603-96CB-FC0B-DE09-6BDA28695C1E}"/>
              </a:ext>
            </a:extLst>
          </p:cNvPr>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Architecture medaillon</a:t>
            </a:r>
          </a:p>
        </p:txBody>
      </p:sp>
      <p:sp>
        <p:nvSpPr>
          <p:cNvPr id="7" name="Rounded Rectangle 6">
            <a:extLst>
              <a:ext uri="{FF2B5EF4-FFF2-40B4-BE49-F238E27FC236}">
                <a16:creationId xmlns:a16="http://schemas.microsoft.com/office/drawing/2014/main" id="{CEE48CF8-A752-1074-07FE-8061A5590F18}"/>
              </a:ext>
            </a:extLst>
          </p:cNvPr>
          <p:cNvSpPr/>
          <p:nvPr/>
        </p:nvSpPr>
        <p:spPr>
          <a:xfrm>
            <a:off x="457200" y="1234440"/>
            <a:ext cx="1489165" cy="68580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Sources</a:t>
            </a:r>
          </a:p>
        </p:txBody>
      </p:sp>
      <p:sp>
        <p:nvSpPr>
          <p:cNvPr id="8" name="Right Arrow 7">
            <a:extLst>
              <a:ext uri="{FF2B5EF4-FFF2-40B4-BE49-F238E27FC236}">
                <a16:creationId xmlns:a16="http://schemas.microsoft.com/office/drawing/2014/main" id="{696FBEE3-FEC2-946A-6181-4EC2DB84AA66}"/>
              </a:ext>
            </a:extLst>
          </p:cNvPr>
          <p:cNvSpPr/>
          <p:nvPr/>
        </p:nvSpPr>
        <p:spPr>
          <a:xfrm>
            <a:off x="1946365"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1E3DA301-A1F9-9230-4E84-83569C52BC3B}"/>
              </a:ext>
            </a:extLst>
          </p:cNvPr>
          <p:cNvSpPr/>
          <p:nvPr/>
        </p:nvSpPr>
        <p:spPr>
          <a:xfrm>
            <a:off x="2083525" y="1234440"/>
            <a:ext cx="1489165" cy="68580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1B2233"/>
                </a:solidFill>
              </a:rPr>
              <a:t>Bronze</a:t>
            </a:r>
          </a:p>
        </p:txBody>
      </p:sp>
      <p:sp>
        <p:nvSpPr>
          <p:cNvPr id="10" name="Right Arrow 9">
            <a:extLst>
              <a:ext uri="{FF2B5EF4-FFF2-40B4-BE49-F238E27FC236}">
                <a16:creationId xmlns:a16="http://schemas.microsoft.com/office/drawing/2014/main" id="{F2AB5ADD-31A3-F7C5-FF33-86D5E84485BC}"/>
              </a:ext>
            </a:extLst>
          </p:cNvPr>
          <p:cNvSpPr/>
          <p:nvPr/>
        </p:nvSpPr>
        <p:spPr>
          <a:xfrm>
            <a:off x="3572691"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69351AAB-FBF6-566C-F67B-D4F9C2703E29}"/>
              </a:ext>
            </a:extLst>
          </p:cNvPr>
          <p:cNvSpPr/>
          <p:nvPr/>
        </p:nvSpPr>
        <p:spPr>
          <a:xfrm>
            <a:off x="3709851" y="1234440"/>
            <a:ext cx="1489165" cy="68580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rPr>
              <a:t>Silver</a:t>
            </a:r>
          </a:p>
        </p:txBody>
      </p:sp>
      <p:sp>
        <p:nvSpPr>
          <p:cNvPr id="12" name="Right Arrow 11">
            <a:extLst>
              <a:ext uri="{FF2B5EF4-FFF2-40B4-BE49-F238E27FC236}">
                <a16:creationId xmlns:a16="http://schemas.microsoft.com/office/drawing/2014/main" id="{0AA9BA68-9D57-59F6-22E1-E32962EF41FB}"/>
              </a:ext>
            </a:extLst>
          </p:cNvPr>
          <p:cNvSpPr/>
          <p:nvPr/>
        </p:nvSpPr>
        <p:spPr>
          <a:xfrm>
            <a:off x="5199017"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a:extLst>
              <a:ext uri="{FF2B5EF4-FFF2-40B4-BE49-F238E27FC236}">
                <a16:creationId xmlns:a16="http://schemas.microsoft.com/office/drawing/2014/main" id="{B85BDA08-B53C-1B54-C31D-DFEA17E6DBBA}"/>
              </a:ext>
            </a:extLst>
          </p:cNvPr>
          <p:cNvSpPr/>
          <p:nvPr/>
        </p:nvSpPr>
        <p:spPr>
          <a:xfrm>
            <a:off x="5336177" y="1234440"/>
            <a:ext cx="1489165" cy="68580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1B2233"/>
                </a:solidFill>
              </a:rPr>
              <a:t>Gold</a:t>
            </a:r>
          </a:p>
        </p:txBody>
      </p:sp>
      <p:sp>
        <p:nvSpPr>
          <p:cNvPr id="14" name="Right Arrow 13">
            <a:extLst>
              <a:ext uri="{FF2B5EF4-FFF2-40B4-BE49-F238E27FC236}">
                <a16:creationId xmlns:a16="http://schemas.microsoft.com/office/drawing/2014/main" id="{A0EE442C-EB2F-A946-1841-E9CA36BAD66E}"/>
              </a:ext>
            </a:extLst>
          </p:cNvPr>
          <p:cNvSpPr/>
          <p:nvPr/>
        </p:nvSpPr>
        <p:spPr>
          <a:xfrm>
            <a:off x="6825342"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94BD7C8F-3309-C7EA-E6C4-95B0CEB4C1D5}"/>
              </a:ext>
            </a:extLst>
          </p:cNvPr>
          <p:cNvSpPr/>
          <p:nvPr/>
        </p:nvSpPr>
        <p:spPr>
          <a:xfrm>
            <a:off x="6962502" y="1234440"/>
            <a:ext cx="1489165" cy="68580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Em</a:t>
            </a:r>
            <a:r>
              <a:rPr lang="fr-FR" sz="1100" b="1" dirty="0">
                <a:solidFill>
                  <a:srgbClr val="FFFFFF"/>
                </a:solidFill>
              </a:rPr>
              <a:t>b</a:t>
            </a:r>
            <a:r>
              <a:rPr sz="1100" b="1" dirty="0" err="1">
                <a:solidFill>
                  <a:srgbClr val="FFFFFF"/>
                </a:solidFill>
              </a:rPr>
              <a:t>eddings</a:t>
            </a:r>
            <a:endParaRPr sz="1100" b="1" dirty="0">
              <a:solidFill>
                <a:srgbClr val="FFFFFF"/>
              </a:solidFill>
            </a:endParaRPr>
          </a:p>
        </p:txBody>
      </p:sp>
      <p:sp>
        <p:nvSpPr>
          <p:cNvPr id="16" name="Right Arrow 15">
            <a:extLst>
              <a:ext uri="{FF2B5EF4-FFF2-40B4-BE49-F238E27FC236}">
                <a16:creationId xmlns:a16="http://schemas.microsoft.com/office/drawing/2014/main" id="{710DA68E-2DC4-9095-A557-D90FBD7BD7D3}"/>
              </a:ext>
            </a:extLst>
          </p:cNvPr>
          <p:cNvSpPr/>
          <p:nvPr/>
        </p:nvSpPr>
        <p:spPr>
          <a:xfrm>
            <a:off x="8451668"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C760C849-E1F9-190E-A5E7-949F216F7F73}"/>
              </a:ext>
            </a:extLst>
          </p:cNvPr>
          <p:cNvSpPr/>
          <p:nvPr/>
        </p:nvSpPr>
        <p:spPr>
          <a:xfrm>
            <a:off x="8588828" y="1234440"/>
            <a:ext cx="1489165" cy="68580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1B2233"/>
                </a:solidFill>
              </a:rPr>
              <a:t>Vector Search</a:t>
            </a:r>
          </a:p>
        </p:txBody>
      </p:sp>
      <p:sp>
        <p:nvSpPr>
          <p:cNvPr id="18" name="Right Arrow 17">
            <a:extLst>
              <a:ext uri="{FF2B5EF4-FFF2-40B4-BE49-F238E27FC236}">
                <a16:creationId xmlns:a16="http://schemas.microsoft.com/office/drawing/2014/main" id="{44432A96-53E1-2069-8DAE-AA82B50FD786}"/>
              </a:ext>
            </a:extLst>
          </p:cNvPr>
          <p:cNvSpPr/>
          <p:nvPr/>
        </p:nvSpPr>
        <p:spPr>
          <a:xfrm>
            <a:off x="10077994" y="144018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a:extLst>
              <a:ext uri="{FF2B5EF4-FFF2-40B4-BE49-F238E27FC236}">
                <a16:creationId xmlns:a16="http://schemas.microsoft.com/office/drawing/2014/main" id="{C5E1CEC8-5751-7500-6DD8-3F3782808903}"/>
              </a:ext>
            </a:extLst>
          </p:cNvPr>
          <p:cNvSpPr/>
          <p:nvPr/>
        </p:nvSpPr>
        <p:spPr>
          <a:xfrm>
            <a:off x="10215154" y="1234440"/>
            <a:ext cx="1489165" cy="68580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FFFFFF"/>
                </a:solidFill>
              </a:rPr>
              <a:t>RAG</a:t>
            </a:r>
          </a:p>
        </p:txBody>
      </p:sp>
      <p:sp>
        <p:nvSpPr>
          <p:cNvPr id="20" name="Rounded Rectangle 19">
            <a:extLst>
              <a:ext uri="{FF2B5EF4-FFF2-40B4-BE49-F238E27FC236}">
                <a16:creationId xmlns:a16="http://schemas.microsoft.com/office/drawing/2014/main" id="{7F7D8259-42CD-FA29-9B6C-397FEAD41C4B}"/>
              </a:ext>
            </a:extLst>
          </p:cNvPr>
          <p:cNvSpPr/>
          <p:nvPr/>
        </p:nvSpPr>
        <p:spPr>
          <a:xfrm>
            <a:off x="548640" y="2331720"/>
            <a:ext cx="3566160" cy="50292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Bronze</a:t>
            </a:r>
          </a:p>
        </p:txBody>
      </p:sp>
      <p:sp>
        <p:nvSpPr>
          <p:cNvPr id="21" name="Rectangle 20">
            <a:extLst>
              <a:ext uri="{FF2B5EF4-FFF2-40B4-BE49-F238E27FC236}">
                <a16:creationId xmlns:a16="http://schemas.microsoft.com/office/drawing/2014/main" id="{9BB42F07-62A1-46D5-0EEC-D179F658B237}"/>
              </a:ext>
            </a:extLst>
          </p:cNvPr>
          <p:cNvSpPr/>
          <p:nvPr/>
        </p:nvSpPr>
        <p:spPr>
          <a:xfrm>
            <a:off x="548640" y="2834640"/>
            <a:ext cx="3566160" cy="1929384"/>
          </a:xfrm>
          <a:prstGeom prst="rect">
            <a:avLst/>
          </a:prstGeom>
          <a:solidFill>
            <a:srgbClr val="FFFFFF"/>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2D7E0C4-46EA-62EA-918C-2351C0A99134}"/>
              </a:ext>
            </a:extLst>
          </p:cNvPr>
          <p:cNvSpPr txBox="1"/>
          <p:nvPr/>
        </p:nvSpPr>
        <p:spPr>
          <a:xfrm>
            <a:off x="731520" y="3017520"/>
            <a:ext cx="3200400" cy="738664"/>
          </a:xfrm>
          <a:prstGeom prst="rect">
            <a:avLst/>
          </a:prstGeom>
          <a:noFill/>
        </p:spPr>
        <p:txBody>
          <a:bodyPr wrap="square">
            <a:spAutoFit/>
          </a:bodyPr>
          <a:lstStyle/>
          <a:p>
            <a:r>
              <a:rPr lang="fr-FR" sz="1400" b="1" dirty="0" err="1">
                <a:solidFill>
                  <a:srgbClr val="1B2233"/>
                </a:solidFill>
              </a:rPr>
              <a:t>bronze_documents</a:t>
            </a:r>
            <a:r>
              <a:rPr lang="fr-FR" sz="1400" b="1" dirty="0">
                <a:solidFill>
                  <a:srgbClr val="1B2233"/>
                </a:solidFill>
              </a:rPr>
              <a:t> : </a:t>
            </a:r>
            <a:r>
              <a:rPr lang="fr-FR" sz="1400" dirty="0">
                <a:solidFill>
                  <a:srgbClr val="1B2233"/>
                </a:solidFill>
              </a:rPr>
              <a:t>Ingestion des documents bruts et </a:t>
            </a:r>
            <a:r>
              <a:rPr lang="fr-FR" sz="1400" dirty="0" err="1">
                <a:solidFill>
                  <a:srgbClr val="1B2233"/>
                </a:solidFill>
              </a:rPr>
              <a:t>tracabilite</a:t>
            </a:r>
            <a:r>
              <a:rPr lang="fr-FR" sz="1400" dirty="0">
                <a:solidFill>
                  <a:srgbClr val="1B2233"/>
                </a:solidFill>
              </a:rPr>
              <a:t> d'origine</a:t>
            </a:r>
          </a:p>
          <a:p>
            <a:r>
              <a:rPr lang="fr-FR" sz="1400" b="1" dirty="0">
                <a:solidFill>
                  <a:srgbClr val="1B2233"/>
                </a:solidFill>
              </a:rPr>
              <a:t> </a:t>
            </a:r>
          </a:p>
        </p:txBody>
      </p:sp>
      <p:sp>
        <p:nvSpPr>
          <p:cNvPr id="23" name="Rounded Rectangle 22">
            <a:extLst>
              <a:ext uri="{FF2B5EF4-FFF2-40B4-BE49-F238E27FC236}">
                <a16:creationId xmlns:a16="http://schemas.microsoft.com/office/drawing/2014/main" id="{DCDFC995-B2E3-17EC-7331-7D94CFB359AB}"/>
              </a:ext>
            </a:extLst>
          </p:cNvPr>
          <p:cNvSpPr/>
          <p:nvPr/>
        </p:nvSpPr>
        <p:spPr>
          <a:xfrm>
            <a:off x="4343400" y="2331720"/>
            <a:ext cx="3566160" cy="502920"/>
          </a:xfrm>
          <a:prstGeom prst="roundRect">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Silver</a:t>
            </a:r>
          </a:p>
        </p:txBody>
      </p:sp>
      <p:sp>
        <p:nvSpPr>
          <p:cNvPr id="24" name="Rectangle 23">
            <a:extLst>
              <a:ext uri="{FF2B5EF4-FFF2-40B4-BE49-F238E27FC236}">
                <a16:creationId xmlns:a16="http://schemas.microsoft.com/office/drawing/2014/main" id="{262AAD63-0640-36AD-D7CD-212FC6D94510}"/>
              </a:ext>
            </a:extLst>
          </p:cNvPr>
          <p:cNvSpPr/>
          <p:nvPr/>
        </p:nvSpPr>
        <p:spPr>
          <a:xfrm>
            <a:off x="4343400" y="2834640"/>
            <a:ext cx="3566160" cy="1929384"/>
          </a:xfrm>
          <a:prstGeom prst="rect">
            <a:avLst/>
          </a:prstGeom>
          <a:solidFill>
            <a:srgbClr val="FFFFFF"/>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D9F2986-FA55-BE62-07E0-C8363E441CA1}"/>
              </a:ext>
            </a:extLst>
          </p:cNvPr>
          <p:cNvSpPr txBox="1"/>
          <p:nvPr/>
        </p:nvSpPr>
        <p:spPr>
          <a:xfrm>
            <a:off x="4480559" y="3038927"/>
            <a:ext cx="3200400" cy="954107"/>
          </a:xfrm>
          <a:prstGeom prst="rect">
            <a:avLst/>
          </a:prstGeom>
          <a:noFill/>
        </p:spPr>
        <p:txBody>
          <a:bodyPr wrap="square">
            <a:spAutoFit/>
          </a:bodyPr>
          <a:lstStyle/>
          <a:p>
            <a:r>
              <a:rPr lang="fr-FR" sz="1400" b="1" dirty="0" err="1">
                <a:solidFill>
                  <a:srgbClr val="1B2233"/>
                </a:solidFill>
              </a:rPr>
              <a:t>silver_documents</a:t>
            </a:r>
            <a:r>
              <a:rPr lang="fr-FR" sz="1400" b="1" dirty="0">
                <a:solidFill>
                  <a:srgbClr val="1B2233"/>
                </a:solidFill>
              </a:rPr>
              <a:t> : </a:t>
            </a:r>
            <a:r>
              <a:rPr lang="fr-FR" sz="1400" dirty="0">
                <a:solidFill>
                  <a:srgbClr val="1B2233"/>
                </a:solidFill>
              </a:rPr>
              <a:t>Nettoyage, normalisation et structuration des contenus</a:t>
            </a:r>
          </a:p>
          <a:p>
            <a:r>
              <a:rPr lang="fr-FR" sz="1400" b="1" dirty="0">
                <a:solidFill>
                  <a:srgbClr val="1B2233"/>
                </a:solidFill>
              </a:rPr>
              <a:t> </a:t>
            </a:r>
          </a:p>
        </p:txBody>
      </p:sp>
      <p:sp>
        <p:nvSpPr>
          <p:cNvPr id="26" name="Rounded Rectangle 25">
            <a:extLst>
              <a:ext uri="{FF2B5EF4-FFF2-40B4-BE49-F238E27FC236}">
                <a16:creationId xmlns:a16="http://schemas.microsoft.com/office/drawing/2014/main" id="{4F7E5CD0-D771-00C2-ABE2-0C2C4BA2A762}"/>
              </a:ext>
            </a:extLst>
          </p:cNvPr>
          <p:cNvSpPr/>
          <p:nvPr/>
        </p:nvSpPr>
        <p:spPr>
          <a:xfrm>
            <a:off x="8138160" y="2331720"/>
            <a:ext cx="3566160" cy="50292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dirty="0">
                <a:solidFill>
                  <a:srgbClr val="1B2233"/>
                </a:solidFill>
              </a:rPr>
              <a:t>Gold</a:t>
            </a:r>
          </a:p>
        </p:txBody>
      </p:sp>
      <p:sp>
        <p:nvSpPr>
          <p:cNvPr id="27" name="Rectangle 26">
            <a:extLst>
              <a:ext uri="{FF2B5EF4-FFF2-40B4-BE49-F238E27FC236}">
                <a16:creationId xmlns:a16="http://schemas.microsoft.com/office/drawing/2014/main" id="{4D9972F3-7DBF-FDC1-74A0-55BC4773686F}"/>
              </a:ext>
            </a:extLst>
          </p:cNvPr>
          <p:cNvSpPr/>
          <p:nvPr/>
        </p:nvSpPr>
        <p:spPr>
          <a:xfrm>
            <a:off x="8138160" y="2834640"/>
            <a:ext cx="3566160" cy="1929384"/>
          </a:xfrm>
          <a:prstGeom prst="rect">
            <a:avLst/>
          </a:prstGeom>
          <a:solidFill>
            <a:srgbClr val="FFFFFF"/>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7973FA06-289A-1C03-B79E-79062B62521F}"/>
              </a:ext>
            </a:extLst>
          </p:cNvPr>
          <p:cNvSpPr txBox="1"/>
          <p:nvPr/>
        </p:nvSpPr>
        <p:spPr>
          <a:xfrm>
            <a:off x="8321040" y="3017520"/>
            <a:ext cx="3200400" cy="2462213"/>
          </a:xfrm>
          <a:prstGeom prst="rect">
            <a:avLst/>
          </a:prstGeom>
          <a:noFill/>
        </p:spPr>
        <p:txBody>
          <a:bodyPr wrap="square">
            <a:spAutoFit/>
          </a:bodyPr>
          <a:lstStyle/>
          <a:p>
            <a:r>
              <a:rPr lang="fr-FR" sz="1400" b="1" dirty="0" err="1">
                <a:solidFill>
                  <a:srgbClr val="1B2233"/>
                </a:solidFill>
              </a:rPr>
              <a:t>gold_documents</a:t>
            </a:r>
            <a:r>
              <a:rPr lang="fr-FR" sz="1400" b="1" dirty="0">
                <a:solidFill>
                  <a:srgbClr val="1B2233"/>
                </a:solidFill>
              </a:rPr>
              <a:t> : </a:t>
            </a:r>
            <a:r>
              <a:rPr lang="fr-FR" sz="1400" dirty="0">
                <a:solidFill>
                  <a:srgbClr val="1B2233"/>
                </a:solidFill>
              </a:rPr>
              <a:t>Corpus documentaire consolide pour le RAG</a:t>
            </a:r>
          </a:p>
          <a:p>
            <a:r>
              <a:rPr lang="fr-FR" sz="1400" b="1" dirty="0" err="1">
                <a:solidFill>
                  <a:srgbClr val="1B2233"/>
                </a:solidFill>
              </a:rPr>
              <a:t>gold_embeddings</a:t>
            </a:r>
            <a:r>
              <a:rPr lang="fr-FR" sz="1400" b="1" dirty="0">
                <a:solidFill>
                  <a:srgbClr val="1B2233"/>
                </a:solidFill>
              </a:rPr>
              <a:t>: </a:t>
            </a:r>
            <a:r>
              <a:rPr lang="fr-FR" sz="1400" dirty="0">
                <a:solidFill>
                  <a:srgbClr val="1B2233"/>
                </a:solidFill>
              </a:rPr>
              <a:t>Vecteurs </a:t>
            </a:r>
            <a:r>
              <a:rPr lang="fr-FR" sz="1400" dirty="0" err="1">
                <a:solidFill>
                  <a:srgbClr val="1B2233"/>
                </a:solidFill>
              </a:rPr>
              <a:t>semantiques</a:t>
            </a:r>
            <a:r>
              <a:rPr lang="fr-FR" sz="1400" dirty="0">
                <a:solidFill>
                  <a:srgbClr val="1B2233"/>
                </a:solidFill>
              </a:rPr>
              <a:t> pour la recherche</a:t>
            </a:r>
          </a:p>
          <a:p>
            <a:r>
              <a:rPr lang="fr-FR" sz="1400" b="1" dirty="0" err="1">
                <a:solidFill>
                  <a:srgbClr val="1B2233"/>
                </a:solidFill>
              </a:rPr>
              <a:t>gold_conversations</a:t>
            </a:r>
            <a:r>
              <a:rPr lang="fr-FR" sz="1400" b="1" dirty="0">
                <a:solidFill>
                  <a:srgbClr val="1B2233"/>
                </a:solidFill>
              </a:rPr>
              <a:t> : </a:t>
            </a:r>
            <a:r>
              <a:rPr lang="fr-FR" sz="1400" dirty="0">
                <a:solidFill>
                  <a:srgbClr val="1B2233"/>
                </a:solidFill>
              </a:rPr>
              <a:t>Historique des interactions pour </a:t>
            </a:r>
            <a:r>
              <a:rPr lang="fr-FR" sz="1400" dirty="0" err="1">
                <a:solidFill>
                  <a:srgbClr val="1B2233"/>
                </a:solidFill>
              </a:rPr>
              <a:t>analytics</a:t>
            </a:r>
            <a:r>
              <a:rPr lang="fr-FR" sz="1400" dirty="0">
                <a:solidFill>
                  <a:srgbClr val="1B2233"/>
                </a:solidFill>
              </a:rPr>
              <a:t>, gouvernance et </a:t>
            </a:r>
            <a:r>
              <a:rPr lang="fr-FR" sz="1400" dirty="0" err="1">
                <a:solidFill>
                  <a:srgbClr val="1B2233"/>
                </a:solidFill>
              </a:rPr>
              <a:t>evaluation</a:t>
            </a:r>
            <a:endParaRPr lang="fr-FR" sz="1400" dirty="0">
              <a:solidFill>
                <a:srgbClr val="1B2233"/>
              </a:solidFill>
            </a:endParaRPr>
          </a:p>
          <a:p>
            <a:endParaRPr lang="fr-FR" sz="1400" b="1" dirty="0">
              <a:solidFill>
                <a:srgbClr val="1B2233"/>
              </a:solidFill>
            </a:endParaRPr>
          </a:p>
          <a:p>
            <a:endParaRPr lang="fr-FR" sz="1400" b="1" dirty="0">
              <a:solidFill>
                <a:srgbClr val="1B2233"/>
              </a:solidFill>
            </a:endParaRPr>
          </a:p>
          <a:p>
            <a:endParaRPr lang="fr-FR" sz="1400" dirty="0">
              <a:solidFill>
                <a:srgbClr val="1B2233"/>
              </a:solidFill>
            </a:endParaRPr>
          </a:p>
          <a:p>
            <a:endParaRPr lang="fr-FR" sz="1400" b="1" dirty="0">
              <a:solidFill>
                <a:srgbClr val="1B2233"/>
              </a:solidFill>
            </a:endParaRPr>
          </a:p>
        </p:txBody>
      </p:sp>
      <p:sp>
        <p:nvSpPr>
          <p:cNvPr id="29" name="Rectangle 28">
            <a:extLst>
              <a:ext uri="{FF2B5EF4-FFF2-40B4-BE49-F238E27FC236}">
                <a16:creationId xmlns:a16="http://schemas.microsoft.com/office/drawing/2014/main" id="{1B60424C-C0E8-F70D-CA5F-19EF735B0DF6}"/>
              </a:ext>
            </a:extLst>
          </p:cNvPr>
          <p:cNvSpPr/>
          <p:nvPr/>
        </p:nvSpPr>
        <p:spPr>
          <a:xfrm>
            <a:off x="713232" y="5843016"/>
            <a:ext cx="54864" cy="73152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8CA87765-CBA5-D363-C3FB-BC4F6834D501}"/>
              </a:ext>
            </a:extLst>
          </p:cNvPr>
          <p:cNvSpPr txBox="1"/>
          <p:nvPr/>
        </p:nvSpPr>
        <p:spPr>
          <a:xfrm>
            <a:off x="841248" y="6000750"/>
            <a:ext cx="10835640" cy="731520"/>
          </a:xfrm>
          <a:prstGeom prst="rect">
            <a:avLst/>
          </a:prstGeom>
          <a:noFill/>
        </p:spPr>
        <p:txBody>
          <a:bodyPr wrap="square">
            <a:spAutoFit/>
          </a:bodyPr>
          <a:lstStyle/>
          <a:p>
            <a:pPr algn="l"/>
            <a:r>
              <a:rPr sz="1600" b="1" i="1" dirty="0" err="1">
                <a:solidFill>
                  <a:srgbClr val="0A3D91"/>
                </a:solidFill>
                <a:latin typeface="Segoe UI"/>
              </a:rPr>
              <a:t>Chaque</a:t>
            </a:r>
            <a:r>
              <a:rPr sz="1600" b="1" i="1" dirty="0">
                <a:solidFill>
                  <a:srgbClr val="0A3D91"/>
                </a:solidFill>
                <a:latin typeface="Segoe UI"/>
              </a:rPr>
              <a:t> couche </a:t>
            </a:r>
            <a:r>
              <a:rPr sz="1600" b="1" i="1" dirty="0" err="1">
                <a:solidFill>
                  <a:srgbClr val="0A3D91"/>
                </a:solidFill>
                <a:latin typeface="Segoe UI"/>
              </a:rPr>
              <a:t>fiabilise</a:t>
            </a:r>
            <a:r>
              <a:rPr sz="1600" b="1" i="1" dirty="0">
                <a:solidFill>
                  <a:srgbClr val="0A3D91"/>
                </a:solidFill>
                <a:latin typeface="Segoe UI"/>
              </a:rPr>
              <a:t> la </a:t>
            </a:r>
            <a:r>
              <a:rPr sz="1600" b="1" i="1" dirty="0" err="1">
                <a:solidFill>
                  <a:srgbClr val="0A3D91"/>
                </a:solidFill>
                <a:latin typeface="Segoe UI"/>
              </a:rPr>
              <a:t>donnee</a:t>
            </a:r>
            <a:r>
              <a:rPr sz="1600" b="1" i="1" dirty="0">
                <a:solidFill>
                  <a:srgbClr val="0A3D91"/>
                </a:solidFill>
                <a:latin typeface="Segoe UI"/>
              </a:rPr>
              <a:t> avant </a:t>
            </a:r>
            <a:r>
              <a:rPr sz="1600" b="1" i="1" dirty="0" err="1">
                <a:solidFill>
                  <a:srgbClr val="0A3D91"/>
                </a:solidFill>
                <a:latin typeface="Segoe UI"/>
              </a:rPr>
              <a:t>qu'elle</a:t>
            </a:r>
            <a:r>
              <a:rPr sz="1600" b="1" i="1" dirty="0">
                <a:solidFill>
                  <a:srgbClr val="0A3D91"/>
                </a:solidFill>
                <a:latin typeface="Segoe UI"/>
              </a:rPr>
              <a:t> </a:t>
            </a:r>
            <a:r>
              <a:rPr sz="1600" b="1" i="1" dirty="0" err="1">
                <a:solidFill>
                  <a:srgbClr val="0A3D91"/>
                </a:solidFill>
                <a:latin typeface="Segoe UI"/>
              </a:rPr>
              <a:t>n'atteigne</a:t>
            </a:r>
            <a:r>
              <a:rPr sz="1600" b="1" i="1" dirty="0">
                <a:solidFill>
                  <a:srgbClr val="0A3D91"/>
                </a:solidFill>
                <a:latin typeface="Segoe UI"/>
              </a:rPr>
              <a:t> </a:t>
            </a:r>
            <a:r>
              <a:rPr sz="1600" b="1" i="1" dirty="0" err="1">
                <a:solidFill>
                  <a:srgbClr val="0A3D91"/>
                </a:solidFill>
                <a:latin typeface="Segoe UI"/>
              </a:rPr>
              <a:t>l'IA</a:t>
            </a:r>
            <a:r>
              <a:rPr sz="1600" b="1" i="1" dirty="0">
                <a:solidFill>
                  <a:srgbClr val="0A3D91"/>
                </a:solidFill>
                <a:latin typeface="Segoe UI"/>
              </a:rPr>
              <a:t>.</a:t>
            </a:r>
          </a:p>
        </p:txBody>
      </p:sp>
      <p:sp>
        <p:nvSpPr>
          <p:cNvPr id="32" name="TextBox 31">
            <a:extLst>
              <a:ext uri="{FF2B5EF4-FFF2-40B4-BE49-F238E27FC236}">
                <a16:creationId xmlns:a16="http://schemas.microsoft.com/office/drawing/2014/main" id="{FE395F44-2443-0EBB-2A4B-C50E31B2524D}"/>
              </a:ext>
            </a:extLst>
          </p:cNvPr>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5/18</a:t>
            </a:r>
          </a:p>
        </p:txBody>
      </p:sp>
    </p:spTree>
    <p:extLst>
      <p:ext uri="{BB962C8B-B14F-4D97-AF65-F5344CB8AC3E}">
        <p14:creationId xmlns:p14="http://schemas.microsoft.com/office/powerpoint/2010/main" val="1177242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2CB87D1-6D9B-7897-255A-38E490371C4C}"/>
              </a:ext>
            </a:extLst>
          </p:cNvPr>
          <p:cNvSpPr txBox="1"/>
          <p:nvPr/>
        </p:nvSpPr>
        <p:spPr>
          <a:xfrm>
            <a:off x="2249424" y="1618488"/>
            <a:ext cx="3476571" cy="646331"/>
          </a:xfrm>
          <a:prstGeom prst="rect">
            <a:avLst/>
          </a:prstGeom>
          <a:noFill/>
        </p:spPr>
        <p:txBody>
          <a:bodyPr wrap="square" rtlCol="0">
            <a:spAutoFit/>
          </a:bodyPr>
          <a:lstStyle/>
          <a:p>
            <a:r>
              <a:rPr lang="fr-FR" dirty="0"/>
              <a:t>PRESENTATIONS DES DIFFERENTS COMPOSANTS</a:t>
            </a:r>
          </a:p>
        </p:txBody>
      </p:sp>
    </p:spTree>
    <p:extLst>
      <p:ext uri="{BB962C8B-B14F-4D97-AF65-F5344CB8AC3E}">
        <p14:creationId xmlns:p14="http://schemas.microsoft.com/office/powerpoint/2010/main" val="1263069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6" y="-54864"/>
            <a:ext cx="12228271"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TECHNOLOGIE</a:t>
            </a:r>
          </a:p>
        </p:txBody>
      </p:sp>
      <p:sp>
        <p:nvSpPr>
          <p:cNvPr id="6" name="TextBox 5"/>
          <p:cNvSpPr txBox="1"/>
          <p:nvPr/>
        </p:nvSpPr>
        <p:spPr>
          <a:xfrm>
            <a:off x="841248" y="338328"/>
            <a:ext cx="10515600" cy="461665"/>
          </a:xfrm>
          <a:prstGeom prst="rect">
            <a:avLst/>
          </a:prstGeom>
          <a:noFill/>
        </p:spPr>
        <p:txBody>
          <a:bodyPr wrap="square">
            <a:spAutoFit/>
          </a:bodyPr>
          <a:lstStyle/>
          <a:p>
            <a:pPr algn="l"/>
            <a:r>
              <a:rPr lang="fr-FR" sz="2400" b="1" i="0" dirty="0">
                <a:solidFill>
                  <a:srgbClr val="FFFFFF"/>
                </a:solidFill>
                <a:latin typeface="Segoe UI"/>
              </a:rPr>
              <a:t>Glossaire technique d’AELON</a:t>
            </a:r>
            <a:endParaRPr sz="2400" b="1" i="0" dirty="0">
              <a:solidFill>
                <a:srgbClr val="FFFFFF"/>
              </a:solidFill>
              <a:latin typeface="Segoe UI"/>
            </a:endParaRPr>
          </a:p>
        </p:txBody>
      </p:sp>
      <p:sp>
        <p:nvSpPr>
          <p:cNvPr id="15" name="TextBox 14"/>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7/18</a:t>
            </a:r>
          </a:p>
        </p:txBody>
      </p:sp>
      <p:pic>
        <p:nvPicPr>
          <p:cNvPr id="24" name="Image 23">
            <a:extLst>
              <a:ext uri="{FF2B5EF4-FFF2-40B4-BE49-F238E27FC236}">
                <a16:creationId xmlns:a16="http://schemas.microsoft.com/office/drawing/2014/main" id="{279021F4-41B4-EF7D-0606-214639242D91}"/>
              </a:ext>
            </a:extLst>
          </p:cNvPr>
          <p:cNvPicPr>
            <a:picLocks noChangeAspect="1"/>
          </p:cNvPicPr>
          <p:nvPr/>
        </p:nvPicPr>
        <p:blipFill>
          <a:blip r:embed="rId2"/>
          <a:srcRect l="16020" r="14247"/>
          <a:stretch>
            <a:fillRect/>
          </a:stretch>
        </p:blipFill>
        <p:spPr>
          <a:xfrm>
            <a:off x="7867650" y="981890"/>
            <a:ext cx="3829050" cy="5901309"/>
          </a:xfrm>
          <a:prstGeom prst="rect">
            <a:avLst/>
          </a:prstGeom>
        </p:spPr>
      </p:pic>
      <p:graphicFrame>
        <p:nvGraphicFramePr>
          <p:cNvPr id="25" name="Tableau 24">
            <a:extLst>
              <a:ext uri="{FF2B5EF4-FFF2-40B4-BE49-F238E27FC236}">
                <a16:creationId xmlns:a16="http://schemas.microsoft.com/office/drawing/2014/main" id="{CB08849B-BF7B-907B-7A41-FF6291A8A93E}"/>
              </a:ext>
            </a:extLst>
          </p:cNvPr>
          <p:cNvGraphicFramePr>
            <a:graphicFrameLocks noGrp="1"/>
          </p:cNvGraphicFramePr>
          <p:nvPr>
            <p:extLst>
              <p:ext uri="{D42A27DB-BD31-4B8C-83A1-F6EECF244321}">
                <p14:modId xmlns:p14="http://schemas.microsoft.com/office/powerpoint/2010/main" val="2270510133"/>
              </p:ext>
            </p:extLst>
          </p:nvPr>
        </p:nvGraphicFramePr>
        <p:xfrm>
          <a:off x="-2" y="972693"/>
          <a:ext cx="7867652" cy="5929199"/>
        </p:xfrm>
        <a:graphic>
          <a:graphicData uri="http://schemas.openxmlformats.org/drawingml/2006/table">
            <a:tbl>
              <a:tblPr firstRow="1" firstCol="1" bandCol="1">
                <a:tableStyleId>{5C22544A-7EE6-4342-B048-85BDC9FD1C3A}</a:tableStyleId>
              </a:tblPr>
              <a:tblGrid>
                <a:gridCol w="2524920">
                  <a:extLst>
                    <a:ext uri="{9D8B030D-6E8A-4147-A177-3AD203B41FA5}">
                      <a16:colId xmlns:a16="http://schemas.microsoft.com/office/drawing/2014/main" val="447626240"/>
                    </a:ext>
                  </a:extLst>
                </a:gridCol>
                <a:gridCol w="5342732">
                  <a:extLst>
                    <a:ext uri="{9D8B030D-6E8A-4147-A177-3AD203B41FA5}">
                      <a16:colId xmlns:a16="http://schemas.microsoft.com/office/drawing/2014/main" val="916423931"/>
                    </a:ext>
                  </a:extLst>
                </a:gridCol>
              </a:tblGrid>
              <a:tr h="376351">
                <a:tc>
                  <a:txBody>
                    <a:bodyPr/>
                    <a:lstStyle/>
                    <a:p>
                      <a:pPr>
                        <a:buNone/>
                      </a:pPr>
                      <a:r>
                        <a:rPr lang="fr-FR" dirty="0"/>
                        <a:t>Flux principal</a:t>
                      </a:r>
                    </a:p>
                  </a:txBody>
                  <a:tcPr anchor="ctr"/>
                </a:tc>
                <a:tc>
                  <a:txBody>
                    <a:bodyPr/>
                    <a:lstStyle/>
                    <a:p>
                      <a:pPr>
                        <a:buNone/>
                      </a:pPr>
                      <a:r>
                        <a:rPr lang="fr-FR"/>
                        <a:t>Technologie utilisée</a:t>
                      </a:r>
                    </a:p>
                  </a:txBody>
                  <a:tcPr anchor="ctr"/>
                </a:tc>
                <a:extLst>
                  <a:ext uri="{0D108BD9-81ED-4DB2-BD59-A6C34878D82A}">
                    <a16:rowId xmlns:a16="http://schemas.microsoft.com/office/drawing/2014/main" val="1997019386"/>
                  </a:ext>
                </a:extLst>
              </a:tr>
              <a:tr h="597485">
                <a:tc>
                  <a:txBody>
                    <a:bodyPr/>
                    <a:lstStyle/>
                    <a:p>
                      <a:pPr>
                        <a:buNone/>
                      </a:pPr>
                      <a:r>
                        <a:rPr lang="fr-FR" b="0" dirty="0"/>
                        <a:t>Question utilisateur</a:t>
                      </a:r>
                    </a:p>
                  </a:txBody>
                  <a:tcPr anchor="ctr"/>
                </a:tc>
                <a:tc>
                  <a:txBody>
                    <a:bodyPr/>
                    <a:lstStyle/>
                    <a:p>
                      <a:pPr>
                        <a:buNone/>
                      </a:pPr>
                      <a:r>
                        <a:rPr lang="fr-FR"/>
                        <a:t>Banking Chat</a:t>
                      </a:r>
                    </a:p>
                  </a:txBody>
                  <a:tcPr anchor="ctr"/>
                </a:tc>
                <a:extLst>
                  <a:ext uri="{0D108BD9-81ED-4DB2-BD59-A6C34878D82A}">
                    <a16:rowId xmlns:a16="http://schemas.microsoft.com/office/drawing/2014/main" val="1663564813"/>
                  </a:ext>
                </a:extLst>
              </a:tr>
              <a:tr h="376351">
                <a:tc>
                  <a:txBody>
                    <a:bodyPr/>
                    <a:lstStyle/>
                    <a:p>
                      <a:pPr>
                        <a:buNone/>
                      </a:pPr>
                      <a:r>
                        <a:rPr lang="fr-FR" b="0" dirty="0"/>
                        <a:t>Orchestration</a:t>
                      </a:r>
                    </a:p>
                  </a:txBody>
                  <a:tcPr anchor="ctr"/>
                </a:tc>
                <a:tc>
                  <a:txBody>
                    <a:bodyPr/>
                    <a:lstStyle/>
                    <a:p>
                      <a:pPr>
                        <a:buNone/>
                      </a:pPr>
                      <a:r>
                        <a:rPr lang="fr-FR"/>
                        <a:t>FastAPI + Orchestrator</a:t>
                      </a:r>
                    </a:p>
                  </a:txBody>
                  <a:tcPr anchor="ctr"/>
                </a:tc>
                <a:extLst>
                  <a:ext uri="{0D108BD9-81ED-4DB2-BD59-A6C34878D82A}">
                    <a16:rowId xmlns:a16="http://schemas.microsoft.com/office/drawing/2014/main" val="3285727782"/>
                  </a:ext>
                </a:extLst>
              </a:tr>
              <a:tr h="597485">
                <a:tc>
                  <a:txBody>
                    <a:bodyPr/>
                    <a:lstStyle/>
                    <a:p>
                      <a:pPr>
                        <a:buNone/>
                      </a:pPr>
                      <a:r>
                        <a:rPr lang="fr-FR" b="0" dirty="0"/>
                        <a:t>Recherche documentaire</a:t>
                      </a:r>
                    </a:p>
                  </a:txBody>
                  <a:tcPr anchor="ctr"/>
                </a:tc>
                <a:tc>
                  <a:txBody>
                    <a:bodyPr/>
                    <a:lstStyle/>
                    <a:p>
                      <a:pPr>
                        <a:buNone/>
                      </a:pPr>
                      <a:r>
                        <a:rPr lang="fr-FR" dirty="0" err="1"/>
                        <a:t>Retrieval</a:t>
                      </a:r>
                      <a:r>
                        <a:rPr lang="fr-FR" dirty="0"/>
                        <a:t> Agent</a:t>
                      </a:r>
                    </a:p>
                  </a:txBody>
                  <a:tcPr anchor="ctr"/>
                </a:tc>
                <a:extLst>
                  <a:ext uri="{0D108BD9-81ED-4DB2-BD59-A6C34878D82A}">
                    <a16:rowId xmlns:a16="http://schemas.microsoft.com/office/drawing/2014/main" val="1397762546"/>
                  </a:ext>
                </a:extLst>
              </a:tr>
              <a:tr h="376351">
                <a:tc>
                  <a:txBody>
                    <a:bodyPr/>
                    <a:lstStyle/>
                    <a:p>
                      <a:pPr>
                        <a:buNone/>
                      </a:pPr>
                      <a:r>
                        <a:rPr lang="fr-FR" b="0" dirty="0"/>
                        <a:t>Vectorisation</a:t>
                      </a:r>
                    </a:p>
                  </a:txBody>
                  <a:tcPr anchor="ctr"/>
                </a:tc>
                <a:tc>
                  <a:txBody>
                    <a:bodyPr/>
                    <a:lstStyle/>
                    <a:p>
                      <a:pPr>
                        <a:buNone/>
                      </a:pPr>
                      <a:r>
                        <a:rPr lang="fr-FR"/>
                        <a:t>Embeddings</a:t>
                      </a:r>
                    </a:p>
                  </a:txBody>
                  <a:tcPr anchor="ctr"/>
                </a:tc>
                <a:extLst>
                  <a:ext uri="{0D108BD9-81ED-4DB2-BD59-A6C34878D82A}">
                    <a16:rowId xmlns:a16="http://schemas.microsoft.com/office/drawing/2014/main" val="13298647"/>
                  </a:ext>
                </a:extLst>
              </a:tr>
              <a:tr h="597485">
                <a:tc>
                  <a:txBody>
                    <a:bodyPr/>
                    <a:lstStyle/>
                    <a:p>
                      <a:pPr>
                        <a:buNone/>
                      </a:pPr>
                      <a:r>
                        <a:rPr lang="fr-FR" b="0" dirty="0"/>
                        <a:t>Recherche sémantique</a:t>
                      </a:r>
                    </a:p>
                  </a:txBody>
                  <a:tcPr anchor="ctr"/>
                </a:tc>
                <a:tc>
                  <a:txBody>
                    <a:bodyPr/>
                    <a:lstStyle/>
                    <a:p>
                      <a:pPr>
                        <a:buNone/>
                      </a:pPr>
                      <a:r>
                        <a:rPr lang="fr-FR"/>
                        <a:t>Databricks Vector Search</a:t>
                      </a:r>
                    </a:p>
                  </a:txBody>
                  <a:tcPr anchor="ctr"/>
                </a:tc>
                <a:extLst>
                  <a:ext uri="{0D108BD9-81ED-4DB2-BD59-A6C34878D82A}">
                    <a16:rowId xmlns:a16="http://schemas.microsoft.com/office/drawing/2014/main" val="1462156721"/>
                  </a:ext>
                </a:extLst>
              </a:tr>
              <a:tr h="598478">
                <a:tc>
                  <a:txBody>
                    <a:bodyPr/>
                    <a:lstStyle/>
                    <a:p>
                      <a:pPr>
                        <a:buNone/>
                      </a:pPr>
                      <a:r>
                        <a:rPr lang="fr-FR" b="0" dirty="0"/>
                        <a:t>Documents pertinents</a:t>
                      </a:r>
                    </a:p>
                  </a:txBody>
                  <a:tcPr anchor="ctr"/>
                </a:tc>
                <a:tc>
                  <a:txBody>
                    <a:bodyPr/>
                    <a:lstStyle/>
                    <a:p>
                      <a:pPr>
                        <a:buNone/>
                      </a:pPr>
                      <a:r>
                        <a:rPr lang="fr-FR" dirty="0"/>
                        <a:t>Top-K </a:t>
                      </a:r>
                      <a:r>
                        <a:rPr lang="fr-FR" dirty="0" err="1"/>
                        <a:t>Chunks</a:t>
                      </a:r>
                      <a:endParaRPr lang="fr-FR" dirty="0"/>
                    </a:p>
                  </a:txBody>
                  <a:tcPr anchor="ctr"/>
                </a:tc>
                <a:extLst>
                  <a:ext uri="{0D108BD9-81ED-4DB2-BD59-A6C34878D82A}">
                    <a16:rowId xmlns:a16="http://schemas.microsoft.com/office/drawing/2014/main" val="827382150"/>
                  </a:ext>
                </a:extLst>
              </a:tr>
              <a:tr h="597485">
                <a:tc>
                  <a:txBody>
                    <a:bodyPr/>
                    <a:lstStyle/>
                    <a:p>
                      <a:pPr>
                        <a:buNone/>
                      </a:pPr>
                      <a:r>
                        <a:rPr lang="fr-FR" b="0" dirty="0"/>
                        <a:t>Construction du contexte</a:t>
                      </a:r>
                    </a:p>
                  </a:txBody>
                  <a:tcPr anchor="ctr"/>
                </a:tc>
                <a:tc>
                  <a:txBody>
                    <a:bodyPr/>
                    <a:lstStyle/>
                    <a:p>
                      <a:pPr>
                        <a:buNone/>
                      </a:pPr>
                      <a:r>
                        <a:rPr lang="fr-FR"/>
                        <a:t>RAG</a:t>
                      </a:r>
                    </a:p>
                  </a:txBody>
                  <a:tcPr anchor="ctr"/>
                </a:tc>
                <a:extLst>
                  <a:ext uri="{0D108BD9-81ED-4DB2-BD59-A6C34878D82A}">
                    <a16:rowId xmlns:a16="http://schemas.microsoft.com/office/drawing/2014/main" val="87654427"/>
                  </a:ext>
                </a:extLst>
              </a:tr>
              <a:tr h="597485">
                <a:tc>
                  <a:txBody>
                    <a:bodyPr/>
                    <a:lstStyle/>
                    <a:p>
                      <a:pPr>
                        <a:buNone/>
                      </a:pPr>
                      <a:r>
                        <a:rPr lang="fr-FR" b="0" dirty="0"/>
                        <a:t>Génération de la réponse (LLM)</a:t>
                      </a:r>
                    </a:p>
                  </a:txBody>
                  <a:tcPr anchor="ctr"/>
                </a:tc>
                <a:tc>
                  <a:txBody>
                    <a:bodyPr/>
                    <a:lstStyle/>
                    <a:p>
                      <a:pPr>
                        <a:buNone/>
                      </a:pPr>
                      <a:r>
                        <a:rPr lang="fr-FR"/>
                        <a:t>GPT-4 (Azure OpenAI)</a:t>
                      </a:r>
                    </a:p>
                  </a:txBody>
                  <a:tcPr anchor="ctr"/>
                </a:tc>
                <a:extLst>
                  <a:ext uri="{0D108BD9-81ED-4DB2-BD59-A6C34878D82A}">
                    <a16:rowId xmlns:a16="http://schemas.microsoft.com/office/drawing/2014/main" val="3237193435"/>
                  </a:ext>
                </a:extLst>
              </a:tr>
              <a:tr h="376351">
                <a:tc>
                  <a:txBody>
                    <a:bodyPr/>
                    <a:lstStyle/>
                    <a:p>
                      <a:pPr>
                        <a:buNone/>
                      </a:pPr>
                      <a:r>
                        <a:rPr lang="fr-FR" b="0" dirty="0"/>
                        <a:t>Contrôle qualité</a:t>
                      </a:r>
                    </a:p>
                  </a:txBody>
                  <a:tcPr anchor="ctr"/>
                </a:tc>
                <a:tc>
                  <a:txBody>
                    <a:bodyPr/>
                    <a:lstStyle/>
                    <a:p>
                      <a:pPr>
                        <a:buNone/>
                      </a:pPr>
                      <a:r>
                        <a:rPr lang="fr-FR"/>
                        <a:t>Humanization + Compliance</a:t>
                      </a:r>
                    </a:p>
                  </a:txBody>
                  <a:tcPr anchor="ctr"/>
                </a:tc>
                <a:extLst>
                  <a:ext uri="{0D108BD9-81ED-4DB2-BD59-A6C34878D82A}">
                    <a16:rowId xmlns:a16="http://schemas.microsoft.com/office/drawing/2014/main" val="3033221040"/>
                  </a:ext>
                </a:extLst>
              </a:tr>
              <a:tr h="376351">
                <a:tc>
                  <a:txBody>
                    <a:bodyPr/>
                    <a:lstStyle/>
                    <a:p>
                      <a:pPr>
                        <a:buNone/>
                      </a:pPr>
                      <a:r>
                        <a:rPr lang="fr-FR" b="0" dirty="0"/>
                        <a:t>Historisation</a:t>
                      </a:r>
                    </a:p>
                  </a:txBody>
                  <a:tcPr anchor="ctr"/>
                </a:tc>
                <a:tc>
                  <a:txBody>
                    <a:bodyPr/>
                    <a:lstStyle/>
                    <a:p>
                      <a:pPr>
                        <a:buNone/>
                      </a:pPr>
                      <a:r>
                        <a:rPr lang="fr-FR"/>
                        <a:t>gold_conversations</a:t>
                      </a:r>
                    </a:p>
                  </a:txBody>
                  <a:tcPr anchor="ctr"/>
                </a:tc>
                <a:extLst>
                  <a:ext uri="{0D108BD9-81ED-4DB2-BD59-A6C34878D82A}">
                    <a16:rowId xmlns:a16="http://schemas.microsoft.com/office/drawing/2014/main" val="4035965269"/>
                  </a:ext>
                </a:extLst>
              </a:tr>
              <a:tr h="376351">
                <a:tc>
                  <a:txBody>
                    <a:bodyPr/>
                    <a:lstStyle/>
                    <a:p>
                      <a:pPr>
                        <a:buNone/>
                      </a:pPr>
                      <a:r>
                        <a:rPr lang="fr-FR" b="0" dirty="0"/>
                        <a:t>Exploitation</a:t>
                      </a:r>
                    </a:p>
                  </a:txBody>
                  <a:tcPr anchor="ctr"/>
                </a:tc>
                <a:tc>
                  <a:txBody>
                    <a:bodyPr/>
                    <a:lstStyle/>
                    <a:p>
                      <a:pPr>
                        <a:buNone/>
                      </a:pPr>
                      <a:r>
                        <a:rPr lang="fr-FR" dirty="0"/>
                        <a:t>Analytics + </a:t>
                      </a:r>
                      <a:r>
                        <a:rPr lang="fr-FR" dirty="0" err="1"/>
                        <a:t>Governance</a:t>
                      </a:r>
                      <a:r>
                        <a:rPr lang="fr-FR" dirty="0"/>
                        <a:t> + Evaluation</a:t>
                      </a:r>
                    </a:p>
                  </a:txBody>
                  <a:tcPr anchor="ctr"/>
                </a:tc>
                <a:extLst>
                  <a:ext uri="{0D108BD9-81ED-4DB2-BD59-A6C34878D82A}">
                    <a16:rowId xmlns:a16="http://schemas.microsoft.com/office/drawing/2014/main" val="360621978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4F702-3895-5ED0-5502-85CC7B6B40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2FAFEA-80BF-E98B-999E-496D7CC6B63B}"/>
              </a:ext>
            </a:extLst>
          </p:cNvPr>
          <p:cNvSpPr/>
          <p:nvPr/>
        </p:nvSpPr>
        <p:spPr>
          <a:xfrm>
            <a:off x="-36271" y="0"/>
            <a:ext cx="12228271"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4E9F5E2D-BBC5-AC3B-BDAB-CA602411D81A}"/>
              </a:ext>
            </a:extLst>
          </p:cNvPr>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BFD86191-E48D-57A6-F5D7-6A93514E910F}"/>
              </a:ext>
            </a:extLst>
          </p:cNvPr>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6C10020-BB67-1621-E381-34A234C9CF78}"/>
              </a:ext>
            </a:extLst>
          </p:cNvPr>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TECHNOLOGIE</a:t>
            </a:r>
          </a:p>
        </p:txBody>
      </p:sp>
      <p:sp>
        <p:nvSpPr>
          <p:cNvPr id="6" name="TextBox 5">
            <a:extLst>
              <a:ext uri="{FF2B5EF4-FFF2-40B4-BE49-F238E27FC236}">
                <a16:creationId xmlns:a16="http://schemas.microsoft.com/office/drawing/2014/main" id="{1FB27B86-AF2B-3705-9A38-B2290A72C9BB}"/>
              </a:ext>
            </a:extLst>
          </p:cNvPr>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Socle technique</a:t>
            </a:r>
          </a:p>
        </p:txBody>
      </p:sp>
      <p:sp>
        <p:nvSpPr>
          <p:cNvPr id="14" name="TextBox 13">
            <a:extLst>
              <a:ext uri="{FF2B5EF4-FFF2-40B4-BE49-F238E27FC236}">
                <a16:creationId xmlns:a16="http://schemas.microsoft.com/office/drawing/2014/main" id="{F5E2C5E0-4CBB-0BF7-2BCE-2A67304974E6}"/>
              </a:ext>
            </a:extLst>
          </p:cNvPr>
          <p:cNvSpPr txBox="1"/>
          <p:nvPr/>
        </p:nvSpPr>
        <p:spPr>
          <a:xfrm>
            <a:off x="396240" y="6729984"/>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5" name="TextBox 14">
            <a:extLst>
              <a:ext uri="{FF2B5EF4-FFF2-40B4-BE49-F238E27FC236}">
                <a16:creationId xmlns:a16="http://schemas.microsoft.com/office/drawing/2014/main" id="{8E09449B-36B1-DE03-D2F8-0296B9B713B3}"/>
              </a:ext>
            </a:extLst>
          </p:cNvPr>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7/18</a:t>
            </a:r>
          </a:p>
        </p:txBody>
      </p:sp>
      <p:graphicFrame>
        <p:nvGraphicFramePr>
          <p:cNvPr id="19" name="Tableau 18">
            <a:extLst>
              <a:ext uri="{FF2B5EF4-FFF2-40B4-BE49-F238E27FC236}">
                <a16:creationId xmlns:a16="http://schemas.microsoft.com/office/drawing/2014/main" id="{1E2BE629-7846-EBD9-9DAB-938860567764}"/>
              </a:ext>
            </a:extLst>
          </p:cNvPr>
          <p:cNvGraphicFramePr>
            <a:graphicFrameLocks noGrp="1"/>
          </p:cNvGraphicFramePr>
          <p:nvPr/>
        </p:nvGraphicFramePr>
        <p:xfrm>
          <a:off x="0" y="960120"/>
          <a:ext cx="12192000" cy="5925310"/>
        </p:xfrm>
        <a:graphic>
          <a:graphicData uri="http://schemas.openxmlformats.org/drawingml/2006/table">
            <a:tbl>
              <a:tblPr firstRow="1" firstCol="1">
                <a:tableStyleId>{5C22544A-7EE6-4342-B048-85BDC9FD1C3A}</a:tableStyleId>
              </a:tblPr>
              <a:tblGrid>
                <a:gridCol w="3006119">
                  <a:extLst>
                    <a:ext uri="{9D8B030D-6E8A-4147-A177-3AD203B41FA5}">
                      <a16:colId xmlns:a16="http://schemas.microsoft.com/office/drawing/2014/main" val="3535470857"/>
                    </a:ext>
                  </a:extLst>
                </a:gridCol>
                <a:gridCol w="5121881">
                  <a:extLst>
                    <a:ext uri="{9D8B030D-6E8A-4147-A177-3AD203B41FA5}">
                      <a16:colId xmlns:a16="http://schemas.microsoft.com/office/drawing/2014/main" val="1765795234"/>
                    </a:ext>
                  </a:extLst>
                </a:gridCol>
                <a:gridCol w="4064000">
                  <a:extLst>
                    <a:ext uri="{9D8B030D-6E8A-4147-A177-3AD203B41FA5}">
                      <a16:colId xmlns:a16="http://schemas.microsoft.com/office/drawing/2014/main" val="1923915600"/>
                    </a:ext>
                  </a:extLst>
                </a:gridCol>
              </a:tblGrid>
              <a:tr h="392098">
                <a:tc>
                  <a:txBody>
                    <a:bodyPr/>
                    <a:lstStyle/>
                    <a:p>
                      <a:pPr algn="ctr">
                        <a:buNone/>
                      </a:pPr>
                      <a:r>
                        <a:rPr lang="fr-FR" sz="1100" dirty="0"/>
                        <a:t>Technologie</a:t>
                      </a:r>
                    </a:p>
                  </a:txBody>
                  <a:tcPr marL="39017" marR="39017" marT="19508" marB="19508" anchor="ctr"/>
                </a:tc>
                <a:tc>
                  <a:txBody>
                    <a:bodyPr/>
                    <a:lstStyle/>
                    <a:p>
                      <a:pPr algn="ctr">
                        <a:buNone/>
                      </a:pPr>
                      <a:r>
                        <a:rPr lang="fr-FR" sz="1100" dirty="0"/>
                        <a:t>Définition</a:t>
                      </a:r>
                    </a:p>
                  </a:txBody>
                  <a:tcPr marL="39017" marR="39017" marT="19508" marB="19508" anchor="ctr"/>
                </a:tc>
                <a:tc>
                  <a:txBody>
                    <a:bodyPr/>
                    <a:lstStyle/>
                    <a:p>
                      <a:pPr algn="ctr">
                        <a:buNone/>
                      </a:pPr>
                      <a:r>
                        <a:rPr lang="fr-FR" sz="1100" dirty="0"/>
                        <a:t>Rôle dans AELON</a:t>
                      </a:r>
                    </a:p>
                  </a:txBody>
                  <a:tcPr marL="39017" marR="39017" marT="19508" marB="19508" anchor="ctr"/>
                </a:tc>
                <a:extLst>
                  <a:ext uri="{0D108BD9-81ED-4DB2-BD59-A6C34878D82A}">
                    <a16:rowId xmlns:a16="http://schemas.microsoft.com/office/drawing/2014/main" val="1095393221"/>
                  </a:ext>
                </a:extLst>
              </a:tr>
              <a:tr h="790459">
                <a:tc>
                  <a:txBody>
                    <a:bodyPr/>
                    <a:lstStyle/>
                    <a:p>
                      <a:pPr algn="ctr">
                        <a:buNone/>
                      </a:pPr>
                      <a:r>
                        <a:rPr lang="fr-FR" sz="1100" dirty="0" err="1"/>
                        <a:t>Databricks</a:t>
                      </a:r>
                      <a:endParaRPr lang="fr-FR" sz="1100" dirty="0"/>
                    </a:p>
                  </a:txBody>
                  <a:tcPr marL="39017" marR="39017" marT="19508" marB="19508" anchor="ctr"/>
                </a:tc>
                <a:tc>
                  <a:txBody>
                    <a:bodyPr/>
                    <a:lstStyle/>
                    <a:p>
                      <a:pPr>
                        <a:buNone/>
                      </a:pPr>
                      <a:r>
                        <a:rPr lang="fr-FR" sz="1100" dirty="0"/>
                        <a:t>Plateforme unifiée d’ingénierie des données, d’analytique et d’intelligence artificielle.</a:t>
                      </a:r>
                    </a:p>
                  </a:txBody>
                  <a:tcPr marL="39017" marR="39017" marT="19508" marB="19508" anchor="ctr"/>
                </a:tc>
                <a:tc>
                  <a:txBody>
                    <a:bodyPr/>
                    <a:lstStyle/>
                    <a:p>
                      <a:pPr>
                        <a:buNone/>
                      </a:pPr>
                      <a:r>
                        <a:rPr lang="fr-FR" sz="1100" dirty="0"/>
                        <a:t>Orchestration de l’ensemble de la chaîne de traitement des données et hébergement des composants IA.</a:t>
                      </a:r>
                    </a:p>
                  </a:txBody>
                  <a:tcPr marL="39017" marR="39017" marT="19508" marB="19508" anchor="ctr"/>
                </a:tc>
                <a:extLst>
                  <a:ext uri="{0D108BD9-81ED-4DB2-BD59-A6C34878D82A}">
                    <a16:rowId xmlns:a16="http://schemas.microsoft.com/office/drawing/2014/main" val="2334233456"/>
                  </a:ext>
                </a:extLst>
              </a:tr>
              <a:tr h="790459">
                <a:tc>
                  <a:txBody>
                    <a:bodyPr/>
                    <a:lstStyle/>
                    <a:p>
                      <a:pPr algn="ctr">
                        <a:buNone/>
                      </a:pPr>
                      <a:r>
                        <a:rPr lang="fr-FR" sz="1100"/>
                        <a:t>Delta Lake</a:t>
                      </a:r>
                    </a:p>
                  </a:txBody>
                  <a:tcPr marL="39017" marR="39017" marT="19508" marB="19508" anchor="ctr"/>
                </a:tc>
                <a:tc>
                  <a:txBody>
                    <a:bodyPr/>
                    <a:lstStyle/>
                    <a:p>
                      <a:pPr>
                        <a:buNone/>
                      </a:pPr>
                      <a:r>
                        <a:rPr lang="fr-FR" sz="1100" dirty="0"/>
                        <a:t>Couche de stockage ouverte qui apporte fiabilité, gouvernance et gestion des versions aux data </a:t>
                      </a:r>
                      <a:r>
                        <a:rPr lang="fr-FR" sz="1100" dirty="0" err="1"/>
                        <a:t>lakes</a:t>
                      </a:r>
                      <a:r>
                        <a:rPr lang="fr-FR" sz="1100" dirty="0"/>
                        <a:t>.</a:t>
                      </a:r>
                    </a:p>
                  </a:txBody>
                  <a:tcPr marL="39017" marR="39017" marT="19508" marB="19508" anchor="ctr"/>
                </a:tc>
                <a:tc>
                  <a:txBody>
                    <a:bodyPr/>
                    <a:lstStyle/>
                    <a:p>
                      <a:pPr>
                        <a:buNone/>
                      </a:pPr>
                      <a:r>
                        <a:rPr lang="fr-FR" sz="1100"/>
                        <a:t>Stockage structuré des données conversationnelles et métiers.</a:t>
                      </a:r>
                    </a:p>
                  </a:txBody>
                  <a:tcPr marL="39017" marR="39017" marT="19508" marB="19508" anchor="ctr"/>
                </a:tc>
                <a:extLst>
                  <a:ext uri="{0D108BD9-81ED-4DB2-BD59-A6C34878D82A}">
                    <a16:rowId xmlns:a16="http://schemas.microsoft.com/office/drawing/2014/main" val="310081754"/>
                  </a:ext>
                </a:extLst>
              </a:tr>
              <a:tr h="790459">
                <a:tc>
                  <a:txBody>
                    <a:bodyPr/>
                    <a:lstStyle/>
                    <a:p>
                      <a:pPr algn="ctr">
                        <a:buNone/>
                      </a:pPr>
                      <a:r>
                        <a:rPr lang="fr-FR" sz="1100"/>
                        <a:t>Unity Catalog</a:t>
                      </a:r>
                    </a:p>
                  </a:txBody>
                  <a:tcPr marL="39017" marR="39017" marT="19508" marB="19508" anchor="ctr"/>
                </a:tc>
                <a:tc>
                  <a:txBody>
                    <a:bodyPr/>
                    <a:lstStyle/>
                    <a:p>
                      <a:pPr>
                        <a:buNone/>
                      </a:pPr>
                      <a:r>
                        <a:rPr lang="fr-FR" sz="1100" dirty="0"/>
                        <a:t>Solution de gouvernance centralisée de </a:t>
                      </a:r>
                      <a:r>
                        <a:rPr lang="fr-FR" sz="1100" dirty="0" err="1"/>
                        <a:t>Databricks</a:t>
                      </a:r>
                      <a:r>
                        <a:rPr lang="fr-FR" sz="1100" dirty="0"/>
                        <a:t> permettant de gérer les accès, métadonnées et politiques de sécurité.</a:t>
                      </a:r>
                    </a:p>
                  </a:txBody>
                  <a:tcPr marL="39017" marR="39017" marT="19508" marB="19508" anchor="ctr"/>
                </a:tc>
                <a:tc>
                  <a:txBody>
                    <a:bodyPr/>
                    <a:lstStyle/>
                    <a:p>
                      <a:pPr>
                        <a:buNone/>
                      </a:pPr>
                      <a:r>
                        <a:rPr lang="fr-FR" sz="1100" dirty="0"/>
                        <a:t>Contrôle des droits d’accès et traçabilité des données utilisées par AELON.</a:t>
                      </a:r>
                    </a:p>
                  </a:txBody>
                  <a:tcPr marL="39017" marR="39017" marT="19508" marB="19508" anchor="ctr"/>
                </a:tc>
                <a:extLst>
                  <a:ext uri="{0D108BD9-81ED-4DB2-BD59-A6C34878D82A}">
                    <a16:rowId xmlns:a16="http://schemas.microsoft.com/office/drawing/2014/main" val="31811906"/>
                  </a:ext>
                </a:extLst>
              </a:tr>
              <a:tr h="790459">
                <a:tc>
                  <a:txBody>
                    <a:bodyPr/>
                    <a:lstStyle/>
                    <a:p>
                      <a:pPr algn="ctr">
                        <a:buNone/>
                      </a:pPr>
                      <a:r>
                        <a:rPr lang="fr-FR" sz="1100"/>
                        <a:t>Vector Search</a:t>
                      </a:r>
                    </a:p>
                  </a:txBody>
                  <a:tcPr marL="39017" marR="39017" marT="19508" marB="19508" anchor="ctr"/>
                </a:tc>
                <a:tc>
                  <a:txBody>
                    <a:bodyPr/>
                    <a:lstStyle/>
                    <a:p>
                      <a:pPr>
                        <a:buNone/>
                      </a:pPr>
                      <a:r>
                        <a:rPr lang="fr-FR" sz="1100" dirty="0"/>
                        <a:t>Moteur de recherche sémantique basé sur les </a:t>
                      </a:r>
                      <a:r>
                        <a:rPr lang="fr-FR" sz="1100" dirty="0" err="1"/>
                        <a:t>embeddings</a:t>
                      </a:r>
                      <a:r>
                        <a:rPr lang="fr-FR" sz="1100" dirty="0"/>
                        <a:t> permettant de retrouver les informations les plus pertinentes.</a:t>
                      </a:r>
                    </a:p>
                  </a:txBody>
                  <a:tcPr marL="39017" marR="39017" marT="19508" marB="19508" anchor="ctr"/>
                </a:tc>
                <a:tc>
                  <a:txBody>
                    <a:bodyPr/>
                    <a:lstStyle/>
                    <a:p>
                      <a:pPr>
                        <a:buNone/>
                      </a:pPr>
                      <a:r>
                        <a:rPr lang="fr-FR" sz="1100" dirty="0" err="1"/>
                        <a:t>Retrieval</a:t>
                      </a:r>
                      <a:r>
                        <a:rPr lang="fr-FR" sz="1100" dirty="0"/>
                        <a:t> des connaissances utilisées par les agents IA pour répondre aux utilisateurs.</a:t>
                      </a:r>
                    </a:p>
                  </a:txBody>
                  <a:tcPr marL="39017" marR="39017" marT="19508" marB="19508" anchor="ctr"/>
                </a:tc>
                <a:extLst>
                  <a:ext uri="{0D108BD9-81ED-4DB2-BD59-A6C34878D82A}">
                    <a16:rowId xmlns:a16="http://schemas.microsoft.com/office/drawing/2014/main" val="3790729241"/>
                  </a:ext>
                </a:extLst>
              </a:tr>
              <a:tr h="790459">
                <a:tc>
                  <a:txBody>
                    <a:bodyPr/>
                    <a:lstStyle/>
                    <a:p>
                      <a:pPr algn="ctr">
                        <a:buNone/>
                      </a:pPr>
                      <a:r>
                        <a:rPr lang="fr-FR" sz="1100"/>
                        <a:t>Azure OpenAI</a:t>
                      </a:r>
                    </a:p>
                  </a:txBody>
                  <a:tcPr marL="39017" marR="39017" marT="19508" marB="19508" anchor="ctr"/>
                </a:tc>
                <a:tc>
                  <a:txBody>
                    <a:bodyPr/>
                    <a:lstStyle/>
                    <a:p>
                      <a:pPr>
                        <a:buNone/>
                      </a:pPr>
                      <a:r>
                        <a:rPr lang="fr-FR" sz="1100"/>
                        <a:t>Service Microsoft donnant accès aux modèles de langage avancés (GPT, embeddings, etc.) dans un environnement sécurisé.</a:t>
                      </a:r>
                    </a:p>
                  </a:txBody>
                  <a:tcPr marL="39017" marR="39017" marT="19508" marB="19508" anchor="ctr"/>
                </a:tc>
                <a:tc>
                  <a:txBody>
                    <a:bodyPr/>
                    <a:lstStyle/>
                    <a:p>
                      <a:pPr>
                        <a:buNone/>
                      </a:pPr>
                      <a:r>
                        <a:rPr lang="fr-FR" sz="1100" dirty="0"/>
                        <a:t>Génération des réponses, compréhension du langage naturel et raisonnement des agents.</a:t>
                      </a:r>
                    </a:p>
                  </a:txBody>
                  <a:tcPr marL="39017" marR="39017" marT="19508" marB="19508" anchor="ctr"/>
                </a:tc>
                <a:extLst>
                  <a:ext uri="{0D108BD9-81ED-4DB2-BD59-A6C34878D82A}">
                    <a16:rowId xmlns:a16="http://schemas.microsoft.com/office/drawing/2014/main" val="2584810344"/>
                  </a:ext>
                </a:extLst>
              </a:tr>
              <a:tr h="642246">
                <a:tc>
                  <a:txBody>
                    <a:bodyPr/>
                    <a:lstStyle/>
                    <a:p>
                      <a:pPr algn="ctr">
                        <a:buNone/>
                      </a:pPr>
                      <a:r>
                        <a:rPr lang="fr-FR" sz="1100"/>
                        <a:t>FastAPI</a:t>
                      </a:r>
                    </a:p>
                  </a:txBody>
                  <a:tcPr marL="39017" marR="39017" marT="19508" marB="19508" anchor="ctr"/>
                </a:tc>
                <a:tc>
                  <a:txBody>
                    <a:bodyPr/>
                    <a:lstStyle/>
                    <a:p>
                      <a:pPr>
                        <a:buNone/>
                      </a:pPr>
                      <a:r>
                        <a:rPr lang="fr-FR" sz="1100"/>
                        <a:t>Framework Python haute performance pour créer des API REST.</a:t>
                      </a:r>
                    </a:p>
                  </a:txBody>
                  <a:tcPr marL="39017" marR="39017" marT="19508" marB="19508" anchor="ctr"/>
                </a:tc>
                <a:tc>
                  <a:txBody>
                    <a:bodyPr/>
                    <a:lstStyle/>
                    <a:p>
                      <a:pPr>
                        <a:buNone/>
                      </a:pPr>
                      <a:r>
                        <a:rPr lang="fr-FR" sz="1100" dirty="0"/>
                        <a:t>Exposition des services et communication entre le </a:t>
                      </a:r>
                      <a:r>
                        <a:rPr lang="fr-FR" sz="1100" dirty="0" err="1"/>
                        <a:t>front-end</a:t>
                      </a:r>
                      <a:r>
                        <a:rPr lang="fr-FR" sz="1100" dirty="0"/>
                        <a:t>, les agents et les modèles IA.</a:t>
                      </a:r>
                    </a:p>
                  </a:txBody>
                  <a:tcPr marL="39017" marR="39017" marT="19508" marB="19508" anchor="ctr"/>
                </a:tc>
                <a:extLst>
                  <a:ext uri="{0D108BD9-81ED-4DB2-BD59-A6C34878D82A}">
                    <a16:rowId xmlns:a16="http://schemas.microsoft.com/office/drawing/2014/main" val="2993071944"/>
                  </a:ext>
                </a:extLst>
              </a:tr>
              <a:tr h="938671">
                <a:tc>
                  <a:txBody>
                    <a:bodyPr/>
                    <a:lstStyle/>
                    <a:p>
                      <a:pPr algn="ctr">
                        <a:buNone/>
                      </a:pPr>
                      <a:r>
                        <a:rPr lang="fr-FR" sz="1100" dirty="0" err="1"/>
                        <a:t>LangGraph</a:t>
                      </a:r>
                      <a:endParaRPr lang="fr-FR" sz="1100" dirty="0"/>
                    </a:p>
                  </a:txBody>
                  <a:tcPr marL="39017" marR="39017" marT="19508" marB="19508" anchor="ctr"/>
                </a:tc>
                <a:tc>
                  <a:txBody>
                    <a:bodyPr/>
                    <a:lstStyle/>
                    <a:p>
                      <a:pPr>
                        <a:buNone/>
                      </a:pPr>
                      <a:r>
                        <a:rPr lang="fr-FR" sz="1100" dirty="0"/>
                        <a:t>Framework permettant de concevoir et d'orchestrer des agents IA sous forme de graphes avec gestion des états et des workflows complexes.</a:t>
                      </a:r>
                    </a:p>
                  </a:txBody>
                  <a:tcPr marL="39017" marR="39017" marT="19508" marB="19508" anchor="ctr"/>
                </a:tc>
                <a:tc>
                  <a:txBody>
                    <a:bodyPr/>
                    <a:lstStyle/>
                    <a:p>
                      <a:pPr>
                        <a:buNone/>
                      </a:pPr>
                      <a:r>
                        <a:rPr lang="fr-FR" sz="1100" dirty="0"/>
                        <a:t>Pilotage des agents AELON, gestion des décisions, appels d'outils et coordination des étapes de traitement.</a:t>
                      </a:r>
                    </a:p>
                  </a:txBody>
                  <a:tcPr marL="39017" marR="39017" marT="19508" marB="19508" anchor="ctr"/>
                </a:tc>
                <a:extLst>
                  <a:ext uri="{0D108BD9-81ED-4DB2-BD59-A6C34878D82A}">
                    <a16:rowId xmlns:a16="http://schemas.microsoft.com/office/drawing/2014/main" val="3969443879"/>
                  </a:ext>
                </a:extLst>
              </a:tr>
            </a:tbl>
          </a:graphicData>
        </a:graphic>
      </p:graphicFrame>
    </p:spTree>
    <p:extLst>
      <p:ext uri="{BB962C8B-B14F-4D97-AF65-F5344CB8AC3E}">
        <p14:creationId xmlns:p14="http://schemas.microsoft.com/office/powerpoint/2010/main" val="375713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PIPELINE</a:t>
            </a:r>
          </a:p>
        </p:txBody>
      </p:sp>
      <p:sp>
        <p:nvSpPr>
          <p:cNvPr id="6" name="TextBox 5"/>
          <p:cNvSpPr txBox="1"/>
          <p:nvPr/>
        </p:nvSpPr>
        <p:spPr>
          <a:xfrm>
            <a:off x="969264" y="274320"/>
            <a:ext cx="10515600" cy="548640"/>
          </a:xfrm>
          <a:prstGeom prst="rect">
            <a:avLst/>
          </a:prstGeom>
          <a:noFill/>
        </p:spPr>
        <p:txBody>
          <a:bodyPr wrap="square">
            <a:spAutoFit/>
          </a:bodyPr>
          <a:lstStyle/>
          <a:p>
            <a:pPr algn="l"/>
            <a:r>
              <a:rPr sz="2400" b="1" i="0" dirty="0">
                <a:solidFill>
                  <a:srgbClr val="FFFFFF"/>
                </a:solidFill>
                <a:latin typeface="Segoe UI"/>
              </a:rPr>
              <a:t>Pipeline </a:t>
            </a:r>
            <a:r>
              <a:rPr sz="2400" b="1" i="0" dirty="0" err="1">
                <a:solidFill>
                  <a:srgbClr val="FFFFFF"/>
                </a:solidFill>
                <a:latin typeface="Segoe UI"/>
              </a:rPr>
              <a:t>documentaire</a:t>
            </a:r>
            <a:endParaRPr sz="2400" b="1" i="0" dirty="0">
              <a:solidFill>
                <a:srgbClr val="FFFFFF"/>
              </a:solidFill>
              <a:latin typeface="Segoe UI"/>
            </a:endParaRPr>
          </a:p>
        </p:txBody>
      </p:sp>
      <p:sp>
        <p:nvSpPr>
          <p:cNvPr id="16" name="TextBox 15"/>
          <p:cNvSpPr txBox="1"/>
          <p:nvPr/>
        </p:nvSpPr>
        <p:spPr>
          <a:xfrm>
            <a:off x="548640" y="2926080"/>
            <a:ext cx="5486400" cy="365760"/>
          </a:xfrm>
          <a:prstGeom prst="rect">
            <a:avLst/>
          </a:prstGeom>
          <a:noFill/>
        </p:spPr>
        <p:txBody>
          <a:bodyPr wrap="square">
            <a:spAutoFit/>
          </a:bodyPr>
          <a:lstStyle/>
          <a:p>
            <a:pPr algn="l"/>
            <a:r>
              <a:rPr sz="1700" b="1" i="0" dirty="0" err="1">
                <a:solidFill>
                  <a:srgbClr val="0A3D91"/>
                </a:solidFill>
                <a:latin typeface="Segoe UI"/>
              </a:rPr>
              <a:t>Pourquoi</a:t>
            </a:r>
            <a:r>
              <a:rPr sz="1700" b="1" i="0" dirty="0">
                <a:solidFill>
                  <a:srgbClr val="0A3D91"/>
                </a:solidFill>
                <a:latin typeface="Segoe UI"/>
              </a:rPr>
              <a:t> </a:t>
            </a:r>
            <a:r>
              <a:rPr sz="1700" b="1" i="0" dirty="0" err="1">
                <a:solidFill>
                  <a:srgbClr val="0A3D91"/>
                </a:solidFill>
                <a:latin typeface="Segoe UI"/>
              </a:rPr>
              <a:t>chunker</a:t>
            </a:r>
            <a:r>
              <a:rPr sz="1700" b="1" i="0" dirty="0">
                <a:solidFill>
                  <a:srgbClr val="0A3D91"/>
                </a:solidFill>
                <a:latin typeface="Segoe UI"/>
              </a:rPr>
              <a:t> ?</a:t>
            </a:r>
          </a:p>
        </p:txBody>
      </p:sp>
      <p:sp>
        <p:nvSpPr>
          <p:cNvPr id="17" name="TextBox 16"/>
          <p:cNvSpPr txBox="1"/>
          <p:nvPr/>
        </p:nvSpPr>
        <p:spPr>
          <a:xfrm>
            <a:off x="548640" y="3383280"/>
            <a:ext cx="10515600" cy="1463040"/>
          </a:xfrm>
          <a:prstGeom prst="rect">
            <a:avLst/>
          </a:prstGeom>
          <a:noFill/>
        </p:spPr>
        <p:txBody>
          <a:bodyPr wrap="square">
            <a:spAutoFit/>
          </a:bodyPr>
          <a:lstStyle/>
          <a:p>
            <a:pPr>
              <a:lnSpc>
                <a:spcPct val="120000"/>
              </a:lnSpc>
              <a:spcAft>
                <a:spcPts val="800"/>
              </a:spcAft>
            </a:pPr>
            <a:r>
              <a:rPr sz="1600">
                <a:solidFill>
                  <a:srgbClr val="1B2233"/>
                </a:solidFill>
                <a:latin typeface="Segoe UI"/>
              </a:rPr>
              <a:t>• Reduire la taille des documents</a:t>
            </a:r>
          </a:p>
          <a:p>
            <a:pPr>
              <a:lnSpc>
                <a:spcPct val="120000"/>
              </a:lnSpc>
              <a:spcAft>
                <a:spcPts val="800"/>
              </a:spcAft>
            </a:pPr>
            <a:r>
              <a:rPr sz="1600">
                <a:solidFill>
                  <a:srgbClr val="1B2233"/>
                </a:solidFill>
                <a:latin typeface="Segoe UI"/>
              </a:rPr>
              <a:t>• Ameliorer la recherche</a:t>
            </a:r>
          </a:p>
        </p:txBody>
      </p:sp>
      <p:sp>
        <p:nvSpPr>
          <p:cNvPr id="18" name="TextBox 17"/>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9" name="TextBox 18"/>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8/18</a:t>
            </a:r>
          </a:p>
        </p:txBody>
      </p:sp>
      <p:pic>
        <p:nvPicPr>
          <p:cNvPr id="20" name="Image 19">
            <a:extLst>
              <a:ext uri="{FF2B5EF4-FFF2-40B4-BE49-F238E27FC236}">
                <a16:creationId xmlns:a16="http://schemas.microsoft.com/office/drawing/2014/main" id="{E2C867AB-152A-03D2-A735-F47FF74985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4728" y="1179576"/>
            <a:ext cx="5971032" cy="53766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FD641-C9FD-6168-DB5D-0591F36DEE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23EDF1-8926-6BA8-E6C5-A59F5AF4F39D}"/>
              </a:ext>
            </a:extLst>
          </p:cNvPr>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7013BDA-299B-1681-0C54-A7AB572F2AB1}"/>
              </a:ext>
            </a:extLst>
          </p:cNvPr>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67811738-C7DD-0CFB-C66B-48D026BE8181}"/>
              </a:ext>
            </a:extLst>
          </p:cNvPr>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75E2EAB-56CE-BBB0-65EC-7AC452C04163}"/>
              </a:ext>
            </a:extLst>
          </p:cNvPr>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PIPELINE</a:t>
            </a:r>
          </a:p>
        </p:txBody>
      </p:sp>
      <p:sp>
        <p:nvSpPr>
          <p:cNvPr id="6" name="TextBox 5">
            <a:extLst>
              <a:ext uri="{FF2B5EF4-FFF2-40B4-BE49-F238E27FC236}">
                <a16:creationId xmlns:a16="http://schemas.microsoft.com/office/drawing/2014/main" id="{FC5102F8-57B8-597F-2A44-65F9DA49AF93}"/>
              </a:ext>
            </a:extLst>
          </p:cNvPr>
          <p:cNvSpPr txBox="1"/>
          <p:nvPr/>
        </p:nvSpPr>
        <p:spPr>
          <a:xfrm>
            <a:off x="969264" y="274320"/>
            <a:ext cx="10515600" cy="548640"/>
          </a:xfrm>
          <a:prstGeom prst="rect">
            <a:avLst/>
          </a:prstGeom>
          <a:noFill/>
        </p:spPr>
        <p:txBody>
          <a:bodyPr wrap="square">
            <a:spAutoFit/>
          </a:bodyPr>
          <a:lstStyle/>
          <a:p>
            <a:pPr algn="l"/>
            <a:r>
              <a:rPr sz="2400" b="1" i="0" dirty="0">
                <a:solidFill>
                  <a:srgbClr val="FFFFFF"/>
                </a:solidFill>
                <a:latin typeface="Segoe UI"/>
              </a:rPr>
              <a:t>Pipeline </a:t>
            </a:r>
            <a:r>
              <a:rPr sz="2400" b="1" i="0" dirty="0" err="1">
                <a:solidFill>
                  <a:srgbClr val="FFFFFF"/>
                </a:solidFill>
                <a:latin typeface="Segoe UI"/>
              </a:rPr>
              <a:t>documentaire</a:t>
            </a:r>
            <a:endParaRPr sz="2400" b="1" i="0" dirty="0">
              <a:solidFill>
                <a:srgbClr val="FFFFFF"/>
              </a:solidFill>
              <a:latin typeface="Segoe UI"/>
            </a:endParaRPr>
          </a:p>
        </p:txBody>
      </p:sp>
      <p:sp>
        <p:nvSpPr>
          <p:cNvPr id="7" name="Rounded Rectangle 6">
            <a:extLst>
              <a:ext uri="{FF2B5EF4-FFF2-40B4-BE49-F238E27FC236}">
                <a16:creationId xmlns:a16="http://schemas.microsoft.com/office/drawing/2014/main" id="{B8B2F9CD-0327-8FB8-CA01-7A02C594A472}"/>
              </a:ext>
            </a:extLst>
          </p:cNvPr>
          <p:cNvSpPr/>
          <p:nvPr/>
        </p:nvSpPr>
        <p:spPr>
          <a:xfrm>
            <a:off x="457200" y="1554480"/>
            <a:ext cx="2139696" cy="82296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PDF</a:t>
            </a:r>
          </a:p>
        </p:txBody>
      </p:sp>
      <p:sp>
        <p:nvSpPr>
          <p:cNvPr id="8" name="Right Arrow 7">
            <a:extLst>
              <a:ext uri="{FF2B5EF4-FFF2-40B4-BE49-F238E27FC236}">
                <a16:creationId xmlns:a16="http://schemas.microsoft.com/office/drawing/2014/main" id="{A0978669-3765-91AE-E860-AE728FAEE556}"/>
              </a:ext>
            </a:extLst>
          </p:cNvPr>
          <p:cNvSpPr/>
          <p:nvPr/>
        </p:nvSpPr>
        <p:spPr>
          <a:xfrm>
            <a:off x="2596896"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D7C6F18D-25A9-81EA-34D1-953BCA4CF49D}"/>
              </a:ext>
            </a:extLst>
          </p:cNvPr>
          <p:cNvSpPr/>
          <p:nvPr/>
        </p:nvSpPr>
        <p:spPr>
          <a:xfrm>
            <a:off x="2734056" y="1554480"/>
            <a:ext cx="2139696" cy="8229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B2233"/>
                </a:solidFill>
              </a:rPr>
              <a:t>Extraction</a:t>
            </a:r>
          </a:p>
        </p:txBody>
      </p:sp>
      <p:sp>
        <p:nvSpPr>
          <p:cNvPr id="10" name="Right Arrow 9">
            <a:extLst>
              <a:ext uri="{FF2B5EF4-FFF2-40B4-BE49-F238E27FC236}">
                <a16:creationId xmlns:a16="http://schemas.microsoft.com/office/drawing/2014/main" id="{B6477606-76C3-FAC9-402D-633090B1105F}"/>
              </a:ext>
            </a:extLst>
          </p:cNvPr>
          <p:cNvSpPr/>
          <p:nvPr/>
        </p:nvSpPr>
        <p:spPr>
          <a:xfrm>
            <a:off x="4873752"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4A4AFEA1-2116-A80C-B52C-D46E8E943557}"/>
              </a:ext>
            </a:extLst>
          </p:cNvPr>
          <p:cNvSpPr/>
          <p:nvPr/>
        </p:nvSpPr>
        <p:spPr>
          <a:xfrm>
            <a:off x="5010912" y="1554480"/>
            <a:ext cx="2139696" cy="82296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Chunking</a:t>
            </a:r>
          </a:p>
        </p:txBody>
      </p:sp>
      <p:sp>
        <p:nvSpPr>
          <p:cNvPr id="12" name="Right Arrow 11">
            <a:extLst>
              <a:ext uri="{FF2B5EF4-FFF2-40B4-BE49-F238E27FC236}">
                <a16:creationId xmlns:a16="http://schemas.microsoft.com/office/drawing/2014/main" id="{7BD07671-B524-A7F5-F91A-F32DCC4EDFA2}"/>
              </a:ext>
            </a:extLst>
          </p:cNvPr>
          <p:cNvSpPr/>
          <p:nvPr/>
        </p:nvSpPr>
        <p:spPr>
          <a:xfrm>
            <a:off x="7150608"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a:extLst>
              <a:ext uri="{FF2B5EF4-FFF2-40B4-BE49-F238E27FC236}">
                <a16:creationId xmlns:a16="http://schemas.microsoft.com/office/drawing/2014/main" id="{54D87E9F-211F-04C8-7830-B0DAE232606A}"/>
              </a:ext>
            </a:extLst>
          </p:cNvPr>
          <p:cNvSpPr/>
          <p:nvPr/>
        </p:nvSpPr>
        <p:spPr>
          <a:xfrm>
            <a:off x="7287768" y="1554480"/>
            <a:ext cx="2139696" cy="8229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B2233"/>
                </a:solidFill>
              </a:rPr>
              <a:t>Embeddings</a:t>
            </a:r>
          </a:p>
        </p:txBody>
      </p:sp>
      <p:sp>
        <p:nvSpPr>
          <p:cNvPr id="14" name="Right Arrow 13">
            <a:extLst>
              <a:ext uri="{FF2B5EF4-FFF2-40B4-BE49-F238E27FC236}">
                <a16:creationId xmlns:a16="http://schemas.microsoft.com/office/drawing/2014/main" id="{85ABBB06-3957-61B5-B52A-B6B609098C48}"/>
              </a:ext>
            </a:extLst>
          </p:cNvPr>
          <p:cNvSpPr/>
          <p:nvPr/>
        </p:nvSpPr>
        <p:spPr>
          <a:xfrm>
            <a:off x="9427464"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8C807D01-AC9C-30E5-858F-E4DAB3E4FEA1}"/>
              </a:ext>
            </a:extLst>
          </p:cNvPr>
          <p:cNvSpPr/>
          <p:nvPr/>
        </p:nvSpPr>
        <p:spPr>
          <a:xfrm>
            <a:off x="9564624" y="1554480"/>
            <a:ext cx="2139696" cy="82296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Vector Search</a:t>
            </a:r>
          </a:p>
        </p:txBody>
      </p:sp>
      <p:sp>
        <p:nvSpPr>
          <p:cNvPr id="16" name="TextBox 15">
            <a:extLst>
              <a:ext uri="{FF2B5EF4-FFF2-40B4-BE49-F238E27FC236}">
                <a16:creationId xmlns:a16="http://schemas.microsoft.com/office/drawing/2014/main" id="{66CAA053-8FB9-4432-2F7D-5673EAD14906}"/>
              </a:ext>
            </a:extLst>
          </p:cNvPr>
          <p:cNvSpPr txBox="1"/>
          <p:nvPr/>
        </p:nvSpPr>
        <p:spPr>
          <a:xfrm>
            <a:off x="548640" y="2926080"/>
            <a:ext cx="5486400" cy="365760"/>
          </a:xfrm>
          <a:prstGeom prst="rect">
            <a:avLst/>
          </a:prstGeom>
          <a:noFill/>
        </p:spPr>
        <p:txBody>
          <a:bodyPr wrap="square">
            <a:spAutoFit/>
          </a:bodyPr>
          <a:lstStyle/>
          <a:p>
            <a:pPr algn="l"/>
            <a:r>
              <a:rPr sz="1700" b="1" i="0">
                <a:solidFill>
                  <a:srgbClr val="0A3D91"/>
                </a:solidFill>
                <a:latin typeface="Segoe UI"/>
              </a:rPr>
              <a:t>Pourquoi chunker ?</a:t>
            </a:r>
          </a:p>
        </p:txBody>
      </p:sp>
      <p:sp>
        <p:nvSpPr>
          <p:cNvPr id="17" name="TextBox 16">
            <a:extLst>
              <a:ext uri="{FF2B5EF4-FFF2-40B4-BE49-F238E27FC236}">
                <a16:creationId xmlns:a16="http://schemas.microsoft.com/office/drawing/2014/main" id="{6CEA36BB-A335-5A43-39B2-48C009B98D74}"/>
              </a:ext>
            </a:extLst>
          </p:cNvPr>
          <p:cNvSpPr txBox="1"/>
          <p:nvPr/>
        </p:nvSpPr>
        <p:spPr>
          <a:xfrm>
            <a:off x="548640" y="3383280"/>
            <a:ext cx="10515600" cy="1463040"/>
          </a:xfrm>
          <a:prstGeom prst="rect">
            <a:avLst/>
          </a:prstGeom>
          <a:noFill/>
        </p:spPr>
        <p:txBody>
          <a:bodyPr wrap="square">
            <a:spAutoFit/>
          </a:bodyPr>
          <a:lstStyle/>
          <a:p>
            <a:pPr>
              <a:lnSpc>
                <a:spcPct val="120000"/>
              </a:lnSpc>
              <a:spcAft>
                <a:spcPts val="800"/>
              </a:spcAft>
            </a:pPr>
            <a:r>
              <a:rPr sz="1600">
                <a:solidFill>
                  <a:srgbClr val="1B2233"/>
                </a:solidFill>
                <a:latin typeface="Segoe UI"/>
              </a:rPr>
              <a:t>• Reduire la taille des documents</a:t>
            </a:r>
          </a:p>
          <a:p>
            <a:pPr>
              <a:lnSpc>
                <a:spcPct val="120000"/>
              </a:lnSpc>
              <a:spcAft>
                <a:spcPts val="800"/>
              </a:spcAft>
            </a:pPr>
            <a:r>
              <a:rPr sz="1600">
                <a:solidFill>
                  <a:srgbClr val="1B2233"/>
                </a:solidFill>
                <a:latin typeface="Segoe UI"/>
              </a:rPr>
              <a:t>• Ameliorer la recherche</a:t>
            </a:r>
          </a:p>
        </p:txBody>
      </p:sp>
      <p:sp>
        <p:nvSpPr>
          <p:cNvPr id="18" name="TextBox 17">
            <a:extLst>
              <a:ext uri="{FF2B5EF4-FFF2-40B4-BE49-F238E27FC236}">
                <a16:creationId xmlns:a16="http://schemas.microsoft.com/office/drawing/2014/main" id="{B11934B8-51D1-1A12-B856-6CE5DA423081}"/>
              </a:ext>
            </a:extLst>
          </p:cNvPr>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9" name="TextBox 18">
            <a:extLst>
              <a:ext uri="{FF2B5EF4-FFF2-40B4-BE49-F238E27FC236}">
                <a16:creationId xmlns:a16="http://schemas.microsoft.com/office/drawing/2014/main" id="{0C914CFF-F86B-E201-53D2-02FD182DD92F}"/>
              </a:ext>
            </a:extLst>
          </p:cNvPr>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8/18</a:t>
            </a:r>
          </a:p>
        </p:txBody>
      </p:sp>
    </p:spTree>
    <p:extLst>
      <p:ext uri="{BB962C8B-B14F-4D97-AF65-F5344CB8AC3E}">
        <p14:creationId xmlns:p14="http://schemas.microsoft.com/office/powerpoint/2010/main" val="2778161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RECHERCHE SEMANTIQUE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Embeddings et Vector Search</a:t>
            </a:r>
          </a:p>
        </p:txBody>
      </p:sp>
      <p:sp>
        <p:nvSpPr>
          <p:cNvPr id="7" name="Rounded Rectangle 6"/>
          <p:cNvSpPr/>
          <p:nvPr/>
        </p:nvSpPr>
        <p:spPr>
          <a:xfrm>
            <a:off x="3901287" y="1371600"/>
            <a:ext cx="4389120" cy="54864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Question utilisateur</a:t>
            </a:r>
          </a:p>
        </p:txBody>
      </p:sp>
      <p:sp>
        <p:nvSpPr>
          <p:cNvPr id="8" name="Down Arrow 7"/>
          <p:cNvSpPr/>
          <p:nvPr/>
        </p:nvSpPr>
        <p:spPr>
          <a:xfrm>
            <a:off x="5986119" y="1920240"/>
            <a:ext cx="219456" cy="228600"/>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901287" y="2148840"/>
            <a:ext cx="4389120" cy="54864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233"/>
                </a:solidFill>
              </a:rPr>
              <a:t>Embedding</a:t>
            </a:r>
          </a:p>
        </p:txBody>
      </p:sp>
      <p:sp>
        <p:nvSpPr>
          <p:cNvPr id="10" name="Down Arrow 9"/>
          <p:cNvSpPr/>
          <p:nvPr/>
        </p:nvSpPr>
        <p:spPr>
          <a:xfrm>
            <a:off x="5986119" y="2697480"/>
            <a:ext cx="219456" cy="228600"/>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01287" y="2926080"/>
            <a:ext cx="4389120" cy="54864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Vector Search</a:t>
            </a:r>
          </a:p>
        </p:txBody>
      </p:sp>
      <p:sp>
        <p:nvSpPr>
          <p:cNvPr id="12" name="Down Arrow 11"/>
          <p:cNvSpPr/>
          <p:nvPr/>
        </p:nvSpPr>
        <p:spPr>
          <a:xfrm>
            <a:off x="5986119" y="3474720"/>
            <a:ext cx="219456" cy="228600"/>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901287" y="3703320"/>
            <a:ext cx="4389120" cy="54864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B2233"/>
                </a:solidFill>
              </a:rPr>
              <a:t>Top 3 Chunks</a:t>
            </a:r>
          </a:p>
        </p:txBody>
      </p:sp>
      <p:sp>
        <p:nvSpPr>
          <p:cNvPr id="14" name="Rectangle 13"/>
          <p:cNvSpPr/>
          <p:nvPr/>
        </p:nvSpPr>
        <p:spPr>
          <a:xfrm>
            <a:off x="1463040" y="5212080"/>
            <a:ext cx="54864" cy="73152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5212080"/>
            <a:ext cx="9006840" cy="731520"/>
          </a:xfrm>
          <a:prstGeom prst="rect">
            <a:avLst/>
          </a:prstGeom>
          <a:noFill/>
        </p:spPr>
        <p:txBody>
          <a:bodyPr wrap="square">
            <a:spAutoFit/>
          </a:bodyPr>
          <a:lstStyle/>
          <a:p>
            <a:pPr algn="l"/>
            <a:r>
              <a:rPr sz="1700" b="1" i="1">
                <a:solidFill>
                  <a:srgbClr val="0A3D91"/>
                </a:solidFill>
                <a:latin typeface="Segoe UI"/>
              </a:rPr>
              <a:t>L'embedding transforme le texte en vecteur afin de comparer le sens et non les mots.</a:t>
            </a:r>
          </a:p>
        </p:txBody>
      </p:sp>
      <p:sp>
        <p:nvSpPr>
          <p:cNvPr id="16" name="TextBox 15"/>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7" name="TextBox 16"/>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9/18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Segoe UI" panose="020B0502040204020203" pitchFamily="34" charset="0"/>
              <a:cs typeface="Segoe UI" panose="020B0502040204020203" pitchFamily="34" charset="0"/>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Segoe UI" panose="020B0502040204020203" pitchFamily="34" charset="0"/>
              <a:cs typeface="Segoe UI" panose="020B0502040204020203" pitchFamily="34" charset="0"/>
            </a:endParaRPr>
          </a:p>
        </p:txBody>
      </p:sp>
      <p:sp>
        <p:nvSpPr>
          <p:cNvPr id="5" name="TextBox 4"/>
          <p:cNvSpPr txBox="1"/>
          <p:nvPr/>
        </p:nvSpPr>
        <p:spPr>
          <a:xfrm>
            <a:off x="841248" y="54864"/>
            <a:ext cx="10515600" cy="584775"/>
          </a:xfrm>
          <a:prstGeom prst="rect">
            <a:avLst/>
          </a:prstGeom>
          <a:noFill/>
        </p:spPr>
        <p:txBody>
          <a:bodyPr wrap="square">
            <a:spAutoFit/>
          </a:bodyPr>
          <a:lstStyle/>
          <a:p>
            <a:pPr algn="l"/>
            <a:r>
              <a:rPr sz="3200" b="1" i="0" dirty="0">
                <a:solidFill>
                  <a:srgbClr val="D4AF37"/>
                </a:solidFill>
                <a:latin typeface="Segoe UI Semibold" panose="020B0702040204020203" pitchFamily="34" charset="0"/>
                <a:cs typeface="Segoe UI Semibold" panose="020B0702040204020203" pitchFamily="34" charset="0"/>
              </a:rPr>
              <a:t>GENERATION</a:t>
            </a:r>
          </a:p>
        </p:txBody>
      </p:sp>
      <p:sp>
        <p:nvSpPr>
          <p:cNvPr id="6" name="TextBox 5"/>
          <p:cNvSpPr txBox="1"/>
          <p:nvPr/>
        </p:nvSpPr>
        <p:spPr>
          <a:xfrm>
            <a:off x="2093519" y="409384"/>
            <a:ext cx="10515600" cy="584775"/>
          </a:xfrm>
          <a:prstGeom prst="rect">
            <a:avLst/>
          </a:prstGeom>
          <a:noFill/>
        </p:spPr>
        <p:txBody>
          <a:bodyPr wrap="square">
            <a:spAutoFit/>
          </a:bodyPr>
          <a:lstStyle/>
          <a:p>
            <a:pPr algn="l"/>
            <a:r>
              <a:rPr sz="3200" b="1" i="0" dirty="0" err="1">
                <a:solidFill>
                  <a:srgbClr val="FFFFFF"/>
                </a:solidFill>
                <a:latin typeface="Segoe UI Semibold" panose="020B0702040204020203" pitchFamily="34" charset="0"/>
                <a:cs typeface="Segoe UI Semibold" panose="020B0702040204020203" pitchFamily="34" charset="0"/>
              </a:rPr>
              <a:t>Fonctionnement</a:t>
            </a:r>
            <a:r>
              <a:rPr sz="3200" b="1" i="0" dirty="0">
                <a:solidFill>
                  <a:srgbClr val="FFFFFF"/>
                </a:solidFill>
                <a:latin typeface="Segoe UI Semibold" panose="020B0702040204020203" pitchFamily="34" charset="0"/>
                <a:cs typeface="Segoe UI Semibold" panose="020B0702040204020203" pitchFamily="34" charset="0"/>
              </a:rPr>
              <a:t> du RAG</a:t>
            </a:r>
          </a:p>
        </p:txBody>
      </p:sp>
      <p:sp>
        <p:nvSpPr>
          <p:cNvPr id="18" name="TextBox 17"/>
          <p:cNvSpPr txBox="1"/>
          <p:nvPr/>
        </p:nvSpPr>
        <p:spPr>
          <a:xfrm>
            <a:off x="11064240" y="6528816"/>
            <a:ext cx="899160" cy="369332"/>
          </a:xfrm>
          <a:prstGeom prst="rect">
            <a:avLst/>
          </a:prstGeom>
          <a:noFill/>
        </p:spPr>
        <p:txBody>
          <a:bodyPr wrap="square">
            <a:spAutoFit/>
          </a:bodyPr>
          <a:lstStyle/>
          <a:p>
            <a:pPr algn="r"/>
            <a:r>
              <a:rPr b="0" i="0" dirty="0">
                <a:solidFill>
                  <a:srgbClr val="667085"/>
                </a:solidFill>
                <a:latin typeface="Segoe UI" panose="020B0502040204020203" pitchFamily="34" charset="0"/>
                <a:cs typeface="Segoe UI" panose="020B0502040204020203" pitchFamily="34" charset="0"/>
              </a:rPr>
              <a:t>10/18</a:t>
            </a:r>
          </a:p>
        </p:txBody>
      </p:sp>
      <p:sp>
        <p:nvSpPr>
          <p:cNvPr id="26" name="ZoneTexte 25">
            <a:extLst>
              <a:ext uri="{FF2B5EF4-FFF2-40B4-BE49-F238E27FC236}">
                <a16:creationId xmlns:a16="http://schemas.microsoft.com/office/drawing/2014/main" id="{EC0BCF14-A73D-750C-DAC8-833C899A177C}"/>
              </a:ext>
            </a:extLst>
          </p:cNvPr>
          <p:cNvSpPr txBox="1"/>
          <p:nvPr/>
        </p:nvSpPr>
        <p:spPr>
          <a:xfrm>
            <a:off x="211456" y="1732366"/>
            <a:ext cx="3322319" cy="3831818"/>
          </a:xfrm>
          <a:prstGeom prst="rect">
            <a:avLst/>
          </a:prstGeom>
          <a:noFill/>
        </p:spPr>
        <p:txBody>
          <a:bodyPr wrap="square">
            <a:spAutoFit/>
          </a:bodyPr>
          <a:lstStyle/>
          <a:p>
            <a:pPr algn="just" fontAlgn="t">
              <a:lnSpc>
                <a:spcPct val="150000"/>
              </a:lnSpc>
              <a:buNone/>
            </a:pPr>
            <a:r>
              <a:rPr lang="fr-FR" b="0" i="0" dirty="0">
                <a:effectLst/>
                <a:latin typeface="Segoe UI" panose="020B0502040204020203" pitchFamily="34" charset="0"/>
                <a:cs typeface="Segoe UI" panose="020B0502040204020203" pitchFamily="34" charset="0"/>
              </a:rPr>
              <a:t>Le </a:t>
            </a:r>
            <a:r>
              <a:rPr lang="fr-FR" b="1" i="0" dirty="0">
                <a:effectLst/>
                <a:latin typeface="Segoe UI" panose="020B0502040204020203" pitchFamily="34" charset="0"/>
                <a:cs typeface="Segoe UI" panose="020B0502040204020203" pitchFamily="34" charset="0"/>
              </a:rPr>
              <a:t>RAG (</a:t>
            </a:r>
            <a:r>
              <a:rPr lang="fr-FR" b="1" i="0" dirty="0" err="1">
                <a:effectLst/>
                <a:latin typeface="Segoe UI" panose="020B0502040204020203" pitchFamily="34" charset="0"/>
                <a:cs typeface="Segoe UI" panose="020B0502040204020203" pitchFamily="34" charset="0"/>
              </a:rPr>
              <a:t>Retrieval-Augmented</a:t>
            </a:r>
            <a:r>
              <a:rPr lang="fr-FR" b="1" i="0" dirty="0">
                <a:effectLst/>
                <a:latin typeface="Segoe UI" panose="020B0502040204020203" pitchFamily="34" charset="0"/>
                <a:cs typeface="Segoe UI" panose="020B0502040204020203" pitchFamily="34" charset="0"/>
              </a:rPr>
              <a:t> </a:t>
            </a:r>
            <a:r>
              <a:rPr lang="fr-FR" b="1" i="0" dirty="0" err="1">
                <a:effectLst/>
                <a:latin typeface="Segoe UI" panose="020B0502040204020203" pitchFamily="34" charset="0"/>
                <a:cs typeface="Segoe UI" panose="020B0502040204020203" pitchFamily="34" charset="0"/>
              </a:rPr>
              <a:t>Generation</a:t>
            </a:r>
            <a:r>
              <a:rPr lang="fr-FR" b="1" i="0" dirty="0">
                <a:effectLst/>
                <a:latin typeface="Segoe UI" panose="020B0502040204020203" pitchFamily="34" charset="0"/>
                <a:cs typeface="Segoe UI" panose="020B0502040204020203" pitchFamily="34" charset="0"/>
              </a:rPr>
              <a:t>) </a:t>
            </a:r>
            <a:r>
              <a:rPr lang="fr-FR" b="0" i="0" dirty="0">
                <a:effectLst/>
                <a:latin typeface="Segoe UI" panose="020B0502040204020203" pitchFamily="34" charset="0"/>
                <a:cs typeface="Segoe UI" panose="020B0502040204020203" pitchFamily="34" charset="0"/>
              </a:rPr>
              <a:t>est une technique qui permet à une IA de rechercher des informations pertinentes dans une base documentaire avant de générer une réponse, afin d'améliorer sa fiabilité, sa précision et sa traçabilité.</a:t>
            </a:r>
          </a:p>
        </p:txBody>
      </p:sp>
      <p:graphicFrame>
        <p:nvGraphicFramePr>
          <p:cNvPr id="30" name="Diagramme 29">
            <a:extLst>
              <a:ext uri="{FF2B5EF4-FFF2-40B4-BE49-F238E27FC236}">
                <a16:creationId xmlns:a16="http://schemas.microsoft.com/office/drawing/2014/main" id="{CD787AA8-CF1F-4F9E-EEBE-AB119B3252BF}"/>
              </a:ext>
            </a:extLst>
          </p:cNvPr>
          <p:cNvGraphicFramePr/>
          <p:nvPr>
            <p:extLst>
              <p:ext uri="{D42A27DB-BD31-4B8C-83A1-F6EECF244321}">
                <p14:modId xmlns:p14="http://schemas.microsoft.com/office/powerpoint/2010/main" val="2957358433"/>
              </p:ext>
            </p:extLst>
          </p:nvPr>
        </p:nvGraphicFramePr>
        <p:xfrm>
          <a:off x="2857500" y="885824"/>
          <a:ext cx="9334195" cy="5972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ORCHESTRATION</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Pourquoi LangGraph ?</a:t>
            </a:r>
          </a:p>
        </p:txBody>
      </p:sp>
      <p:sp>
        <p:nvSpPr>
          <p:cNvPr id="7" name="Rounded Rectangle 6"/>
          <p:cNvSpPr/>
          <p:nvPr/>
        </p:nvSpPr>
        <p:spPr>
          <a:xfrm>
            <a:off x="1280160" y="1554480"/>
            <a:ext cx="2297430" cy="82296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Question</a:t>
            </a:r>
          </a:p>
        </p:txBody>
      </p:sp>
      <p:sp>
        <p:nvSpPr>
          <p:cNvPr id="8" name="Right Arrow 7"/>
          <p:cNvSpPr/>
          <p:nvPr/>
        </p:nvSpPr>
        <p:spPr>
          <a:xfrm>
            <a:off x="3577590"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714750" y="1554480"/>
            <a:ext cx="2297430" cy="8229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B2233"/>
                </a:solidFill>
              </a:rPr>
              <a:t>LangGraph</a:t>
            </a:r>
          </a:p>
        </p:txBody>
      </p:sp>
      <p:sp>
        <p:nvSpPr>
          <p:cNvPr id="10" name="Right Arrow 9"/>
          <p:cNvSpPr/>
          <p:nvPr/>
        </p:nvSpPr>
        <p:spPr>
          <a:xfrm>
            <a:off x="6012180"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49340" y="1554480"/>
            <a:ext cx="2297430" cy="82296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Agents specialises</a:t>
            </a:r>
          </a:p>
        </p:txBody>
      </p:sp>
      <p:sp>
        <p:nvSpPr>
          <p:cNvPr id="12" name="Right Arrow 11"/>
          <p:cNvSpPr/>
          <p:nvPr/>
        </p:nvSpPr>
        <p:spPr>
          <a:xfrm>
            <a:off x="8446770" y="18288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583930" y="1554480"/>
            <a:ext cx="2297430" cy="82296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1B2233"/>
                </a:solidFill>
              </a:rPr>
              <a:t>Reponse</a:t>
            </a:r>
          </a:p>
        </p:txBody>
      </p:sp>
      <p:sp>
        <p:nvSpPr>
          <p:cNvPr id="14" name="TextBox 13"/>
          <p:cNvSpPr txBox="1"/>
          <p:nvPr/>
        </p:nvSpPr>
        <p:spPr>
          <a:xfrm>
            <a:off x="548640" y="3017520"/>
            <a:ext cx="5486400" cy="365760"/>
          </a:xfrm>
          <a:prstGeom prst="rect">
            <a:avLst/>
          </a:prstGeom>
          <a:noFill/>
        </p:spPr>
        <p:txBody>
          <a:bodyPr wrap="square">
            <a:spAutoFit/>
          </a:bodyPr>
          <a:lstStyle/>
          <a:p>
            <a:pPr algn="l"/>
            <a:r>
              <a:rPr sz="1700" b="1" i="0">
                <a:solidFill>
                  <a:srgbClr val="0A3D91"/>
                </a:solidFill>
                <a:latin typeface="Segoe UI"/>
              </a:rPr>
              <a:t>Role</a:t>
            </a:r>
          </a:p>
        </p:txBody>
      </p:sp>
      <p:sp>
        <p:nvSpPr>
          <p:cNvPr id="15" name="TextBox 14"/>
          <p:cNvSpPr txBox="1"/>
          <p:nvPr/>
        </p:nvSpPr>
        <p:spPr>
          <a:xfrm>
            <a:off x="548640" y="3474720"/>
            <a:ext cx="10515600" cy="1828800"/>
          </a:xfrm>
          <a:prstGeom prst="rect">
            <a:avLst/>
          </a:prstGeom>
          <a:noFill/>
        </p:spPr>
        <p:txBody>
          <a:bodyPr wrap="square">
            <a:spAutoFit/>
          </a:bodyPr>
          <a:lstStyle/>
          <a:p>
            <a:pPr>
              <a:lnSpc>
                <a:spcPct val="120000"/>
              </a:lnSpc>
              <a:spcAft>
                <a:spcPts val="800"/>
              </a:spcAft>
            </a:pPr>
            <a:r>
              <a:rPr sz="1600">
                <a:solidFill>
                  <a:srgbClr val="1B2233"/>
                </a:solidFill>
                <a:latin typeface="Segoe UI"/>
              </a:rPr>
              <a:t>• Gestion des flux</a:t>
            </a:r>
          </a:p>
          <a:p>
            <a:pPr>
              <a:lnSpc>
                <a:spcPct val="120000"/>
              </a:lnSpc>
              <a:spcAft>
                <a:spcPts val="800"/>
              </a:spcAft>
            </a:pPr>
            <a:r>
              <a:rPr sz="1600">
                <a:solidFill>
                  <a:srgbClr val="1B2233"/>
                </a:solidFill>
                <a:latin typeface="Segoe UI"/>
              </a:rPr>
              <a:t>• Coordination des agents</a:t>
            </a:r>
          </a:p>
          <a:p>
            <a:pPr>
              <a:lnSpc>
                <a:spcPct val="120000"/>
              </a:lnSpc>
              <a:spcAft>
                <a:spcPts val="800"/>
              </a:spcAft>
            </a:pPr>
            <a:r>
              <a:rPr sz="1600">
                <a:solidFill>
                  <a:srgbClr val="1B2233"/>
                </a:solidFill>
                <a:latin typeface="Segoe UI"/>
              </a:rPr>
              <a:t>• Etat de conversation</a:t>
            </a:r>
          </a:p>
        </p:txBody>
      </p:sp>
      <p:sp>
        <p:nvSpPr>
          <p:cNvPr id="16" name="TextBox 15"/>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7" name="TextBox 16"/>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11/18</a:t>
            </a:r>
          </a:p>
        </p:txBody>
      </p:sp>
      <p:pic>
        <p:nvPicPr>
          <p:cNvPr id="19" name="Image 18">
            <a:extLst>
              <a:ext uri="{FF2B5EF4-FFF2-40B4-BE49-F238E27FC236}">
                <a16:creationId xmlns:a16="http://schemas.microsoft.com/office/drawing/2014/main" id="{A5E88440-584B-BAE8-7DDC-D104F94183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360" y="5330616"/>
            <a:ext cx="9820656" cy="11200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MULTI-AGENTS</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Architecture Multi-Agents</a:t>
            </a:r>
          </a:p>
        </p:txBody>
      </p:sp>
      <p:sp>
        <p:nvSpPr>
          <p:cNvPr id="9" name="TextBox 8"/>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12/18</a:t>
            </a:r>
          </a:p>
        </p:txBody>
      </p:sp>
      <p:pic>
        <p:nvPicPr>
          <p:cNvPr id="10" name="Image 9">
            <a:extLst>
              <a:ext uri="{FF2B5EF4-FFF2-40B4-BE49-F238E27FC236}">
                <a16:creationId xmlns:a16="http://schemas.microsoft.com/office/drawing/2014/main" id="{59738F08-9479-05F6-8EF1-EA9EE97C6D6E}"/>
              </a:ext>
            </a:extLst>
          </p:cNvPr>
          <p:cNvPicPr>
            <a:picLocks noChangeAspect="1"/>
          </p:cNvPicPr>
          <p:nvPr/>
        </p:nvPicPr>
        <p:blipFill>
          <a:blip r:embed="rId2"/>
          <a:srcRect l="3129" r="3597" b="1731"/>
          <a:stretch>
            <a:fillRect/>
          </a:stretch>
        </p:blipFill>
        <p:spPr>
          <a:xfrm>
            <a:off x="6193231" y="886968"/>
            <a:ext cx="5998464" cy="5971032"/>
          </a:xfrm>
          <a:prstGeom prst="rect">
            <a:avLst/>
          </a:prstGeom>
        </p:spPr>
      </p:pic>
      <p:graphicFrame>
        <p:nvGraphicFramePr>
          <p:cNvPr id="11" name="Tableau 10">
            <a:extLst>
              <a:ext uri="{FF2B5EF4-FFF2-40B4-BE49-F238E27FC236}">
                <a16:creationId xmlns:a16="http://schemas.microsoft.com/office/drawing/2014/main" id="{027FA935-8CA3-EA1E-8EAA-9BED443E9BBC}"/>
              </a:ext>
            </a:extLst>
          </p:cNvPr>
          <p:cNvGraphicFramePr>
            <a:graphicFrameLocks noGrp="1"/>
          </p:cNvGraphicFramePr>
          <p:nvPr>
            <p:extLst>
              <p:ext uri="{D42A27DB-BD31-4B8C-83A1-F6EECF244321}">
                <p14:modId xmlns:p14="http://schemas.microsoft.com/office/powerpoint/2010/main" val="777065123"/>
              </p:ext>
            </p:extLst>
          </p:nvPr>
        </p:nvGraphicFramePr>
        <p:xfrm>
          <a:off x="0" y="960120"/>
          <a:ext cx="6193231" cy="5897878"/>
        </p:xfrm>
        <a:graphic>
          <a:graphicData uri="http://schemas.openxmlformats.org/drawingml/2006/table">
            <a:tbl>
              <a:tblPr firstRow="1" firstCol="1" bandRow="1">
                <a:tableStyleId>{5C22544A-7EE6-4342-B048-85BDC9FD1C3A}</a:tableStyleId>
              </a:tblPr>
              <a:tblGrid>
                <a:gridCol w="1399032">
                  <a:extLst>
                    <a:ext uri="{9D8B030D-6E8A-4147-A177-3AD203B41FA5}">
                      <a16:colId xmlns:a16="http://schemas.microsoft.com/office/drawing/2014/main" val="1835386405"/>
                    </a:ext>
                  </a:extLst>
                </a:gridCol>
                <a:gridCol w="4794199">
                  <a:extLst>
                    <a:ext uri="{9D8B030D-6E8A-4147-A177-3AD203B41FA5}">
                      <a16:colId xmlns:a16="http://schemas.microsoft.com/office/drawing/2014/main" val="1025750492"/>
                    </a:ext>
                  </a:extLst>
                </a:gridCol>
              </a:tblGrid>
              <a:tr h="250582">
                <a:tc>
                  <a:txBody>
                    <a:bodyPr/>
                    <a:lstStyle/>
                    <a:p>
                      <a:pPr algn="just">
                        <a:lnSpc>
                          <a:spcPct val="150000"/>
                        </a:lnSpc>
                        <a:spcAft>
                          <a:spcPts val="800"/>
                        </a:spcAft>
                        <a:buNone/>
                      </a:pPr>
                      <a:r>
                        <a:rPr lang="fr-FR" sz="900">
                          <a:effectLst/>
                        </a:rPr>
                        <a:t>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dirty="0">
                          <a:effectLst/>
                        </a:rPr>
                        <a:t>Description</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1801014265"/>
                  </a:ext>
                </a:extLst>
              </a:tr>
              <a:tr h="809469">
                <a:tc>
                  <a:txBody>
                    <a:bodyPr/>
                    <a:lstStyle/>
                    <a:p>
                      <a:pPr algn="just">
                        <a:lnSpc>
                          <a:spcPct val="150000"/>
                        </a:lnSpc>
                        <a:spcAft>
                          <a:spcPts val="800"/>
                        </a:spcAft>
                        <a:buNone/>
                      </a:pPr>
                      <a:r>
                        <a:rPr lang="fr-FR" sz="900">
                          <a:effectLst/>
                        </a:rPr>
                        <a:t>Orchestrateur</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a:effectLst/>
                        </a:rPr>
                        <a:t>Coordonne l’ensemble des traitements réalisés au sein de la plateforme. Il analyse les requêtes, détermine les agents à mobiliser et centralise les résultats obtenus avant la génération de la réponse finale.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3947042123"/>
                  </a:ext>
                </a:extLst>
              </a:tr>
              <a:tr h="530025">
                <a:tc>
                  <a:txBody>
                    <a:bodyPr/>
                    <a:lstStyle/>
                    <a:p>
                      <a:pPr algn="just">
                        <a:lnSpc>
                          <a:spcPct val="150000"/>
                        </a:lnSpc>
                        <a:spcAft>
                          <a:spcPts val="800"/>
                        </a:spcAft>
                        <a:buNone/>
                      </a:pPr>
                      <a:r>
                        <a:rPr lang="fr-FR" sz="900">
                          <a:effectLst/>
                        </a:rPr>
                        <a:t>Privacy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a:effectLst/>
                        </a:rPr>
                        <a:t>Intervient dans les contrôles liés à la protection des données sensibles et veille au respect des règles de confidentialité appliquées aux échanges utilisateurs.</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2209723222"/>
                  </a:ext>
                </a:extLst>
              </a:tr>
              <a:tr h="530025">
                <a:tc>
                  <a:txBody>
                    <a:bodyPr/>
                    <a:lstStyle/>
                    <a:p>
                      <a:pPr algn="just">
                        <a:lnSpc>
                          <a:spcPct val="150000"/>
                        </a:lnSpc>
                        <a:spcAft>
                          <a:spcPts val="800"/>
                        </a:spcAft>
                        <a:buNone/>
                      </a:pPr>
                      <a:r>
                        <a:rPr lang="fr-FR" sz="900">
                          <a:effectLst/>
                        </a:rPr>
                        <a:t>Fraud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dirty="0">
                          <a:effectLst/>
                        </a:rPr>
                        <a:t>Analyse les requêtes portant sur la fraude bancaire et contribue à orienter les réponses vers les procédures et ressources appropriées.</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2525826049"/>
                  </a:ext>
                </a:extLst>
              </a:tr>
              <a:tr h="530025">
                <a:tc>
                  <a:txBody>
                    <a:bodyPr/>
                    <a:lstStyle/>
                    <a:p>
                      <a:pPr algn="just">
                        <a:lnSpc>
                          <a:spcPct val="150000"/>
                        </a:lnSpc>
                        <a:spcAft>
                          <a:spcPts val="800"/>
                        </a:spcAft>
                        <a:buNone/>
                      </a:pPr>
                      <a:r>
                        <a:rPr lang="fr-FR" sz="900">
                          <a:effectLst/>
                        </a:rPr>
                        <a:t>Compliance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a:effectLst/>
                        </a:rPr>
                        <a:t>Participe à la prise en compte des exigences réglementaires et des obligations de conformité propres au secteur bancaire.</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1318603112"/>
                  </a:ext>
                </a:extLst>
              </a:tr>
              <a:tr h="530025">
                <a:tc>
                  <a:txBody>
                    <a:bodyPr/>
                    <a:lstStyle/>
                    <a:p>
                      <a:pPr algn="just">
                        <a:lnSpc>
                          <a:spcPct val="150000"/>
                        </a:lnSpc>
                        <a:spcAft>
                          <a:spcPts val="800"/>
                        </a:spcAft>
                        <a:buNone/>
                      </a:pPr>
                      <a:r>
                        <a:rPr lang="fr-FR" sz="900">
                          <a:effectLst/>
                        </a:rPr>
                        <a:t>Sentiment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dirty="0">
                          <a:effectLst/>
                        </a:rPr>
                        <a:t>Analyse certains aspects des échanges utilisateurs afin d’enrichir les indicateurs analytiques et d’améliorer la compréhension des interactions.</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3870393473"/>
                  </a:ext>
                </a:extLst>
              </a:tr>
              <a:tr h="809469">
                <a:tc>
                  <a:txBody>
                    <a:bodyPr/>
                    <a:lstStyle/>
                    <a:p>
                      <a:pPr algn="just">
                        <a:lnSpc>
                          <a:spcPct val="150000"/>
                        </a:lnSpc>
                        <a:spcAft>
                          <a:spcPts val="800"/>
                        </a:spcAft>
                        <a:buNone/>
                      </a:pPr>
                      <a:r>
                        <a:rPr lang="fr-FR" sz="900">
                          <a:effectLst/>
                        </a:rPr>
                        <a:t>Retrieval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a:effectLst/>
                        </a:rPr>
                        <a:t>Constitue le cœur du moteur RAG. Il effectue la recherche vectorielle, récupère les documents les plus pertinents et construit le contexte documentaire utilisé pour générer les réponses.</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2934086324"/>
                  </a:ext>
                </a:extLst>
              </a:tr>
              <a:tr h="530025">
                <a:tc>
                  <a:txBody>
                    <a:bodyPr/>
                    <a:lstStyle/>
                    <a:p>
                      <a:pPr algn="just">
                        <a:lnSpc>
                          <a:spcPct val="150000"/>
                        </a:lnSpc>
                        <a:spcAft>
                          <a:spcPts val="800"/>
                        </a:spcAft>
                        <a:buNone/>
                      </a:pPr>
                      <a:r>
                        <a:rPr lang="fr-FR" sz="900">
                          <a:effectLst/>
                        </a:rPr>
                        <a:t>Governance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a:effectLst/>
                        </a:rPr>
                        <a:t>Supervise les indicateurs liés à la gouvernance du système, à la traçabilité des informations et à la qualité des réponses produites.</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1027198270"/>
                  </a:ext>
                </a:extLst>
              </a:tr>
              <a:tr h="530025">
                <a:tc>
                  <a:txBody>
                    <a:bodyPr/>
                    <a:lstStyle/>
                    <a:p>
                      <a:pPr algn="just">
                        <a:lnSpc>
                          <a:spcPct val="150000"/>
                        </a:lnSpc>
                        <a:spcAft>
                          <a:spcPts val="800"/>
                        </a:spcAft>
                        <a:buNone/>
                      </a:pPr>
                      <a:r>
                        <a:rPr lang="fr-FR" sz="900">
                          <a:effectLst/>
                        </a:rPr>
                        <a:t>Analytics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dirty="0">
                          <a:effectLst/>
                        </a:rPr>
                        <a:t>Exploite les données conversationnelles collectées afin de produire des indicateurs d’usage, des tendances métier et des informations d’aide à la décision.</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1299613123"/>
                  </a:ext>
                </a:extLst>
              </a:tr>
              <a:tr h="848208">
                <a:tc>
                  <a:txBody>
                    <a:bodyPr/>
                    <a:lstStyle/>
                    <a:p>
                      <a:pPr algn="just">
                        <a:lnSpc>
                          <a:spcPct val="150000"/>
                        </a:lnSpc>
                        <a:spcAft>
                          <a:spcPts val="800"/>
                        </a:spcAft>
                        <a:buNone/>
                      </a:pPr>
                      <a:r>
                        <a:rPr lang="fr-FR" sz="900">
                          <a:effectLst/>
                        </a:rPr>
                        <a:t>Evaluation Agent</a:t>
                      </a:r>
                      <a:endParaRPr lang="fr-FR" sz="90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tc>
                  <a:txBody>
                    <a:bodyPr/>
                    <a:lstStyle/>
                    <a:p>
                      <a:pPr algn="just">
                        <a:lnSpc>
                          <a:spcPct val="150000"/>
                        </a:lnSpc>
                        <a:spcAft>
                          <a:spcPts val="800"/>
                        </a:spcAft>
                        <a:buNone/>
                      </a:pPr>
                      <a:r>
                        <a:rPr lang="fr-FR" sz="900" dirty="0">
                          <a:effectLst/>
                        </a:rPr>
                        <a:t>Mesure les performances du système à travers différents KPI tels que le </a:t>
                      </a:r>
                      <a:r>
                        <a:rPr lang="fr-FR" sz="900" dirty="0" err="1">
                          <a:effectLst/>
                        </a:rPr>
                        <a:t>Retrieval</a:t>
                      </a:r>
                      <a:r>
                        <a:rPr lang="fr-FR" sz="900" dirty="0">
                          <a:effectLst/>
                        </a:rPr>
                        <a:t> Success Rate, le Source Match Rate, le </a:t>
                      </a:r>
                      <a:r>
                        <a:rPr lang="fr-FR" sz="900" dirty="0" err="1">
                          <a:effectLst/>
                        </a:rPr>
                        <a:t>Category</a:t>
                      </a:r>
                      <a:r>
                        <a:rPr lang="fr-FR" sz="900" dirty="0">
                          <a:effectLst/>
                        </a:rPr>
                        <a:t> Match Rate et le Keyword Match Rate.</a:t>
                      </a:r>
                      <a:endParaRPr lang="fr-F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8484" marR="58484" marT="0" marB="0"/>
                </a:tc>
                <a:extLst>
                  <a:ext uri="{0D108BD9-81ED-4DB2-BD59-A6C34878D82A}">
                    <a16:rowId xmlns:a16="http://schemas.microsoft.com/office/drawing/2014/main" val="15774386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CAS D'USAGE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Parcours complet d'une question</a:t>
            </a:r>
          </a:p>
        </p:txBody>
      </p:sp>
      <p:sp>
        <p:nvSpPr>
          <p:cNvPr id="7" name="Rectangle 6"/>
          <p:cNvSpPr/>
          <p:nvPr/>
        </p:nvSpPr>
        <p:spPr>
          <a:xfrm>
            <a:off x="548640" y="1234440"/>
            <a:ext cx="54864" cy="50292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10835640" cy="502920"/>
          </a:xfrm>
          <a:prstGeom prst="rect">
            <a:avLst/>
          </a:prstGeom>
          <a:noFill/>
        </p:spPr>
        <p:txBody>
          <a:bodyPr wrap="square">
            <a:spAutoFit/>
          </a:bodyPr>
          <a:lstStyle/>
          <a:p>
            <a:pPr algn="l"/>
            <a:r>
              <a:rPr sz="1800" b="1" i="1">
                <a:solidFill>
                  <a:srgbClr val="0A3D91"/>
                </a:solidFill>
                <a:latin typeface="Segoe UI"/>
              </a:rPr>
              <a:t>« Comment faire opposition a ma carte bancaire ? »</a:t>
            </a:r>
          </a:p>
        </p:txBody>
      </p:sp>
      <p:sp>
        <p:nvSpPr>
          <p:cNvPr id="9" name="Rounded Rectangle 8"/>
          <p:cNvSpPr/>
          <p:nvPr/>
        </p:nvSpPr>
        <p:spPr>
          <a:xfrm>
            <a:off x="457200" y="2148840"/>
            <a:ext cx="2708910" cy="73152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FFFFFF"/>
                </a:solidFill>
              </a:rPr>
              <a:t>Utilisateur</a:t>
            </a:r>
          </a:p>
        </p:txBody>
      </p:sp>
      <p:sp>
        <p:nvSpPr>
          <p:cNvPr id="10" name="Right Arrow 9"/>
          <p:cNvSpPr/>
          <p:nvPr/>
        </p:nvSpPr>
        <p:spPr>
          <a:xfrm>
            <a:off x="3166110" y="237744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03270" y="2148840"/>
            <a:ext cx="2708910" cy="73152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1B2233"/>
                </a:solidFill>
              </a:rPr>
              <a:t>Orchestrator</a:t>
            </a:r>
          </a:p>
        </p:txBody>
      </p:sp>
      <p:sp>
        <p:nvSpPr>
          <p:cNvPr id="12" name="Right Arrow 11"/>
          <p:cNvSpPr/>
          <p:nvPr/>
        </p:nvSpPr>
        <p:spPr>
          <a:xfrm>
            <a:off x="6012180" y="237744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49340" y="2148840"/>
            <a:ext cx="2708910" cy="73152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FFFFFF"/>
                </a:solidFill>
              </a:rPr>
              <a:t>Retrieval Agent</a:t>
            </a:r>
          </a:p>
        </p:txBody>
      </p:sp>
      <p:sp>
        <p:nvSpPr>
          <p:cNvPr id="14" name="Right Arrow 13"/>
          <p:cNvSpPr/>
          <p:nvPr/>
        </p:nvSpPr>
        <p:spPr>
          <a:xfrm>
            <a:off x="8858250" y="237744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995410" y="2148840"/>
            <a:ext cx="2708910" cy="73152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1B2233"/>
                </a:solidFill>
              </a:rPr>
              <a:t>Vector Search</a:t>
            </a:r>
          </a:p>
        </p:txBody>
      </p:sp>
      <p:sp>
        <p:nvSpPr>
          <p:cNvPr id="16" name="Rounded Rectangle 15"/>
          <p:cNvSpPr/>
          <p:nvPr/>
        </p:nvSpPr>
        <p:spPr>
          <a:xfrm>
            <a:off x="457200" y="3200400"/>
            <a:ext cx="2708910" cy="73152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FFFFFF"/>
                </a:solidFill>
              </a:rPr>
              <a:t>Contexte</a:t>
            </a:r>
          </a:p>
        </p:txBody>
      </p:sp>
      <p:sp>
        <p:nvSpPr>
          <p:cNvPr id="17" name="Right Arrow 16"/>
          <p:cNvSpPr/>
          <p:nvPr/>
        </p:nvSpPr>
        <p:spPr>
          <a:xfrm>
            <a:off x="3166110" y="34290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303270" y="3200400"/>
            <a:ext cx="2708910" cy="73152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1B2233"/>
                </a:solidFill>
              </a:rPr>
              <a:t>LLM</a:t>
            </a:r>
          </a:p>
        </p:txBody>
      </p:sp>
      <p:sp>
        <p:nvSpPr>
          <p:cNvPr id="19" name="Right Arrow 18"/>
          <p:cNvSpPr/>
          <p:nvPr/>
        </p:nvSpPr>
        <p:spPr>
          <a:xfrm>
            <a:off x="6012180" y="34290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149340" y="3200400"/>
            <a:ext cx="2708910" cy="731520"/>
          </a:xfrm>
          <a:prstGeom prst="round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FFFFFF"/>
                </a:solidFill>
              </a:rPr>
              <a:t>Reponse</a:t>
            </a:r>
          </a:p>
        </p:txBody>
      </p:sp>
      <p:sp>
        <p:nvSpPr>
          <p:cNvPr id="21" name="Right Arrow 20"/>
          <p:cNvSpPr/>
          <p:nvPr/>
        </p:nvSpPr>
        <p:spPr>
          <a:xfrm>
            <a:off x="8858250" y="3429000"/>
            <a:ext cx="137160" cy="274320"/>
          </a:xfrm>
          <a:prstGeom prst="right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995410" y="3200400"/>
            <a:ext cx="2708910" cy="731520"/>
          </a:xfrm>
          <a:prstGeom prst="round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50" b="1">
                <a:solidFill>
                  <a:srgbClr val="1B2233"/>
                </a:solidFill>
              </a:rPr>
              <a:t>gold_conversations</a:t>
            </a:r>
          </a:p>
        </p:txBody>
      </p:sp>
      <p:sp>
        <p:nvSpPr>
          <p:cNvPr id="23" name="Down Arrow 22"/>
          <p:cNvSpPr/>
          <p:nvPr/>
        </p:nvSpPr>
        <p:spPr>
          <a:xfrm>
            <a:off x="5958687" y="2907792"/>
            <a:ext cx="274320" cy="256032"/>
          </a:xfrm>
          <a:prstGeom prst="downArrow">
            <a:avLst/>
          </a:prstGeom>
          <a:solidFill>
            <a:srgbClr val="6670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297680"/>
            <a:ext cx="11064240" cy="1463040"/>
          </a:xfrm>
          <a:prstGeom prst="rect">
            <a:avLst/>
          </a:prstGeom>
          <a:noFill/>
        </p:spPr>
        <p:txBody>
          <a:bodyPr wrap="square">
            <a:spAutoFit/>
          </a:bodyPr>
          <a:lstStyle/>
          <a:p>
            <a:pPr>
              <a:lnSpc>
                <a:spcPct val="120000"/>
              </a:lnSpc>
              <a:spcAft>
                <a:spcPts val="800"/>
              </a:spcAft>
            </a:pPr>
            <a:r>
              <a:rPr sz="1500">
                <a:solidFill>
                  <a:srgbClr val="1B2233"/>
                </a:solidFill>
                <a:latin typeface="Segoe UI"/>
              </a:rPr>
              <a:t>• Chaque etape est tracee, du besoin client jusqu'a la persistance analytique.</a:t>
            </a:r>
          </a:p>
        </p:txBody>
      </p:sp>
      <p:sp>
        <p:nvSpPr>
          <p:cNvPr id="25" name="TextBox 24"/>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26" name="TextBox 25"/>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13/18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PILOTAGE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Analytics Dashboard</a:t>
            </a:r>
          </a:p>
        </p:txBody>
      </p:sp>
      <p:sp>
        <p:nvSpPr>
          <p:cNvPr id="7" name="TextBox 6"/>
          <p:cNvSpPr txBox="1"/>
          <p:nvPr/>
        </p:nvSpPr>
        <p:spPr>
          <a:xfrm>
            <a:off x="579120" y="1371600"/>
            <a:ext cx="3297936" cy="1156535"/>
          </a:xfrm>
          <a:prstGeom prst="rect">
            <a:avLst/>
          </a:prstGeom>
          <a:noFill/>
        </p:spPr>
        <p:txBody>
          <a:bodyPr wrap="square">
            <a:spAutoFit/>
          </a:bodyPr>
          <a:lstStyle/>
          <a:p>
            <a:pPr>
              <a:lnSpc>
                <a:spcPct val="120000"/>
              </a:lnSpc>
              <a:spcAft>
                <a:spcPts val="800"/>
              </a:spcAft>
            </a:pPr>
            <a:r>
              <a:rPr sz="1600">
                <a:solidFill>
                  <a:srgbClr val="1B2233"/>
                </a:solidFill>
                <a:latin typeface="Segoe UI"/>
              </a:rPr>
              <a:t>• Volume de conversations</a:t>
            </a:r>
          </a:p>
          <a:p>
            <a:pPr>
              <a:lnSpc>
                <a:spcPct val="120000"/>
              </a:lnSpc>
              <a:spcAft>
                <a:spcPts val="800"/>
              </a:spcAft>
            </a:pPr>
            <a:r>
              <a:rPr sz="1600">
                <a:solidFill>
                  <a:srgbClr val="1B2233"/>
                </a:solidFill>
                <a:latin typeface="Segoe UI"/>
              </a:rPr>
              <a:t>• Categories</a:t>
            </a:r>
          </a:p>
          <a:p>
            <a:pPr>
              <a:lnSpc>
                <a:spcPct val="120000"/>
              </a:lnSpc>
              <a:spcAft>
                <a:spcPts val="800"/>
              </a:spcAft>
            </a:pPr>
            <a:r>
              <a:rPr sz="1600">
                <a:solidFill>
                  <a:srgbClr val="1B2233"/>
                </a:solidFill>
                <a:latin typeface="Segoe UI"/>
              </a:rPr>
              <a:t>• Tendances</a:t>
            </a:r>
          </a:p>
        </p:txBody>
      </p:sp>
      <p:sp>
        <p:nvSpPr>
          <p:cNvPr id="8" name="Rounded Rectangle 7"/>
          <p:cNvSpPr/>
          <p:nvPr/>
        </p:nvSpPr>
        <p:spPr>
          <a:xfrm>
            <a:off x="5029200" y="1371600"/>
            <a:ext cx="6583680" cy="4480560"/>
          </a:xfrm>
          <a:prstGeom prst="roundRect">
            <a:avLst/>
          </a:prstGeom>
          <a:solidFill>
            <a:srgbClr val="E6EAF2"/>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i="1" dirty="0">
                <a:solidFill>
                  <a:srgbClr val="667085"/>
                </a:solidFill>
              </a:rPr>
              <a:t>Capture </a:t>
            </a:r>
            <a:r>
              <a:rPr sz="1300" i="1" dirty="0" err="1">
                <a:solidFill>
                  <a:srgbClr val="667085"/>
                </a:solidFill>
              </a:rPr>
              <a:t>d'ecran</a:t>
            </a:r>
            <a:r>
              <a:rPr sz="1300" i="1" dirty="0">
                <a:solidFill>
                  <a:srgbClr val="667085"/>
                </a:solidFill>
              </a:rPr>
              <a:t> — Analytics Dashboard</a:t>
            </a:r>
          </a:p>
        </p:txBody>
      </p:sp>
      <p:sp>
        <p:nvSpPr>
          <p:cNvPr id="9" name="TextBox 8"/>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0" name="TextBox 9"/>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14/18</a:t>
            </a:r>
          </a:p>
        </p:txBody>
      </p:sp>
      <p:pic>
        <p:nvPicPr>
          <p:cNvPr id="11" name="Image 10">
            <a:extLst>
              <a:ext uri="{FF2B5EF4-FFF2-40B4-BE49-F238E27FC236}">
                <a16:creationId xmlns:a16="http://schemas.microsoft.com/office/drawing/2014/main" id="{E5888FE7-06EC-D562-3682-A9A1CAF9BC83}"/>
              </a:ext>
            </a:extLst>
          </p:cNvPr>
          <p:cNvPicPr>
            <a:picLocks noChangeAspect="1"/>
          </p:cNvPicPr>
          <p:nvPr/>
        </p:nvPicPr>
        <p:blipFill>
          <a:blip r:embed="rId2"/>
          <a:stretch>
            <a:fillRect/>
          </a:stretch>
        </p:blipFill>
        <p:spPr>
          <a:xfrm>
            <a:off x="4032504" y="960120"/>
            <a:ext cx="8159495" cy="55138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PILOTAGE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Governance Dashboard</a:t>
            </a:r>
          </a:p>
        </p:txBody>
      </p:sp>
      <p:sp>
        <p:nvSpPr>
          <p:cNvPr id="7" name="TextBox 6"/>
          <p:cNvSpPr txBox="1"/>
          <p:nvPr/>
        </p:nvSpPr>
        <p:spPr>
          <a:xfrm>
            <a:off x="548640" y="1371600"/>
            <a:ext cx="4206240" cy="3200400"/>
          </a:xfrm>
          <a:prstGeom prst="rect">
            <a:avLst/>
          </a:prstGeom>
          <a:noFill/>
        </p:spPr>
        <p:txBody>
          <a:bodyPr wrap="square">
            <a:spAutoFit/>
          </a:bodyPr>
          <a:lstStyle/>
          <a:p>
            <a:pPr>
              <a:lnSpc>
                <a:spcPct val="120000"/>
              </a:lnSpc>
              <a:spcAft>
                <a:spcPts val="800"/>
              </a:spcAft>
            </a:pPr>
            <a:r>
              <a:rPr sz="1600">
                <a:solidFill>
                  <a:srgbClr val="1B2233"/>
                </a:solidFill>
                <a:latin typeface="Segoe UI"/>
              </a:rPr>
              <a:t>• Qualite des reponses</a:t>
            </a:r>
          </a:p>
          <a:p>
            <a:pPr>
              <a:lnSpc>
                <a:spcPct val="120000"/>
              </a:lnSpc>
              <a:spcAft>
                <a:spcPts val="800"/>
              </a:spcAft>
            </a:pPr>
            <a:r>
              <a:rPr sz="1600">
                <a:solidFill>
                  <a:srgbClr val="1B2233"/>
                </a:solidFill>
                <a:latin typeface="Segoe UI"/>
              </a:rPr>
              <a:t>• Utilisation des sources</a:t>
            </a:r>
          </a:p>
          <a:p>
            <a:pPr>
              <a:lnSpc>
                <a:spcPct val="120000"/>
              </a:lnSpc>
              <a:spcAft>
                <a:spcPts val="800"/>
              </a:spcAft>
            </a:pPr>
            <a:r>
              <a:rPr sz="1600">
                <a:solidFill>
                  <a:srgbClr val="1B2233"/>
                </a:solidFill>
                <a:latin typeface="Segoe UI"/>
              </a:rPr>
              <a:t>• Monitoring des agents</a:t>
            </a:r>
          </a:p>
        </p:txBody>
      </p:sp>
      <p:sp>
        <p:nvSpPr>
          <p:cNvPr id="8" name="Rounded Rectangle 7"/>
          <p:cNvSpPr/>
          <p:nvPr/>
        </p:nvSpPr>
        <p:spPr>
          <a:xfrm>
            <a:off x="5029200" y="1371600"/>
            <a:ext cx="6583680" cy="4480560"/>
          </a:xfrm>
          <a:prstGeom prst="roundRect">
            <a:avLst/>
          </a:prstGeom>
          <a:solidFill>
            <a:srgbClr val="E6EAF2"/>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i="1" dirty="0">
                <a:solidFill>
                  <a:srgbClr val="667085"/>
                </a:solidFill>
              </a:rPr>
              <a:t>Capture </a:t>
            </a:r>
            <a:r>
              <a:rPr sz="1300" i="1" dirty="0" err="1">
                <a:solidFill>
                  <a:srgbClr val="667085"/>
                </a:solidFill>
              </a:rPr>
              <a:t>d'ecran</a:t>
            </a:r>
            <a:r>
              <a:rPr sz="1300" i="1" dirty="0">
                <a:solidFill>
                  <a:srgbClr val="667085"/>
                </a:solidFill>
              </a:rPr>
              <a:t> — Governance Dashboard</a:t>
            </a:r>
          </a:p>
        </p:txBody>
      </p:sp>
      <p:sp>
        <p:nvSpPr>
          <p:cNvPr id="9" name="TextBox 8"/>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0" name="TextBox 9"/>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15/18</a:t>
            </a:r>
          </a:p>
        </p:txBody>
      </p:sp>
      <p:pic>
        <p:nvPicPr>
          <p:cNvPr id="11" name="Image 10">
            <a:extLst>
              <a:ext uri="{FF2B5EF4-FFF2-40B4-BE49-F238E27FC236}">
                <a16:creationId xmlns:a16="http://schemas.microsoft.com/office/drawing/2014/main" id="{863C647F-6240-BCAA-0607-FBD6EDA8AF7F}"/>
              </a:ext>
            </a:extLst>
          </p:cNvPr>
          <p:cNvPicPr>
            <a:picLocks noChangeAspect="1"/>
          </p:cNvPicPr>
          <p:nvPr/>
        </p:nvPicPr>
        <p:blipFill>
          <a:blip r:embed="rId2"/>
          <a:stretch>
            <a:fillRect/>
          </a:stretch>
        </p:blipFill>
        <p:spPr>
          <a:xfrm>
            <a:off x="4178808" y="1234376"/>
            <a:ext cx="7690737" cy="52944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PILOTAGE</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Evaluation Dashboard</a:t>
            </a:r>
          </a:p>
        </p:txBody>
      </p:sp>
      <p:sp>
        <p:nvSpPr>
          <p:cNvPr id="7" name="TextBox 6"/>
          <p:cNvSpPr txBox="1"/>
          <p:nvPr/>
        </p:nvSpPr>
        <p:spPr>
          <a:xfrm>
            <a:off x="548640" y="1371600"/>
            <a:ext cx="4206240" cy="3200400"/>
          </a:xfrm>
          <a:prstGeom prst="rect">
            <a:avLst/>
          </a:prstGeom>
          <a:noFill/>
        </p:spPr>
        <p:txBody>
          <a:bodyPr wrap="square">
            <a:spAutoFit/>
          </a:bodyPr>
          <a:lstStyle/>
          <a:p>
            <a:pPr>
              <a:lnSpc>
                <a:spcPct val="120000"/>
              </a:lnSpc>
              <a:spcAft>
                <a:spcPts val="800"/>
              </a:spcAft>
            </a:pPr>
            <a:r>
              <a:rPr sz="1600">
                <a:solidFill>
                  <a:srgbClr val="1B2233"/>
                </a:solidFill>
                <a:latin typeface="Segoe UI"/>
              </a:rPr>
              <a:t>• Retrieval Success Rate</a:t>
            </a:r>
          </a:p>
          <a:p>
            <a:pPr>
              <a:lnSpc>
                <a:spcPct val="120000"/>
              </a:lnSpc>
              <a:spcAft>
                <a:spcPts val="800"/>
              </a:spcAft>
            </a:pPr>
            <a:r>
              <a:rPr sz="1600">
                <a:solidFill>
                  <a:srgbClr val="1B2233"/>
                </a:solidFill>
                <a:latin typeface="Segoe UI"/>
              </a:rPr>
              <a:t>• Source Match Rate</a:t>
            </a:r>
          </a:p>
          <a:p>
            <a:pPr>
              <a:lnSpc>
                <a:spcPct val="120000"/>
              </a:lnSpc>
              <a:spcAft>
                <a:spcPts val="800"/>
              </a:spcAft>
            </a:pPr>
            <a:r>
              <a:rPr sz="1600">
                <a:solidFill>
                  <a:srgbClr val="1B2233"/>
                </a:solidFill>
                <a:latin typeface="Segoe UI"/>
              </a:rPr>
              <a:t>• Category Match Rate</a:t>
            </a:r>
          </a:p>
          <a:p>
            <a:pPr>
              <a:lnSpc>
                <a:spcPct val="120000"/>
              </a:lnSpc>
              <a:spcAft>
                <a:spcPts val="800"/>
              </a:spcAft>
            </a:pPr>
            <a:r>
              <a:rPr sz="1600">
                <a:solidFill>
                  <a:srgbClr val="1B2233"/>
                </a:solidFill>
                <a:latin typeface="Segoe UI"/>
              </a:rPr>
              <a:t>• Keyword Match Rate</a:t>
            </a:r>
          </a:p>
        </p:txBody>
      </p:sp>
      <p:sp>
        <p:nvSpPr>
          <p:cNvPr id="8" name="Rounded Rectangle 7"/>
          <p:cNvSpPr/>
          <p:nvPr/>
        </p:nvSpPr>
        <p:spPr>
          <a:xfrm>
            <a:off x="5029200" y="1371600"/>
            <a:ext cx="6583680" cy="4480560"/>
          </a:xfrm>
          <a:prstGeom prst="roundRect">
            <a:avLst/>
          </a:prstGeom>
          <a:solidFill>
            <a:srgbClr val="E6EAF2"/>
          </a:solidFill>
          <a:ln>
            <a:solidFill>
              <a:srgbClr val="DDE3E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i="1">
                <a:solidFill>
                  <a:srgbClr val="667085"/>
                </a:solidFill>
              </a:rPr>
              <a:t>Capture d'ecran — Evaluation Dashboard</a:t>
            </a:r>
          </a:p>
        </p:txBody>
      </p:sp>
      <p:sp>
        <p:nvSpPr>
          <p:cNvPr id="9" name="TextBox 8"/>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0" name="TextBox 9"/>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16/18</a:t>
            </a:r>
          </a:p>
        </p:txBody>
      </p:sp>
      <p:pic>
        <p:nvPicPr>
          <p:cNvPr id="11" name="Image 10">
            <a:extLst>
              <a:ext uri="{FF2B5EF4-FFF2-40B4-BE49-F238E27FC236}">
                <a16:creationId xmlns:a16="http://schemas.microsoft.com/office/drawing/2014/main" id="{B43DA6F6-4EA3-8FF7-7B5F-D91CE72929D0}"/>
              </a:ext>
            </a:extLst>
          </p:cNvPr>
          <p:cNvPicPr>
            <a:picLocks noChangeAspect="1"/>
          </p:cNvPicPr>
          <p:nvPr/>
        </p:nvPicPr>
        <p:blipFill>
          <a:blip r:embed="rId2"/>
          <a:stretch>
            <a:fillRect/>
          </a:stretch>
        </p:blipFill>
        <p:spPr>
          <a:xfrm>
            <a:off x="4123944" y="1371600"/>
            <a:ext cx="7946136" cy="51572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RESULTATS</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Resultats de l'evaluation</a:t>
            </a:r>
          </a:p>
        </p:txBody>
      </p:sp>
      <p:sp>
        <p:nvSpPr>
          <p:cNvPr id="7" name="Rounded Rectangle 6"/>
          <p:cNvSpPr/>
          <p:nvPr/>
        </p:nvSpPr>
        <p:spPr>
          <a:xfrm>
            <a:off x="700887" y="1325880"/>
            <a:ext cx="2011680" cy="1371600"/>
          </a:xfrm>
          <a:prstGeom prst="roundRect">
            <a:avLst/>
          </a:prstGeom>
          <a:solidFill>
            <a:srgbClr val="FFFFFF"/>
          </a:solidFill>
          <a:ln w="15875">
            <a:solidFill>
              <a:srgbClr val="0A3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3D91"/>
                </a:solidFill>
              </a:rPr>
              <a:t>100 %</a:t>
            </a:r>
          </a:p>
          <a:p>
            <a:pPr algn="ctr"/>
            <a:r>
              <a:rPr sz="1100">
                <a:solidFill>
                  <a:srgbClr val="667085"/>
                </a:solidFill>
              </a:rPr>
              <a:t>Retrieval Success Rate</a:t>
            </a:r>
          </a:p>
        </p:txBody>
      </p:sp>
      <p:sp>
        <p:nvSpPr>
          <p:cNvPr id="8" name="Rounded Rectangle 7"/>
          <p:cNvSpPr/>
          <p:nvPr/>
        </p:nvSpPr>
        <p:spPr>
          <a:xfrm>
            <a:off x="2895447" y="1325880"/>
            <a:ext cx="2011680" cy="1371600"/>
          </a:xfrm>
          <a:prstGeom prst="roundRect">
            <a:avLst/>
          </a:prstGeom>
          <a:solidFill>
            <a:srgbClr val="FFFFFF"/>
          </a:solidFill>
          <a:ln w="15875">
            <a:solidFill>
              <a:srgbClr val="0A3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3D91"/>
                </a:solidFill>
              </a:rPr>
              <a:t>100 %</a:t>
            </a:r>
          </a:p>
          <a:p>
            <a:pPr algn="ctr"/>
            <a:r>
              <a:rPr sz="1100">
                <a:solidFill>
                  <a:srgbClr val="667085"/>
                </a:solidFill>
              </a:rPr>
              <a:t>Source Match Rate</a:t>
            </a:r>
          </a:p>
        </p:txBody>
      </p:sp>
      <p:sp>
        <p:nvSpPr>
          <p:cNvPr id="9" name="Rounded Rectangle 8"/>
          <p:cNvSpPr/>
          <p:nvPr/>
        </p:nvSpPr>
        <p:spPr>
          <a:xfrm>
            <a:off x="5090007" y="1325880"/>
            <a:ext cx="2011680" cy="1371600"/>
          </a:xfrm>
          <a:prstGeom prst="roundRect">
            <a:avLst/>
          </a:prstGeom>
          <a:solidFill>
            <a:srgbClr val="FFFFFF"/>
          </a:solidFill>
          <a:ln w="15875">
            <a:solidFill>
              <a:srgbClr val="0A3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3D91"/>
                </a:solidFill>
              </a:rPr>
              <a:t>100 %</a:t>
            </a:r>
          </a:p>
          <a:p>
            <a:pPr algn="ctr"/>
            <a:r>
              <a:rPr sz="1100">
                <a:solidFill>
                  <a:srgbClr val="667085"/>
                </a:solidFill>
              </a:rPr>
              <a:t>Category Coverage</a:t>
            </a:r>
          </a:p>
        </p:txBody>
      </p:sp>
      <p:sp>
        <p:nvSpPr>
          <p:cNvPr id="10" name="Rounded Rectangle 9"/>
          <p:cNvSpPr/>
          <p:nvPr/>
        </p:nvSpPr>
        <p:spPr>
          <a:xfrm>
            <a:off x="7284567" y="1325880"/>
            <a:ext cx="2011680" cy="1371600"/>
          </a:xfrm>
          <a:prstGeom prst="roundRect">
            <a:avLst/>
          </a:prstGeom>
          <a:solidFill>
            <a:srgbClr val="FFFFFF"/>
          </a:solidFill>
          <a:ln w="15875">
            <a:solidFill>
              <a:srgbClr val="0A3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3D91"/>
                </a:solidFill>
              </a:rPr>
              <a:t>62,5 %</a:t>
            </a:r>
          </a:p>
          <a:p>
            <a:pPr algn="ctr"/>
            <a:r>
              <a:rPr sz="1100">
                <a:solidFill>
                  <a:srgbClr val="667085"/>
                </a:solidFill>
              </a:rPr>
              <a:t>Keyword Match Rate</a:t>
            </a:r>
          </a:p>
        </p:txBody>
      </p:sp>
      <p:sp>
        <p:nvSpPr>
          <p:cNvPr id="11" name="Rounded Rectangle 10"/>
          <p:cNvSpPr/>
          <p:nvPr/>
        </p:nvSpPr>
        <p:spPr>
          <a:xfrm>
            <a:off x="9479127" y="1325880"/>
            <a:ext cx="2011680" cy="1371600"/>
          </a:xfrm>
          <a:prstGeom prst="roundRect">
            <a:avLst/>
          </a:prstGeom>
          <a:solidFill>
            <a:srgbClr val="FFFFFF"/>
          </a:solidFill>
          <a:ln w="15875">
            <a:solidFill>
              <a:srgbClr val="0A3D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3D91"/>
                </a:solidFill>
              </a:rPr>
              <a:t>50 %</a:t>
            </a:r>
          </a:p>
          <a:p>
            <a:pPr algn="ctr"/>
            <a:r>
              <a:rPr sz="1100">
                <a:solidFill>
                  <a:srgbClr val="667085"/>
                </a:solidFill>
              </a:rPr>
              <a:t>Category Match Rate</a:t>
            </a:r>
          </a:p>
        </p:txBody>
      </p:sp>
      <p:sp>
        <p:nvSpPr>
          <p:cNvPr id="12" name="TextBox 11"/>
          <p:cNvSpPr txBox="1"/>
          <p:nvPr/>
        </p:nvSpPr>
        <p:spPr>
          <a:xfrm>
            <a:off x="731520" y="3200400"/>
            <a:ext cx="5120640" cy="365760"/>
          </a:xfrm>
          <a:prstGeom prst="rect">
            <a:avLst/>
          </a:prstGeom>
          <a:noFill/>
        </p:spPr>
        <p:txBody>
          <a:bodyPr wrap="square">
            <a:spAutoFit/>
          </a:bodyPr>
          <a:lstStyle/>
          <a:p>
            <a:pPr algn="l"/>
            <a:r>
              <a:rPr sz="1700" b="1" i="0">
                <a:solidFill>
                  <a:srgbClr val="1E7A4C"/>
                </a:solidFill>
                <a:latin typeface="Segoe UI"/>
              </a:rPr>
              <a:t>Forces</a:t>
            </a:r>
          </a:p>
        </p:txBody>
      </p:sp>
      <p:sp>
        <p:nvSpPr>
          <p:cNvPr id="13" name="TextBox 12"/>
          <p:cNvSpPr txBox="1"/>
          <p:nvPr/>
        </p:nvSpPr>
        <p:spPr>
          <a:xfrm>
            <a:off x="731520" y="3720465"/>
            <a:ext cx="5120640" cy="1463040"/>
          </a:xfrm>
          <a:prstGeom prst="rect">
            <a:avLst/>
          </a:prstGeom>
          <a:noFill/>
        </p:spPr>
        <p:txBody>
          <a:bodyPr wrap="square">
            <a:spAutoFit/>
          </a:bodyPr>
          <a:lstStyle/>
          <a:p>
            <a:pPr>
              <a:lnSpc>
                <a:spcPct val="120000"/>
              </a:lnSpc>
              <a:spcAft>
                <a:spcPts val="800"/>
              </a:spcAft>
            </a:pPr>
            <a:r>
              <a:rPr sz="1500">
                <a:solidFill>
                  <a:srgbClr val="1E7A4C"/>
                </a:solidFill>
                <a:latin typeface="Segoe UI"/>
              </a:rPr>
              <a:t>• Bonne recuperation documentaire</a:t>
            </a:r>
          </a:p>
          <a:p>
            <a:pPr>
              <a:lnSpc>
                <a:spcPct val="120000"/>
              </a:lnSpc>
              <a:spcAft>
                <a:spcPts val="800"/>
              </a:spcAft>
            </a:pPr>
            <a:r>
              <a:rPr sz="1500">
                <a:solidFill>
                  <a:srgbClr val="1E7A4C"/>
                </a:solidFill>
                <a:latin typeface="Segoe UI"/>
              </a:rPr>
              <a:t>• Bonnes sources</a:t>
            </a:r>
          </a:p>
        </p:txBody>
      </p:sp>
      <p:sp>
        <p:nvSpPr>
          <p:cNvPr id="14" name="TextBox 13"/>
          <p:cNvSpPr txBox="1"/>
          <p:nvPr/>
        </p:nvSpPr>
        <p:spPr>
          <a:xfrm>
            <a:off x="6309360" y="3200400"/>
            <a:ext cx="5120640" cy="365760"/>
          </a:xfrm>
          <a:prstGeom prst="rect">
            <a:avLst/>
          </a:prstGeom>
          <a:noFill/>
        </p:spPr>
        <p:txBody>
          <a:bodyPr wrap="square">
            <a:spAutoFit/>
          </a:bodyPr>
          <a:lstStyle/>
          <a:p>
            <a:pPr algn="l"/>
            <a:r>
              <a:rPr sz="1700" b="1" i="0">
                <a:solidFill>
                  <a:srgbClr val="B87A00"/>
                </a:solidFill>
                <a:latin typeface="Segoe UI"/>
              </a:rPr>
              <a:t>Axes d'amelioration</a:t>
            </a:r>
          </a:p>
        </p:txBody>
      </p:sp>
      <p:sp>
        <p:nvSpPr>
          <p:cNvPr id="15" name="TextBox 14"/>
          <p:cNvSpPr txBox="1"/>
          <p:nvPr/>
        </p:nvSpPr>
        <p:spPr>
          <a:xfrm>
            <a:off x="6309360" y="3657600"/>
            <a:ext cx="5120640" cy="1463040"/>
          </a:xfrm>
          <a:prstGeom prst="rect">
            <a:avLst/>
          </a:prstGeom>
          <a:noFill/>
        </p:spPr>
        <p:txBody>
          <a:bodyPr wrap="square">
            <a:spAutoFit/>
          </a:bodyPr>
          <a:lstStyle/>
          <a:p>
            <a:pPr>
              <a:lnSpc>
                <a:spcPct val="120000"/>
              </a:lnSpc>
              <a:spcAft>
                <a:spcPts val="800"/>
              </a:spcAft>
            </a:pPr>
            <a:r>
              <a:rPr sz="1500">
                <a:solidFill>
                  <a:srgbClr val="B87A00"/>
                </a:solidFill>
                <a:latin typeface="Segoe UI"/>
              </a:rPr>
              <a:t>• Categorisation</a:t>
            </a:r>
          </a:p>
          <a:p>
            <a:pPr>
              <a:lnSpc>
                <a:spcPct val="120000"/>
              </a:lnSpc>
              <a:spcAft>
                <a:spcPts val="800"/>
              </a:spcAft>
            </a:pPr>
            <a:r>
              <a:rPr sz="1500">
                <a:solidFill>
                  <a:srgbClr val="B87A00"/>
                </a:solidFill>
                <a:latin typeface="Segoe UI"/>
              </a:rPr>
              <a:t>• Latence</a:t>
            </a:r>
          </a:p>
        </p:txBody>
      </p:sp>
      <p:sp>
        <p:nvSpPr>
          <p:cNvPr id="16" name="TextBox 15"/>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7" name="TextBox 16"/>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17/18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347472"/>
            <a:ext cx="256032" cy="256032"/>
          </a:xfrm>
          <a:prstGeom prst="ellipse">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54864"/>
            <a:ext cx="10515600" cy="292608"/>
          </a:xfrm>
          <a:prstGeom prst="rect">
            <a:avLst/>
          </a:prstGeom>
          <a:noFill/>
        </p:spPr>
        <p:txBody>
          <a:bodyPr wrap="square">
            <a:spAutoFit/>
          </a:bodyPr>
          <a:lstStyle/>
          <a:p>
            <a:pPr algn="l"/>
            <a:r>
              <a:rPr sz="1200" b="1" i="0">
                <a:solidFill>
                  <a:srgbClr val="D4AF37"/>
                </a:solidFill>
                <a:latin typeface="Segoe UI"/>
              </a:rPr>
              <a:t>CONCLUSION</a:t>
            </a:r>
          </a:p>
        </p:txBody>
      </p:sp>
      <p:sp>
        <p:nvSpPr>
          <p:cNvPr id="6" name="TextBox 5"/>
          <p:cNvSpPr txBox="1"/>
          <p:nvPr/>
        </p:nvSpPr>
        <p:spPr>
          <a:xfrm>
            <a:off x="841248" y="338328"/>
            <a:ext cx="10515600" cy="548640"/>
          </a:xfrm>
          <a:prstGeom prst="rect">
            <a:avLst/>
          </a:prstGeom>
          <a:noFill/>
        </p:spPr>
        <p:txBody>
          <a:bodyPr wrap="square">
            <a:spAutoFit/>
          </a:bodyPr>
          <a:lstStyle/>
          <a:p>
            <a:pPr algn="l"/>
            <a:r>
              <a:rPr sz="2400" b="1" i="0">
                <a:solidFill>
                  <a:srgbClr val="FFFFFF"/>
                </a:solidFill>
                <a:latin typeface="Segoe UI"/>
              </a:rPr>
              <a:t>Conclusion &amp; Perspectives</a:t>
            </a:r>
          </a:p>
        </p:txBody>
      </p:sp>
      <p:sp>
        <p:nvSpPr>
          <p:cNvPr id="7" name="TextBox 6"/>
          <p:cNvSpPr txBox="1"/>
          <p:nvPr/>
        </p:nvSpPr>
        <p:spPr>
          <a:xfrm>
            <a:off x="548640" y="1234440"/>
            <a:ext cx="5303520" cy="365760"/>
          </a:xfrm>
          <a:prstGeom prst="rect">
            <a:avLst/>
          </a:prstGeom>
          <a:noFill/>
        </p:spPr>
        <p:txBody>
          <a:bodyPr wrap="square">
            <a:spAutoFit/>
          </a:bodyPr>
          <a:lstStyle/>
          <a:p>
            <a:pPr algn="l"/>
            <a:r>
              <a:rPr sz="1600" b="1" i="0">
                <a:solidFill>
                  <a:srgbClr val="0A3D91"/>
                </a:solidFill>
                <a:latin typeface="Segoe UI"/>
              </a:rPr>
              <a:t>Ce que demontre AELON</a:t>
            </a:r>
          </a:p>
        </p:txBody>
      </p:sp>
      <p:sp>
        <p:nvSpPr>
          <p:cNvPr id="8" name="TextBox 7"/>
          <p:cNvSpPr txBox="1"/>
          <p:nvPr/>
        </p:nvSpPr>
        <p:spPr>
          <a:xfrm>
            <a:off x="548640" y="1691640"/>
            <a:ext cx="5303520" cy="2743200"/>
          </a:xfrm>
          <a:prstGeom prst="rect">
            <a:avLst/>
          </a:prstGeom>
          <a:noFill/>
        </p:spPr>
        <p:txBody>
          <a:bodyPr wrap="square">
            <a:spAutoFit/>
          </a:bodyPr>
          <a:lstStyle/>
          <a:p>
            <a:pPr>
              <a:lnSpc>
                <a:spcPct val="120000"/>
              </a:lnSpc>
              <a:spcAft>
                <a:spcPts val="800"/>
              </a:spcAft>
            </a:pPr>
            <a:r>
              <a:rPr sz="1500">
                <a:solidFill>
                  <a:srgbClr val="1E7A4C"/>
                </a:solidFill>
                <a:latin typeface="Segoe UI"/>
              </a:rPr>
              <a:t>• IA generative</a:t>
            </a:r>
          </a:p>
          <a:p>
            <a:pPr>
              <a:lnSpc>
                <a:spcPct val="120000"/>
              </a:lnSpc>
              <a:spcAft>
                <a:spcPts val="800"/>
              </a:spcAft>
            </a:pPr>
            <a:r>
              <a:rPr sz="1500">
                <a:solidFill>
                  <a:srgbClr val="1E7A4C"/>
                </a:solidFill>
                <a:latin typeface="Segoe UI"/>
              </a:rPr>
              <a:t>• RAG</a:t>
            </a:r>
          </a:p>
          <a:p>
            <a:pPr>
              <a:lnSpc>
                <a:spcPct val="120000"/>
              </a:lnSpc>
              <a:spcAft>
                <a:spcPts val="800"/>
              </a:spcAft>
            </a:pPr>
            <a:r>
              <a:rPr sz="1500">
                <a:solidFill>
                  <a:srgbClr val="1E7A4C"/>
                </a:solidFill>
                <a:latin typeface="Segoe UI"/>
              </a:rPr>
              <a:t>• LangGraph</a:t>
            </a:r>
          </a:p>
          <a:p>
            <a:pPr>
              <a:lnSpc>
                <a:spcPct val="120000"/>
              </a:lnSpc>
              <a:spcAft>
                <a:spcPts val="800"/>
              </a:spcAft>
            </a:pPr>
            <a:r>
              <a:rPr sz="1500">
                <a:solidFill>
                  <a:srgbClr val="1E7A4C"/>
                </a:solidFill>
                <a:latin typeface="Segoe UI"/>
              </a:rPr>
              <a:t>• Multi-Agents</a:t>
            </a:r>
          </a:p>
          <a:p>
            <a:pPr>
              <a:lnSpc>
                <a:spcPct val="120000"/>
              </a:lnSpc>
              <a:spcAft>
                <a:spcPts val="800"/>
              </a:spcAft>
            </a:pPr>
            <a:r>
              <a:rPr sz="1500">
                <a:solidFill>
                  <a:srgbClr val="1E7A4C"/>
                </a:solidFill>
                <a:latin typeface="Segoe UI"/>
              </a:rPr>
              <a:t>• Databricks</a:t>
            </a:r>
          </a:p>
          <a:p>
            <a:pPr>
              <a:lnSpc>
                <a:spcPct val="120000"/>
              </a:lnSpc>
              <a:spcAft>
                <a:spcPts val="800"/>
              </a:spcAft>
            </a:pPr>
            <a:r>
              <a:rPr sz="1500">
                <a:solidFill>
                  <a:srgbClr val="1E7A4C"/>
                </a:solidFill>
                <a:latin typeface="Segoe UI"/>
              </a:rPr>
              <a:t>• Gouvernance</a:t>
            </a:r>
          </a:p>
          <a:p>
            <a:pPr>
              <a:lnSpc>
                <a:spcPct val="120000"/>
              </a:lnSpc>
              <a:spcAft>
                <a:spcPts val="800"/>
              </a:spcAft>
            </a:pPr>
            <a:r>
              <a:rPr sz="1500">
                <a:solidFill>
                  <a:srgbClr val="1E7A4C"/>
                </a:solidFill>
                <a:latin typeface="Segoe UI"/>
              </a:rPr>
              <a:t>• Analytics</a:t>
            </a:r>
          </a:p>
        </p:txBody>
      </p:sp>
      <p:sp>
        <p:nvSpPr>
          <p:cNvPr id="9" name="TextBox 8"/>
          <p:cNvSpPr txBox="1"/>
          <p:nvPr/>
        </p:nvSpPr>
        <p:spPr>
          <a:xfrm>
            <a:off x="6309360" y="1234440"/>
            <a:ext cx="5303520" cy="365760"/>
          </a:xfrm>
          <a:prstGeom prst="rect">
            <a:avLst/>
          </a:prstGeom>
          <a:noFill/>
        </p:spPr>
        <p:txBody>
          <a:bodyPr wrap="square">
            <a:spAutoFit/>
          </a:bodyPr>
          <a:lstStyle/>
          <a:p>
            <a:pPr algn="l"/>
            <a:r>
              <a:rPr sz="1600" b="1" i="0">
                <a:solidFill>
                  <a:srgbClr val="0A3D91"/>
                </a:solidFill>
                <a:latin typeface="Segoe UI"/>
              </a:rPr>
              <a:t>Perspectives</a:t>
            </a:r>
          </a:p>
        </p:txBody>
      </p:sp>
      <p:sp>
        <p:nvSpPr>
          <p:cNvPr id="10" name="TextBox 9"/>
          <p:cNvSpPr txBox="1"/>
          <p:nvPr/>
        </p:nvSpPr>
        <p:spPr>
          <a:xfrm>
            <a:off x="6309360" y="1691640"/>
            <a:ext cx="5303520" cy="2743200"/>
          </a:xfrm>
          <a:prstGeom prst="rect">
            <a:avLst/>
          </a:prstGeom>
          <a:noFill/>
        </p:spPr>
        <p:txBody>
          <a:bodyPr wrap="square">
            <a:spAutoFit/>
          </a:bodyPr>
          <a:lstStyle/>
          <a:p>
            <a:pPr>
              <a:lnSpc>
                <a:spcPct val="120000"/>
              </a:lnSpc>
              <a:spcAft>
                <a:spcPts val="800"/>
              </a:spcAft>
            </a:pPr>
            <a:r>
              <a:rPr sz="1500">
                <a:solidFill>
                  <a:srgbClr val="1B2233"/>
                </a:solidFill>
                <a:latin typeface="Segoe UI"/>
              </a:rPr>
              <a:t>• Amelioration des performances</a:t>
            </a:r>
          </a:p>
          <a:p>
            <a:pPr>
              <a:lnSpc>
                <a:spcPct val="120000"/>
              </a:lnSpc>
              <a:spcAft>
                <a:spcPts val="800"/>
              </a:spcAft>
            </a:pPr>
            <a:r>
              <a:rPr sz="1500">
                <a:solidFill>
                  <a:srgbClr val="1B2233"/>
                </a:solidFill>
                <a:latin typeface="Segoe UI"/>
              </a:rPr>
              <a:t>• Feedback utilisateur</a:t>
            </a:r>
          </a:p>
          <a:p>
            <a:pPr>
              <a:lnSpc>
                <a:spcPct val="120000"/>
              </a:lnSpc>
              <a:spcAft>
                <a:spcPts val="800"/>
              </a:spcAft>
            </a:pPr>
            <a:r>
              <a:rPr sz="1500">
                <a:solidFill>
                  <a:srgbClr val="1B2233"/>
                </a:solidFill>
                <a:latin typeface="Segoe UI"/>
              </a:rPr>
              <a:t>• Guardrails</a:t>
            </a:r>
          </a:p>
          <a:p>
            <a:pPr>
              <a:lnSpc>
                <a:spcPct val="120000"/>
              </a:lnSpc>
              <a:spcAft>
                <a:spcPts val="800"/>
              </a:spcAft>
            </a:pPr>
            <a:r>
              <a:rPr sz="1500">
                <a:solidFill>
                  <a:srgbClr val="1B2233"/>
                </a:solidFill>
                <a:latin typeface="Segoe UI"/>
              </a:rPr>
              <a:t>• IA plus explicable</a:t>
            </a:r>
          </a:p>
          <a:p>
            <a:pPr>
              <a:lnSpc>
                <a:spcPct val="120000"/>
              </a:lnSpc>
              <a:spcAft>
                <a:spcPts val="800"/>
              </a:spcAft>
            </a:pPr>
            <a:r>
              <a:rPr sz="1500">
                <a:solidFill>
                  <a:srgbClr val="1B2233"/>
                </a:solidFill>
                <a:latin typeface="Segoe UI"/>
              </a:rPr>
              <a:t>• Copilots metier</a:t>
            </a:r>
          </a:p>
        </p:txBody>
      </p:sp>
      <p:sp>
        <p:nvSpPr>
          <p:cNvPr id="11" name="Rectangle 10"/>
          <p:cNvSpPr/>
          <p:nvPr/>
        </p:nvSpPr>
        <p:spPr>
          <a:xfrm>
            <a:off x="1463040" y="5120640"/>
            <a:ext cx="54864" cy="822960"/>
          </a:xfrm>
          <a:prstGeom prst="rect">
            <a:avLst/>
          </a:prstGeom>
          <a:solidFill>
            <a:srgbClr val="D4A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691640" y="5120640"/>
            <a:ext cx="9006840" cy="822960"/>
          </a:xfrm>
          <a:prstGeom prst="rect">
            <a:avLst/>
          </a:prstGeom>
          <a:noFill/>
        </p:spPr>
        <p:txBody>
          <a:bodyPr wrap="square">
            <a:spAutoFit/>
          </a:bodyPr>
          <a:lstStyle/>
          <a:p>
            <a:pPr algn="l"/>
            <a:r>
              <a:rPr sz="2200" b="1" i="1">
                <a:solidFill>
                  <a:srgbClr val="0A3D91"/>
                </a:solidFill>
                <a:latin typeface="Segoe UI"/>
              </a:rPr>
              <a:t>Donnee -&gt; Connaissance -&gt; IA -&gt; Decision</a:t>
            </a:r>
          </a:p>
        </p:txBody>
      </p:sp>
      <p:sp>
        <p:nvSpPr>
          <p:cNvPr id="13" name="TextBox 12"/>
          <p:cNvSpPr txBox="1"/>
          <p:nvPr/>
        </p:nvSpPr>
        <p:spPr>
          <a:xfrm>
            <a:off x="457200" y="6528816"/>
            <a:ext cx="7315200" cy="274320"/>
          </a:xfrm>
          <a:prstGeom prst="rect">
            <a:avLst/>
          </a:prstGeom>
          <a:noFill/>
        </p:spPr>
        <p:txBody>
          <a:bodyPr wrap="square">
            <a:spAutoFit/>
          </a:bodyPr>
          <a:lstStyle/>
          <a:p>
            <a:pPr algn="l"/>
            <a:r>
              <a:rPr sz="950" b="0" i="1">
                <a:solidFill>
                  <a:srgbClr val="667085"/>
                </a:solidFill>
                <a:latin typeface="Segoe UI"/>
              </a:rPr>
              <a:t>AELON — Donnee -&gt; Connaissance -&gt; IA -&gt; Decision</a:t>
            </a:r>
          </a:p>
        </p:txBody>
      </p:sp>
      <p:sp>
        <p:nvSpPr>
          <p:cNvPr id="14" name="TextBox 13"/>
          <p:cNvSpPr txBox="1"/>
          <p:nvPr/>
        </p:nvSpPr>
        <p:spPr>
          <a:xfrm>
            <a:off x="11064240" y="6528816"/>
            <a:ext cx="731520" cy="274320"/>
          </a:xfrm>
          <a:prstGeom prst="rect">
            <a:avLst/>
          </a:prstGeom>
          <a:noFill/>
        </p:spPr>
        <p:txBody>
          <a:bodyPr wrap="square">
            <a:spAutoFit/>
          </a:bodyPr>
          <a:lstStyle/>
          <a:p>
            <a:pPr algn="r"/>
            <a:r>
              <a:rPr sz="950" b="0" i="0">
                <a:solidFill>
                  <a:srgbClr val="667085"/>
                </a:solidFill>
                <a:latin typeface="Segoe UI"/>
              </a:rPr>
              <a:t>18/18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657</TotalTime>
  <Words>1567</Words>
  <Application>Microsoft Office PowerPoint</Application>
  <PresentationFormat>Grand écran</PresentationFormat>
  <Paragraphs>311</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Arial</vt:lpstr>
      <vt:lpstr>Calibri</vt:lpstr>
      <vt:lpstr>Segoe UI</vt:lpstr>
      <vt:lpstr>Segoe UI Semibold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SILEU KAPNANG, Cynthia</cp:lastModifiedBy>
  <cp:revision>9</cp:revision>
  <dcterms:created xsi:type="dcterms:W3CDTF">2013-01-27T09:14:16Z</dcterms:created>
  <dcterms:modified xsi:type="dcterms:W3CDTF">2026-09-22T16:53:01Z</dcterms:modified>
  <cp:category/>
</cp:coreProperties>
</file>